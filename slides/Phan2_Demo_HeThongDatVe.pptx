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8E6"/>
    <a:srgbClr val="FFD5D5"/>
    <a:srgbClr val="BB2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300" b="1">
                <a:solidFill>
                  <a:srgbClr val="BB2019"/>
                </a:solidFill>
                <a:latin typeface="Open Sans"/>
              </a:rPr>
              <a:t>200 lượt đọc sơ đồ ghế</a:t>
            </a:r>
            <a:endParaRPr sz="1300" b="1">
              <a:solidFill>
                <a:srgbClr val="BB2019"/>
              </a:solidFill>
              <a:latin typeface="Open Sans"/>
            </a:endParaRPr>
          </a:p>
        </c:rich>
      </c:tx>
      <c:layout/>
      <c:overlay val="0"/>
    </c:title>
    <c:autoTitleDeleted val="0"/>
    <c:plotArea>
      <c:layout/>
      <c:barChart>
        <c:barDir val="bar"/>
        <c:grouping val="clustered"/>
        <c:varyColors val="0"/>
        <c:ser>
          <c:idx val="0"/>
          <c:order val="0"/>
          <c:tx>
            <c:strRef>
              <c:f>Sheet1!$B$1</c:f>
              <c:strCache>
                <c:ptCount val="1"/>
                <c:pt idx="0">
                  <c:v>200 lượt đọc sơ đồ ghế</c:v>
                </c:pt>
              </c:strCache>
            </c:strRef>
          </c:tx>
          <c:invertIfNegative val="0"/>
          <c:dPt>
            <c:idx val="0"/>
            <c:invertIfNegative val="0"/>
            <c:bubble3D val="0"/>
            <c:spPr>
              <a:solidFill>
                <a:srgbClr val="BB2019"/>
              </a:solidFill>
            </c:spPr>
          </c:dPt>
          <c:dPt>
            <c:idx val="1"/>
            <c:invertIfNegative val="0"/>
            <c:bubble3D val="0"/>
            <c:spPr>
              <a:solidFill>
                <a:srgbClr val="BFB3B1"/>
              </a:solidFill>
            </c:spPr>
          </c:dPt>
          <c:dLbls>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Trả từ Redis</c:v>
                </c:pt>
                <c:pt idx="1">
                  <c:v>Truy vấn CSDL</c:v>
                </c:pt>
              </c:strCache>
            </c:strRef>
          </c:cat>
          <c:val>
            <c:numRef>
              <c:f>Sheet1!$B$2:$B$3</c:f>
              <c:numCache>
                <c:formatCode>General</c:formatCode>
                <c:ptCount val="2"/>
                <c:pt idx="0">
                  <c:v>199</c:v>
                </c:pt>
                <c:pt idx="1">
                  <c:v>1</c:v>
                </c:pt>
              </c:numCache>
            </c:numRef>
          </c:val>
        </c:ser>
        <c:dLbls>
          <c:showLegendKey val="0"/>
          <c:showVal val="1"/>
          <c:showCatName val="0"/>
          <c:showSerName val="0"/>
          <c:showPercent val="0"/>
          <c:showBubbleSize val="0"/>
        </c:dLbls>
        <c:gapWidth val="60"/>
        <c:axId val="-2068027336"/>
        <c:axId val="-2113994440"/>
      </c:barChart>
      <c:catAx>
        <c:axId val="-2068027336"/>
        <c:scaling>
          <c:orientation val="maxMin"/>
        </c:scaling>
        <c:delete val="0"/>
        <c:axPos val="l"/>
        <c:majorTickMark val="out"/>
        <c:minorTickMark val="none"/>
        <c:tickLblPos val="nextTo"/>
        <c:spPr>
          <a:ln w="12700" cap="flat" cmpd="sng" algn="ctr">
            <a:solidFill>
              <a:srgbClr val="BFB3B1"/>
            </a:solidFill>
            <a:prstDash val="solid"/>
            <a:round/>
          </a:ln>
        </c:spPr>
        <c:txPr>
          <a:bodyPr rot="-60000000" spcFirstLastPara="0" vertOverflow="ellipsis" vert="horz" wrap="square" anchor="ctr" anchorCtr="1"/>
          <a:lstStyle/>
          <a:p>
            <a:pPr>
              <a:defRPr lang="en-US" sz="1200" b="0" i="0" u="none" strike="noStrike" kern="1200" baseline="0">
                <a:solidFill>
                  <a:srgbClr val="262626"/>
                </a:solidFill>
                <a:latin typeface="Open Sans"/>
                <a:ea typeface="+mn-ea"/>
                <a:cs typeface="+mn-cs"/>
              </a:defRPr>
            </a:pPr>
          </a:p>
        </c:txPr>
        <c:crossAx val="-2113994440"/>
        <c:crosses val="autoZero"/>
        <c:auto val="1"/>
        <c:lblAlgn val="ctr"/>
        <c:lblOffset val="100"/>
        <c:noMultiLvlLbl val="0"/>
      </c:catAx>
      <c:valAx>
        <c:axId val="-2113994440"/>
        <c:scaling>
          <c:orientation val="minMax"/>
          <c:max val="298.5"/>
          <c:min val="0"/>
        </c:scaling>
        <c:delete val="0"/>
        <c:axPos val="t"/>
        <c:majorTickMark val="none"/>
        <c:minorTickMark val="none"/>
        <c:tickLblPos val="none"/>
        <c:spPr>
          <a:ln w="12700" cap="flat" cmpd="sng" algn="ctr">
            <a:noFill/>
            <a:prstDash val="solid"/>
            <a:round/>
          </a:ln>
        </c:spPr>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cc19192a-601b-4ed7-8bfb-9c3fc78924c1}"/>
      </c:ext>
    </c:extLst>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300" b="1">
                <a:solidFill>
                  <a:srgbClr val="BB2019"/>
                </a:solidFill>
                <a:latin typeface="Open Sans"/>
              </a:rPr>
              <a:t>Độ trễ khi dịch vụ chết (ms)</a:t>
            </a:r>
            <a:endParaRPr sz="1300" b="1">
              <a:solidFill>
                <a:srgbClr val="BB2019"/>
              </a:solidFill>
              <a:latin typeface="Open Sans"/>
            </a:endParaRPr>
          </a:p>
        </c:rich>
      </c:tx>
      <c:layout/>
      <c:overlay val="0"/>
    </c:title>
    <c:autoTitleDeleted val="0"/>
    <c:plotArea>
      <c:layout/>
      <c:barChart>
        <c:barDir val="bar"/>
        <c:grouping val="clustered"/>
        <c:varyColors val="0"/>
        <c:ser>
          <c:idx val="0"/>
          <c:order val="0"/>
          <c:tx>
            <c:strRef>
              <c:f>Sheet1!$B$1</c:f>
              <c:strCache>
                <c:ptCount val="1"/>
                <c:pt idx="0">
                  <c:v>Độ trễ khi dịch vụ chết (ms)</c:v>
                </c:pt>
              </c:strCache>
            </c:strRef>
          </c:tx>
          <c:invertIfNegative val="0"/>
          <c:dPt>
            <c:idx val="0"/>
            <c:invertIfNegative val="0"/>
            <c:bubble3D val="0"/>
            <c:spPr>
              <a:solidFill>
                <a:srgbClr val="BFB3B1"/>
              </a:solidFill>
            </c:spPr>
          </c:dPt>
          <c:dPt>
            <c:idx val="1"/>
            <c:invertIfNegative val="0"/>
            <c:bubble3D val="0"/>
            <c:spPr>
              <a:solidFill>
                <a:srgbClr val="BB2019"/>
              </a:solidFill>
            </c:spPr>
          </c:dPt>
          <c:dLbls>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Mạch đóng: chờ hạn chót + retry</c:v>
                </c:pt>
                <c:pt idx="1">
                  <c:v>Mạch mở: fallback</c:v>
                </c:pt>
              </c:strCache>
            </c:strRef>
          </c:cat>
          <c:val>
            <c:numRef>
              <c:f>Sheet1!$B$2:$B$3</c:f>
              <c:numCache>
                <c:formatCode>General</c:formatCode>
                <c:ptCount val="2"/>
                <c:pt idx="0">
                  <c:v>3500</c:v>
                </c:pt>
                <c:pt idx="1">
                  <c:v>3</c:v>
                </c:pt>
              </c:numCache>
            </c:numRef>
          </c:val>
        </c:ser>
        <c:dLbls>
          <c:showLegendKey val="0"/>
          <c:showVal val="1"/>
          <c:showCatName val="0"/>
          <c:showSerName val="0"/>
          <c:showPercent val="0"/>
          <c:showBubbleSize val="0"/>
        </c:dLbls>
        <c:gapWidth val="60"/>
        <c:axId val="-2068027336"/>
        <c:axId val="-2113994440"/>
      </c:barChart>
      <c:catAx>
        <c:axId val="-2068027336"/>
        <c:scaling>
          <c:orientation val="maxMin"/>
        </c:scaling>
        <c:delete val="0"/>
        <c:axPos val="l"/>
        <c:majorTickMark val="out"/>
        <c:minorTickMark val="none"/>
        <c:tickLblPos val="nextTo"/>
        <c:spPr>
          <a:ln w="12700" cap="flat" cmpd="sng" algn="ctr">
            <a:solidFill>
              <a:srgbClr val="BFB3B1"/>
            </a:solidFill>
            <a:prstDash val="solid"/>
            <a:round/>
          </a:ln>
        </c:spPr>
        <c:txPr>
          <a:bodyPr rot="-60000000" spcFirstLastPara="0" vertOverflow="ellipsis" vert="horz" wrap="square" anchor="ctr" anchorCtr="1"/>
          <a:lstStyle/>
          <a:p>
            <a:pPr>
              <a:defRPr lang="en-US" sz="1200" b="0" i="0" u="none" strike="noStrike" kern="1200" baseline="0">
                <a:solidFill>
                  <a:srgbClr val="262626"/>
                </a:solidFill>
                <a:latin typeface="Open Sans"/>
                <a:ea typeface="+mn-ea"/>
                <a:cs typeface="+mn-cs"/>
              </a:defRPr>
            </a:pPr>
          </a:p>
        </c:txPr>
        <c:crossAx val="-2113994440"/>
        <c:crosses val="autoZero"/>
        <c:auto val="1"/>
        <c:lblAlgn val="ctr"/>
        <c:lblOffset val="100"/>
        <c:noMultiLvlLbl val="0"/>
      </c:catAx>
      <c:valAx>
        <c:axId val="-2113994440"/>
        <c:scaling>
          <c:orientation val="minMax"/>
          <c:max val="5250"/>
          <c:min val="0"/>
        </c:scaling>
        <c:delete val="0"/>
        <c:axPos val="t"/>
        <c:majorTickMark val="none"/>
        <c:minorTickMark val="none"/>
        <c:tickLblPos val="none"/>
        <c:spPr>
          <a:ln w="12700" cap="flat" cmpd="sng" algn="ctr">
            <a:noFill/>
            <a:prstDash val="solid"/>
            <a:round/>
          </a:ln>
        </c:spPr>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d54506c5-92cf-4004-a175-9d698cd0100e}"/>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698443-ABAD-4C82-86F1-05B35E57A41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C0D9C-DE6D-4EB8-B633-7EED17D9425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Giới thiệu phần demo: hệ thống đặt vé xem phim phân tán do nhóm xây dựng, chạy thật trên hai laptop cùng mạng Wi-Fi.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Bố cục phần demo: kiến trúc, bảng ánh xạ 7 đặc trưng, kết quả từng kịch bản chạy thật, tổng kết.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demo: hệ thống đặt vé xem phim phân tán chạy thật trên ba laptop cùng một Wi-Fi: hai máy vật lý như kiến trúc lần trước và Node 3 làm trọng tài. Lần này nhóm khắc phục ba tình huống kiến trúc cũ chưa xử lý và demo trực tiếp. Số liệu trên các slide sau là kết quả chạy thật.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Kiến trúc giữ như lần bảo vệ trước. Máy 1 là Primary node: nhận mọi lệnh ghi, Redis Master, RabbitMQ nút 1. Máy 2 là Secondary: Standby chỉ đọc, Redis Replica, RabbitMQ nút 2, sẵn sàng lên thay. Node 3 là trọng tài: hai witness cho hai cụm CSDL, RabbitMQ nút 3 và Frontend LB. Mọi quyết định ai là chủ đều cần đa số hai trên ba. Trên mỗi máy có pg-router: ứng dụng luôn ghi về Primary hiện tại, và máy nào chỉ thấy một trên ba nút thì tự chặn ghi.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Sau lần bảo vệ trước, nhóm rà lại kiến trúc và thấy repmgr chỉ quyết định thăng cấp chứ không ngăn Primary cũ tiếp tục ghi. Ba tình huống: Primary bị cô lập nhưng vẫn sống; Primary cũ quay lại sau khi đã có chủ mới; và hàng đợi hai nút mất đa số khi một máy chết. Bảng bên phải là cách khắc phục và kịch bản demo tương ứng.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Bảng này là xương sống của phần demo: mỗi đặc trưng gắn với một kịch bản và một bằng chứng đo được trên hệ thống thật. Kịch bản 10 là tình huống mới khắc phục; 08 và 09 là phần bổ sung nếu còn thời gian.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Gọi 6 lần cùng một địa chỉ /health: các lần gọi luân phiên do máy 1 và máy 2 trả lời. Đặt vé qua địa chỉ đó: client chỉ nhận JSON, không biết yêu cầu đã đi qua máy nào, qua REST, gRPC, SQL hay AMQP. Bảng bên phải là thứ bị che giấu: mỗi máy đọc dữ liệu tại chỗ nhưng ghi về Primary.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Mười yêu cầu đồng thời, chia đều cho hai máy. Hai bản inventory-service chạy độc lập, nhưng mọi lệnh ghi đều về một Primary nên chỉ có một nơi phân xử. Với pessimistic, giao dịch đầu khoá dòng bằng SELECT FOR UPDATE, chín giao dịch còn lại chờ rồi thấy ghế đã bán. Với optimistic, không khoá trước; ai cập nhật trước thì version tăng, những người sau thấy version đã đổi và bị huỷ. Cả hai lần: đúng một vé.</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Bước một: tắt dịch vụ email máy 1, khách vẫn đặt vé và notification máy 2 gửi email thay vì cả hai cùng nghe một hàng đợi. Bước hai: tắt luôn dịch vụ email máy 2, vé vẫn bán, ba thông điệp nằm chờ trong hàng đợi. Bước ba: tắt nút RabbitMQ đang là leader Raft; hai nút còn lại vẫn là đa số nên bầu leader mới, không mất thông điệp nào. Bước bốn: bật lại, gửi bù đủ ba email. Đây là lỗ hổng thứ ba của kiến trúc cũ: hàng đợi hai nút mất đa số khi một máy chết.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Cắt đường mạng giữa máy hai và máy một, còn Node 3 vẫn thấy cả hai. Máy hai không còn thấy Primary nên muốn thăng cấp, nhưng phải hỏi các nút khác. Node 3 trả lời vừa thấy Primary một giây trước, nên repmgr huỷ bầu chọn. Máy hai giữ Standby suốt thời gian đứt mạng. Đây là phiếu đồng thuận mà kiến trúc cũ chưa cấu hình. Nối mạng lại, Standby tự kết nối và nhận WAL tiếp.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vòng lặp đặt vé qua Frontend LB trên Node 3 mỗi 0,7 giây. Người ở máy một kill đột ngột hai Primary. repmgrd máy hai ping thất bại ba lần, hỏi Node 3 và thấy Node 3 cũng mất Primary: đủ hai trên ba nên tự thăng cấp. pg-router mỗi máy thấy Primary đổi chỗ, cắt kết nối cũ; ứng dụng tự nối lại vào máy hai. Khách thấy khoảng hai mươi giây lỗi. Khi máy một bật lại, nút cũ thấy đã có Primary timeline cao hơn nên tự pg_rewind và quay về Standby.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Người ở máy một tắt Wi-Fi. Máy một vẫn sống và vẫn tưởng mình là Primary, vì không ai báo cho nó. Máy hai và Node 3 là đa số nên bầu máy hai lên Primary. Nhưng pg-router máy một chỉ thấy một trên ba nút nên tự chặn ghi: không lúc nào có hai nơi cùng bán vé. Khách đặt vé qua Frontend LB trên Node 3 được chuyển sang máy hai. Bật Wi-Fi lại: máy một thấy Primary máy hai có timeline cao hơn, tự hạ cấp, pg_rewind, về Standby sau khoảng hai mươi giây. Kiến trúc lần trước không xử lý được tình huống này.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Khách ở máy 2 mở sơ đồ ghế, dữ liệu được nạp vào cache. Khách ở máy 1 mua A20. Ngay sau đó hỏi máy 2 liên tục: chỉ 13 mili giây sau máy 2 đã thấy ghế đã bán, và khách máy 2 cố đặt thì nhận 409. Lý do: chỉ có một Redis Master nhận lệnh xoá cache, Replica ở máy 2 nhận cùng lệnh DEL qua replication stream; CSDL Standby nhận WAL. Nếu mỗi máy một Redis riêng, máy 2 sẽ giữ bản cũ tới khi hết TTL 15 giây – đó là vé ma.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Gửi yêu cầu lúc t0, server trả về thời gian T, nhận lúc t1. Độ lệch xấp xỉ T trừ trung bình của t0 và t1, sai số cộng trừ nửa RTT, vì không biết chiều đi hay chiều về mất bao lâu. Trên hai laptop thật độ lệch thường vài mili giây tới vài trăm mili giây. Một giao dịch đặt vé mang dấu thời gian từ ba đồng hồ khác nhau; không có gì bảo đảm chúng đúng thứ tự. Vì vậy hệ thống không phân xử ai đặt trước bằng timestamp mà bằng khoá trên Primary và quan hệ nhân quả.</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Kịch bản 08: nhân bản booking-service lên 3 container bằng một lệnh, Nginx gRPC chia các lượt đặt vé. 200 lượt xem sơ đồ ghế cùng lúc: 199 lượt trả từ Redis, chỉ 1 lượt chạm CSDL, và lượt đó cũng đọc ở bản sao tại chỗ. Kịch bản 09: dừng inventory-service. Bốn lượt đầu lỗi sau hạn chót gRPC; sau 5 lỗi hạ tầng liên tiếp mạch mở, gateway trả lời ngay trong 3 mili giây thay vì để request treo. Sau 15 giây mạch chuyển HALF_OPEN, hai lượt thử thành công thì đóng lại.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Tổng kết phần demo: hệ thống chứng minh đủ bảy đặc trưng bằng số đo thật. Giới hạn trung thực: với hai máy, nếu cả máy 1 mất điện thì máy 2 không phân biệt được với đứt mạng nên không tự thăng cấp; người vận hành thăng cấp bằng một lệnh. Muốn tự động hoàn toàn cần nút thứ ba ở vị trí độc lập.</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Cảm ơn hội đồng, mời đặt câu hỏi. Câu hỏi thường gặp và gợi ý trả lời nằm trong DEMO-GUIDE.md mục 8.</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FFD5D5">
            <a:alpha val="20000"/>
          </a:srgbClr>
        </a:solidFill>
        <a:effectLst/>
      </p:bgPr>
    </p:bg>
    <p:spTree>
      <p:nvGrpSpPr>
        <p:cNvPr id="1" name=""/>
        <p:cNvGrpSpPr/>
        <p:nvPr/>
      </p:nvGrpSpPr>
      <p:grpSpPr>
        <a:xfrm>
          <a:off x="0" y="0"/>
          <a:ext cx="0" cy="0"/>
          <a:chOff x="0" y="0"/>
          <a:chExt cx="0" cy="0"/>
        </a:xfrm>
      </p:grpSpPr>
      <p:sp>
        <p:nvSpPr>
          <p:cNvPr id="10" name="Text Placeholder 21"/>
          <p:cNvSpPr>
            <a:spLocks noGrp="1"/>
          </p:cNvSpPr>
          <p:nvPr>
            <p:ph type="body" sz="quarter" idx="13" hasCustomPrompt="1"/>
          </p:nvPr>
        </p:nvSpPr>
        <p:spPr>
          <a:xfrm>
            <a:off x="536498" y="5948218"/>
            <a:ext cx="11086541" cy="423292"/>
          </a:xfrm>
        </p:spPr>
        <p:txBody>
          <a:bodyPr anchor="ctr">
            <a:normAutofit/>
          </a:bodyPr>
          <a:lstStyle>
            <a:lvl1pPr marL="0" indent="0">
              <a:buNone/>
              <a:defRPr sz="1600">
                <a:solidFill>
                  <a:srgbClr val="BB2019"/>
                </a:solidFill>
                <a:latin typeface="Open Sans" pitchFamily="2" charset="0"/>
                <a:ea typeface="Open Sans" pitchFamily="2" charset="0"/>
                <a:cs typeface="Open Sans" pitchFamily="2" charset="0"/>
              </a:defRPr>
            </a:lvl1pPr>
          </a:lstStyle>
          <a:p>
            <a:pPr lvl="0"/>
            <a:r>
              <a:rPr lang="en-US" err="1"/>
              <a:t>Thời</a:t>
            </a:r>
            <a:r>
              <a:rPr lang="en-US"/>
              <a:t> </a:t>
            </a:r>
            <a:r>
              <a:rPr lang="en-US" err="1"/>
              <a:t>gian</a:t>
            </a:r>
            <a:r>
              <a:rPr lang="en-US"/>
              <a:t>:</a:t>
            </a:r>
            <a:endParaRPr lang="en-US"/>
          </a:p>
        </p:txBody>
      </p:sp>
      <p:sp>
        <p:nvSpPr>
          <p:cNvPr id="11" name="Text Placeholder 21"/>
          <p:cNvSpPr>
            <a:spLocks noGrp="1"/>
          </p:cNvSpPr>
          <p:nvPr>
            <p:ph type="body" sz="quarter" idx="14" hasCustomPrompt="1"/>
          </p:nvPr>
        </p:nvSpPr>
        <p:spPr>
          <a:xfrm>
            <a:off x="536498" y="5518724"/>
            <a:ext cx="11086541" cy="423292"/>
          </a:xfrm>
        </p:spPr>
        <p:txBody>
          <a:bodyPr anchor="ctr">
            <a:normAutofit/>
          </a:bodyPr>
          <a:lstStyle>
            <a:lvl1pPr marL="0" indent="0">
              <a:buNone/>
              <a:defRPr sz="1600">
                <a:solidFill>
                  <a:srgbClr val="BB2019"/>
                </a:solidFill>
                <a:latin typeface="Open Sans" pitchFamily="2" charset="0"/>
                <a:ea typeface="Open Sans" pitchFamily="2" charset="0"/>
                <a:cs typeface="Open Sans" pitchFamily="2" charset="0"/>
              </a:defRPr>
            </a:lvl1pPr>
          </a:lstStyle>
          <a:p>
            <a:pPr lvl="0"/>
            <a:r>
              <a:rPr lang="en-US" err="1"/>
              <a:t>Người</a:t>
            </a:r>
            <a:r>
              <a:rPr lang="en-US"/>
              <a:t> </a:t>
            </a:r>
            <a:r>
              <a:rPr lang="en-US" err="1"/>
              <a:t>thực</a:t>
            </a:r>
            <a:r>
              <a:rPr lang="en-US"/>
              <a:t> </a:t>
            </a:r>
            <a:r>
              <a:rPr lang="en-US" err="1"/>
              <a:t>hiện</a:t>
            </a:r>
            <a:r>
              <a:rPr lang="en-US"/>
              <a:t>:</a:t>
            </a:r>
            <a:endParaRPr lang="en-US"/>
          </a:p>
        </p:txBody>
      </p:sp>
      <p:sp>
        <p:nvSpPr>
          <p:cNvPr id="13" name="Title 12"/>
          <p:cNvSpPr>
            <a:spLocks noGrp="1"/>
          </p:cNvSpPr>
          <p:nvPr>
            <p:ph type="title"/>
          </p:nvPr>
        </p:nvSpPr>
        <p:spPr>
          <a:xfrm>
            <a:off x="536498" y="2694018"/>
            <a:ext cx="11086541" cy="1325563"/>
          </a:xfrm>
        </p:spPr>
        <p:txBody>
          <a:bodyPr/>
          <a:lstStyle>
            <a:lvl1pPr>
              <a:lnSpc>
                <a:spcPct val="130000"/>
              </a:lnSpc>
              <a:defRPr b="1">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dirty="0"/>
          </a:p>
        </p:txBody>
      </p:sp>
      <p:grpSp>
        <p:nvGrpSpPr>
          <p:cNvPr id="12" name="Group 11"/>
          <p:cNvGrpSpPr/>
          <p:nvPr userDrawn="1"/>
        </p:nvGrpSpPr>
        <p:grpSpPr>
          <a:xfrm>
            <a:off x="628859" y="486490"/>
            <a:ext cx="5678927" cy="615553"/>
            <a:chOff x="628859" y="549938"/>
            <a:chExt cx="5678927" cy="615553"/>
          </a:xfrm>
        </p:grpSpPr>
        <p:pic>
          <p:nvPicPr>
            <p:cNvPr id="14" name="Picture 13" descr="A red and yellow logo&#10;&#10;Description automatically generated"/>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628859" y="573245"/>
              <a:ext cx="455249" cy="563362"/>
            </a:xfrm>
            <a:prstGeom prst="rect">
              <a:avLst/>
            </a:prstGeom>
          </p:spPr>
        </p:pic>
        <p:sp>
          <p:nvSpPr>
            <p:cNvPr id="15" name="TextBox 14"/>
            <p:cNvSpPr txBox="1"/>
            <p:nvPr/>
          </p:nvSpPr>
          <p:spPr>
            <a:xfrm>
              <a:off x="1227549" y="549938"/>
              <a:ext cx="5080237" cy="615553"/>
            </a:xfrm>
            <a:prstGeom prst="rect">
              <a:avLst/>
            </a:prstGeom>
            <a:noFill/>
          </p:spPr>
          <p:txBody>
            <a:bodyPr wrap="none" rtlCol="0">
              <a:spAutoFit/>
            </a:bodyPr>
            <a:lstStyle/>
            <a:p>
              <a:pPr>
                <a:lnSpc>
                  <a:spcPct val="125000"/>
                </a:lnSpc>
              </a:pPr>
              <a:r>
                <a:rPr lang="en-US" sz="1600" b="1" dirty="0">
                  <a:solidFill>
                    <a:srgbClr val="BB2019"/>
                  </a:solidFill>
                  <a:latin typeface="Open Sans" pitchFamily="2" charset="0"/>
                  <a:ea typeface="Open Sans" pitchFamily="2" charset="0"/>
                  <a:cs typeface="Open Sans" pitchFamily="2" charset="0"/>
                </a:rPr>
                <a:t>HỌC VIỆN CÔNG NGHỆ BƯU CHÍNH VIỄN THÔNG</a:t>
              </a:r>
              <a:endParaRPr lang="en-US" sz="1600" b="1" dirty="0">
                <a:solidFill>
                  <a:srgbClr val="BB2019"/>
                </a:solidFill>
                <a:latin typeface="Open Sans" pitchFamily="2" charset="0"/>
                <a:ea typeface="Open Sans" pitchFamily="2" charset="0"/>
                <a:cs typeface="Open Sans" pitchFamily="2" charset="0"/>
              </a:endParaRPr>
            </a:p>
            <a:p>
              <a:pPr marL="0" algn="l" rtl="0" eaLnBrk="1" latinLnBrk="0" hangingPunct="1"/>
              <a:r>
                <a:rPr lang="en-US" sz="1400" kern="1200" dirty="0">
                  <a:solidFill>
                    <a:srgbClr val="BB2019"/>
                  </a:solidFill>
                  <a:effectLst/>
                  <a:latin typeface="Open Sans" pitchFamily="2" charset="0"/>
                  <a:ea typeface="Open Sans" pitchFamily="2" charset="0"/>
                  <a:cs typeface="Open Sans" pitchFamily="2" charset="0"/>
                </a:rPr>
                <a:t>Posts and Telecommunications Institute of Technology</a:t>
              </a:r>
              <a:endParaRPr lang="en-US" sz="1100" dirty="0">
                <a:solidFill>
                  <a:srgbClr val="BB2019"/>
                </a:solidFill>
                <a:effectLst/>
                <a:latin typeface="Open Sans" pitchFamily="2" charset="0"/>
                <a:ea typeface="Open Sans" pitchFamily="2" charset="0"/>
                <a:cs typeface="Open Sans" pitchFamily="2"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bg1">
            <a:alpha val="20000"/>
          </a:schemeClr>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2396402"/>
          </a:xfrm>
          <a:prstGeom prst="rect">
            <a:avLst/>
          </a:prstGeom>
          <a:solidFill>
            <a:srgbClr val="FFD5D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p:nvPr>
        </p:nvSpPr>
        <p:spPr>
          <a:xfrm>
            <a:off x="538254" y="1028990"/>
            <a:ext cx="11123034" cy="743238"/>
          </a:xfrm>
        </p:spPr>
        <p:txBody>
          <a:bodyPr>
            <a:normAutofit/>
          </a:bodyPr>
          <a:lstStyle>
            <a:lvl1pPr>
              <a:defRPr sz="2500" b="1">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grpSp>
        <p:nvGrpSpPr>
          <p:cNvPr id="8" name="Group 7"/>
          <p:cNvGrpSpPr/>
          <p:nvPr userDrawn="1"/>
        </p:nvGrpSpPr>
        <p:grpSpPr>
          <a:xfrm>
            <a:off x="612370" y="698362"/>
            <a:ext cx="2018253" cy="292388"/>
            <a:chOff x="1747525" y="945517"/>
            <a:chExt cx="2018253" cy="292388"/>
          </a:xfrm>
        </p:grpSpPr>
        <p:pic>
          <p:nvPicPr>
            <p:cNvPr id="9" name="Graphic 8" descr="Chevron arrows outline"/>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7525" y="970280"/>
              <a:ext cx="386075" cy="242862"/>
            </a:xfrm>
            <a:prstGeom prst="rect">
              <a:avLst/>
            </a:prstGeom>
          </p:spPr>
        </p:pic>
        <p:sp>
          <p:nvSpPr>
            <p:cNvPr id="10" name="TextBox 9"/>
            <p:cNvSpPr txBox="1"/>
            <p:nvPr userDrawn="1"/>
          </p:nvSpPr>
          <p:spPr>
            <a:xfrm>
              <a:off x="2133600" y="945517"/>
              <a:ext cx="1632178" cy="292388"/>
            </a:xfrm>
            <a:prstGeom prst="rect">
              <a:avLst/>
            </a:prstGeom>
            <a:noFill/>
          </p:spPr>
          <p:txBody>
            <a:bodyPr wrap="none" rtlCol="0">
              <a:spAutoFit/>
            </a:bodyPr>
            <a:lstStyle/>
            <a:p>
              <a:r>
                <a:rPr lang="en-US" sz="1300" b="0" dirty="0" err="1">
                  <a:solidFill>
                    <a:srgbClr val="C00000"/>
                  </a:solidFill>
                  <a:latin typeface="Open Sans" pitchFamily="2" charset="0"/>
                  <a:ea typeface="Open Sans" pitchFamily="2" charset="0"/>
                  <a:cs typeface="Open Sans" pitchFamily="2" charset="0"/>
                </a:rPr>
                <a:t>Nội</a:t>
              </a:r>
              <a:r>
                <a:rPr lang="en-US" sz="1300" b="0" dirty="0">
                  <a:solidFill>
                    <a:srgbClr val="C00000"/>
                  </a:solidFill>
                  <a:latin typeface="Open Sans" pitchFamily="2" charset="0"/>
                  <a:ea typeface="Open Sans" pitchFamily="2" charset="0"/>
                  <a:cs typeface="Open Sans" pitchFamily="2" charset="0"/>
                </a:rPr>
                <a:t> dung </a:t>
              </a:r>
              <a:r>
                <a:rPr lang="en-US" sz="1300" b="0" dirty="0" err="1">
                  <a:solidFill>
                    <a:srgbClr val="C00000"/>
                  </a:solidFill>
                  <a:latin typeface="Open Sans" pitchFamily="2" charset="0"/>
                  <a:ea typeface="Open Sans" pitchFamily="2" charset="0"/>
                  <a:cs typeface="Open Sans" pitchFamily="2" charset="0"/>
                </a:rPr>
                <a:t>tiếp</a:t>
              </a:r>
              <a:r>
                <a:rPr lang="en-US" sz="1300" b="0" dirty="0">
                  <a:solidFill>
                    <a:srgbClr val="C00000"/>
                  </a:solidFill>
                  <a:latin typeface="Open Sans" pitchFamily="2" charset="0"/>
                  <a:ea typeface="Open Sans" pitchFamily="2" charset="0"/>
                  <a:cs typeface="Open Sans" pitchFamily="2" charset="0"/>
                </a:rPr>
                <a:t> </a:t>
              </a:r>
              <a:r>
                <a:rPr lang="en-US" sz="1300" b="0" dirty="0" err="1">
                  <a:solidFill>
                    <a:srgbClr val="C00000"/>
                  </a:solidFill>
                  <a:latin typeface="Open Sans" pitchFamily="2" charset="0"/>
                  <a:ea typeface="Open Sans" pitchFamily="2" charset="0"/>
                  <a:cs typeface="Open Sans" pitchFamily="2" charset="0"/>
                </a:rPr>
                <a:t>theo</a:t>
              </a:r>
              <a:endParaRPr lang="en-US" sz="1300" b="0" dirty="0">
                <a:solidFill>
                  <a:srgbClr val="C00000"/>
                </a:solidFill>
                <a:latin typeface="Open Sans" pitchFamily="2" charset="0"/>
                <a:ea typeface="Open Sans" pitchFamily="2" charset="0"/>
                <a:cs typeface="Open Sans" pitchFamily="2" charset="0"/>
              </a:endParaRPr>
            </a:p>
          </p:txBody>
        </p:sp>
      </p:grpSp>
      <p:sp>
        <p:nvSpPr>
          <p:cNvPr id="11" name="Text Placeholder 16"/>
          <p:cNvSpPr>
            <a:spLocks noGrp="1"/>
          </p:cNvSpPr>
          <p:nvPr>
            <p:ph type="body" sz="quarter" idx="13"/>
          </p:nvPr>
        </p:nvSpPr>
        <p:spPr>
          <a:xfrm>
            <a:off x="538255" y="2780145"/>
            <a:ext cx="11123033" cy="3479977"/>
          </a:xfrm>
        </p:spPr>
        <p:txBody>
          <a:bodyPr numCol="2" anchor="ctr">
            <a:normAutofit/>
          </a:bodyPr>
          <a:lstStyle>
            <a:lvl1pPr>
              <a:lnSpc>
                <a:spcPct val="150000"/>
              </a:lnSpc>
              <a:defRPr sz="1500">
                <a:latin typeface="Open Sans" pitchFamily="2" charset="0"/>
                <a:ea typeface="Open Sans" pitchFamily="2" charset="0"/>
                <a:cs typeface="Open Sans" pitchFamily="2" charset="0"/>
              </a:defRPr>
            </a:lvl1pPr>
            <a:lvl2pPr>
              <a:lnSpc>
                <a:spcPct val="150000"/>
              </a:lnSpc>
              <a:defRPr sz="1500">
                <a:latin typeface="Open Sans" pitchFamily="2" charset="0"/>
                <a:ea typeface="Open Sans" pitchFamily="2" charset="0"/>
                <a:cs typeface="Open Sans" pitchFamily="2" charset="0"/>
              </a:defRPr>
            </a:lvl2pPr>
            <a:lvl3pPr>
              <a:lnSpc>
                <a:spcPct val="150000"/>
              </a:lnSpc>
              <a:defRPr sz="1500">
                <a:latin typeface="Open Sans" pitchFamily="2" charset="0"/>
                <a:ea typeface="Open Sans" pitchFamily="2" charset="0"/>
                <a:cs typeface="Open Sans" pitchFamily="2" charset="0"/>
              </a:defRPr>
            </a:lvl3pPr>
            <a:lvl4pPr>
              <a:lnSpc>
                <a:spcPct val="150000"/>
              </a:lnSpc>
              <a:defRPr sz="1500">
                <a:latin typeface="Open Sans" pitchFamily="2" charset="0"/>
                <a:ea typeface="Open Sans" pitchFamily="2" charset="0"/>
                <a:cs typeface="Open Sans" pitchFamily="2" charset="0"/>
              </a:defRPr>
            </a:lvl4pPr>
            <a:lvl5pPr>
              <a:lnSpc>
                <a:spcPct val="150000"/>
              </a:lnSpc>
              <a:defRPr sz="1500">
                <a:latin typeface="Open Sans" pitchFamily="2" charset="0"/>
                <a:ea typeface="Open Sans" pitchFamily="2" charset="0"/>
                <a:cs typeface="Open Sans" pitchFamily="2"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13"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AE6C4B74-7EEB-4BBA-8E33-2676B8B5E5CF}" type="datetime1">
              <a:rPr lang="vi-VN" smtClean="0"/>
            </a:fld>
            <a:endParaRPr lang="en-US"/>
          </a:p>
        </p:txBody>
      </p:sp>
      <p:sp>
        <p:nvSpPr>
          <p:cNvPr id="14"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4" name="Title 1"/>
          <p:cNvSpPr>
            <a:spLocks noGrp="1"/>
          </p:cNvSpPr>
          <p:nvPr>
            <p:ph type="title"/>
          </p:nvPr>
        </p:nvSpPr>
        <p:spPr>
          <a:xfrm>
            <a:off x="0" y="0"/>
            <a:ext cx="12191996" cy="743238"/>
          </a:xfrm>
          <a:solidFill>
            <a:srgbClr val="FFD5D5">
              <a:alpha val="20000"/>
            </a:srgbClr>
          </a:solidFill>
        </p:spPr>
        <p:txBody>
          <a:bodyPr>
            <a:normAutofit/>
          </a:bodyPr>
          <a:lstStyle>
            <a:lvl1pPr marL="107950">
              <a:defRPr sz="2500">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sp>
        <p:nvSpPr>
          <p:cNvPr id="25"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26"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B782B6AE-7235-4653-AF33-CBD852AFF5B4}" type="datetime1">
              <a:rPr lang="vi-VN" smtClean="0"/>
            </a:fld>
            <a:endParaRPr lang="en-US"/>
          </a:p>
        </p:txBody>
      </p:sp>
      <p:sp>
        <p:nvSpPr>
          <p:cNvPr id="27"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itle">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0" y="0"/>
            <a:ext cx="12192000" cy="984748"/>
          </a:xfrm>
          <a:prstGeom prst="rect">
            <a:avLst/>
          </a:prstGeom>
          <a:solidFill>
            <a:srgbClr val="FFD5D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0" y="0"/>
            <a:ext cx="12177772" cy="743238"/>
          </a:xfrm>
          <a:noFill/>
        </p:spPr>
        <p:txBody>
          <a:bodyPr>
            <a:normAutofit/>
          </a:bodyPr>
          <a:lstStyle>
            <a:lvl1pPr marL="107950">
              <a:defRPr sz="2500">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sp>
        <p:nvSpPr>
          <p:cNvPr id="2" name="Text Placeholder 10"/>
          <p:cNvSpPr>
            <a:spLocks noGrp="1"/>
          </p:cNvSpPr>
          <p:nvPr>
            <p:ph type="body" sz="quarter" idx="13"/>
          </p:nvPr>
        </p:nvSpPr>
        <p:spPr>
          <a:xfrm>
            <a:off x="10160" y="563608"/>
            <a:ext cx="12167612" cy="421140"/>
          </a:xfrm>
          <a:noFill/>
        </p:spPr>
        <p:txBody>
          <a:bodyPr anchor="t">
            <a:noAutofit/>
          </a:bodyPr>
          <a:lstStyle>
            <a:lvl1pPr marL="107950" indent="0">
              <a:buNone/>
              <a:defRPr sz="1500">
                <a:solidFill>
                  <a:srgbClr val="BB2019"/>
                </a:solidFill>
                <a:latin typeface="Open Sans" pitchFamily="2" charset="0"/>
                <a:ea typeface="Open Sans" pitchFamily="2" charset="0"/>
                <a:cs typeface="Open Sans" pitchFamily="2" charset="0"/>
              </a:defRPr>
            </a:lvl1pPr>
          </a:lstStyle>
          <a:p>
            <a:pPr lvl="0"/>
            <a:r>
              <a:rPr lang="en-US"/>
              <a:t>Click to edit Master text styles</a:t>
            </a:r>
            <a:endParaRPr lang="en-US"/>
          </a:p>
        </p:txBody>
      </p:sp>
      <p:sp>
        <p:nvSpPr>
          <p:cNvPr id="6"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7"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2933FCAF-43A6-4F1B-B43D-A70C2A597932}" type="datetime1">
              <a:rPr lang="vi-VN" smtClean="0"/>
            </a:fld>
            <a:endParaRPr lang="en-US"/>
          </a:p>
        </p:txBody>
      </p:sp>
      <p:sp>
        <p:nvSpPr>
          <p:cNvPr id="8"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Open Sans" pitchFamily="2" charset="0"/>
                <a:ea typeface="Open Sans" pitchFamily="2" charset="0"/>
                <a:cs typeface="Open Sans" pitchFamily="2" charset="0"/>
              </a:defRPr>
            </a:lvl1pPr>
          </a:lstStyle>
          <a:p>
            <a:fld id="{3ABE6F9A-075A-405B-9000-D06D6DAA2713}" type="datetime1">
              <a:rPr lang="vi-V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Open Sans" pitchFamily="2" charset="0"/>
                <a:ea typeface="Open Sans" pitchFamily="2" charset="0"/>
                <a:cs typeface="Open Sans" pitchFamily="2" charset="0"/>
              </a:defRPr>
            </a:lvl1pPr>
          </a:lstStyle>
          <a:p>
            <a:r>
              <a:rPr lang="en-US"/>
              <a:t>Tiêu đề</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Open Sans" pitchFamily="2" charset="0"/>
                <a:ea typeface="Open Sans" pitchFamily="2" charset="0"/>
                <a:cs typeface="Open Sans" pitchFamily="2" charset="0"/>
              </a:defRPr>
            </a:lvl1pPr>
          </a:lstStyle>
          <a:p>
            <a:fld id="{D92DDFE6-74DA-46A1-A171-CE3314B0D57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rtl="0" eaLnBrk="1" latinLnBrk="0" hangingPunct="1">
        <a:lnSpc>
          <a:spcPct val="90000"/>
        </a:lnSpc>
        <a:spcBef>
          <a:spcPct val="0"/>
        </a:spcBef>
        <a:buNone/>
        <a:defRPr sz="4400" kern="1200">
          <a:solidFill>
            <a:schemeClr val="tx1"/>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chart" Target="../charts/chart2.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3"/>
          </p:nvPr>
        </p:nvSpPr>
        <p:spPr/>
        <p:txBody>
          <a:bodyPr/>
          <a:lstStyle/>
          <a:p>
            <a:r>
              <a:t>MSSV: B23DCCC130 · B23DCCC082 · B23DCCC106 · Thời gian: 10/2026</a:t>
            </a:r>
          </a:p>
        </p:txBody>
      </p:sp>
      <p:sp>
        <p:nvSpPr>
          <p:cNvPr id="3" name="Text Placeholder 2"/>
          <p:cNvSpPr>
            <a:spLocks noGrp="1"/>
          </p:cNvSpPr>
          <p:nvPr>
            <p:ph type="body" sz="quarter" idx="14"/>
          </p:nvPr>
        </p:nvSpPr>
        <p:spPr/>
        <p:txBody>
          <a:bodyPr/>
          <a:lstStyle/>
          <a:p>
            <a:r>
              <a:t>Người thực hiện: Phạm Tiến Phong · Phạm Vĩnh Hưng · Nguyễn Văn Luận</a:t>
            </a:r>
          </a:p>
        </p:txBody>
      </p:sp>
      <p:sp>
        <p:nvSpPr>
          <p:cNvPr id="4" name="Title 3"/>
          <p:cNvSpPr>
            <a:spLocks noGrp="1"/>
          </p:cNvSpPr>
          <p:nvPr>
            <p:ph type="title"/>
          </p:nvPr>
        </p:nvSpPr>
        <p:spPr/>
        <p:txBody>
          <a:bodyPr/>
          <a:lstStyle/>
          <a:p>
            <a:r>
              <a:t>Hệ thống đặt vé xem phim phân tán</a:t>
            </a:r>
          </a:p>
        </p:txBody>
      </p:sp>
      <p:sp>
        <p:nvSpPr>
          <p:cNvPr id="5" name="TextBox 4"/>
          <p:cNvSpPr txBox="1"/>
          <p:nvPr/>
        </p:nvSpPr>
        <p:spPr>
          <a:xfrm>
            <a:off x="539496" y="2148840"/>
            <a:ext cx="11064240" cy="457200"/>
          </a:xfrm>
          <a:prstGeom prst="rect">
            <a:avLst/>
          </a:prstGeom>
          <a:noFill/>
        </p:spPr>
        <p:txBody>
          <a:bodyPr wrap="square" lIns="36576" tIns="36576" rIns="36576" bIns="36576" anchor="t">
            <a:spAutoFit/>
          </a:bodyPr>
          <a:lstStyle/>
          <a:p>
            <a:pPr algn="l">
              <a:spcAft>
                <a:spcPts val="400"/>
              </a:spcAft>
            </a:pPr>
            <a:r>
              <a:rPr sz="1500" b="1">
                <a:solidFill>
                  <a:srgbClr val="BB2019"/>
                </a:solidFill>
                <a:latin typeface="Open Sans"/>
                <a:ea typeface="Open Sans"/>
                <a:cs typeface="Open Sans"/>
              </a:rPr>
              <a:t>MÔN HỆ THỐNG PHÂN TÁN · DEMO TRÊN 3 MÁY THẬT</a:t>
            </a:r>
            <a:endParaRPr sz="1500" b="1">
              <a:solidFill>
                <a:srgbClr val="BB2019"/>
              </a:solidFill>
              <a:latin typeface="Open Sans"/>
              <a:ea typeface="Open Sans"/>
              <a:cs typeface="Open Sans"/>
            </a:endParaRPr>
          </a:p>
        </p:txBody>
      </p:sp>
      <p:sp>
        <p:nvSpPr>
          <p:cNvPr id="6" name="TextBox 5"/>
          <p:cNvSpPr txBox="1"/>
          <p:nvPr/>
        </p:nvSpPr>
        <p:spPr>
          <a:xfrm>
            <a:off x="539496" y="4069080"/>
            <a:ext cx="11064240" cy="822960"/>
          </a:xfrm>
          <a:prstGeom prst="rect">
            <a:avLst/>
          </a:prstGeom>
          <a:noFill/>
        </p:spPr>
        <p:txBody>
          <a:bodyPr wrap="square" lIns="36576" tIns="36576" rIns="36576" bIns="36576" anchor="t">
            <a:spAutoFit/>
          </a:bodyPr>
          <a:lstStyle/>
          <a:p>
            <a:pPr algn="l">
              <a:spcAft>
                <a:spcPts val="400"/>
              </a:spcAft>
            </a:pPr>
            <a:r>
              <a:rPr sz="1700">
                <a:solidFill>
                  <a:srgbClr val="262626"/>
                </a:solidFill>
                <a:latin typeface="Open Sans"/>
                <a:ea typeface="Open Sans"/>
                <a:cs typeface="Open Sans"/>
              </a:rPr>
              <a:t>NestJS · gRPC · PostgreSQL + repmgr · Redis · RabbitMQ · Nginx · Docker — 10 kịch bản, chạy thật trên 2 máy + Node 3</a:t>
            </a:r>
            <a:endParaRPr sz="1700">
              <a:solidFill>
                <a:srgbClr val="262626"/>
              </a:solidFill>
              <a:latin typeface="Open Sans"/>
              <a:ea typeface="Open Sans"/>
              <a:cs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Mục lục</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Oval 6"/>
          <p:cNvSpPr/>
          <p:nvPr/>
        </p:nvSpPr>
        <p:spPr>
          <a:xfrm>
            <a:off x="548640" y="1417320"/>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1</a:t>
            </a:r>
            <a:endParaRPr sz="2200" b="1">
              <a:solidFill>
                <a:srgbClr val="FFFFFF"/>
              </a:solidFill>
              <a:latin typeface="Open Sans"/>
              <a:ea typeface="Open Sans"/>
              <a:cs typeface="Open Sans"/>
            </a:endParaRPr>
          </a:p>
        </p:txBody>
      </p:sp>
      <p:sp>
        <p:nvSpPr>
          <p:cNvPr id="8" name="TextBox 7"/>
          <p:cNvSpPr txBox="1"/>
          <p:nvPr/>
        </p:nvSpPr>
        <p:spPr>
          <a:xfrm>
            <a:off x="1417320" y="1325880"/>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Kiến trúc triển khai</a:t>
            </a:r>
            <a:endParaRPr sz="2400">
              <a:solidFill>
                <a:srgbClr val="BB2019"/>
              </a:solidFill>
              <a:latin typeface="Open Sans"/>
              <a:ea typeface="Open Sans"/>
              <a:cs typeface="Open Sans"/>
            </a:endParaRPr>
          </a:p>
        </p:txBody>
      </p:sp>
      <p:sp>
        <p:nvSpPr>
          <p:cNvPr id="9" name="TextBox 8"/>
          <p:cNvSpPr txBox="1"/>
          <p:nvPr/>
        </p:nvSpPr>
        <p:spPr>
          <a:xfrm>
            <a:off x="1417320" y="1801368"/>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Hai máy vật lý + Node 3 trọng tài, 3 tình huống đã khắc phục</a:t>
            </a:r>
            <a:endParaRPr sz="1400">
              <a:solidFill>
                <a:srgbClr val="6B5F5D"/>
              </a:solidFill>
              <a:latin typeface="Open Sans"/>
              <a:ea typeface="Open Sans"/>
              <a:cs typeface="Open Sans"/>
            </a:endParaRPr>
          </a:p>
        </p:txBody>
      </p:sp>
      <p:sp>
        <p:nvSpPr>
          <p:cNvPr id="10" name="Oval 9"/>
          <p:cNvSpPr/>
          <p:nvPr/>
        </p:nvSpPr>
        <p:spPr>
          <a:xfrm>
            <a:off x="548640" y="2624328"/>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2</a:t>
            </a:r>
            <a:endParaRPr sz="2200" b="1">
              <a:solidFill>
                <a:srgbClr val="FFFFFF"/>
              </a:solidFill>
              <a:latin typeface="Open Sans"/>
              <a:ea typeface="Open Sans"/>
              <a:cs typeface="Open Sans"/>
            </a:endParaRPr>
          </a:p>
        </p:txBody>
      </p:sp>
      <p:sp>
        <p:nvSpPr>
          <p:cNvPr id="11" name="TextBox 10"/>
          <p:cNvSpPr txBox="1"/>
          <p:nvPr/>
        </p:nvSpPr>
        <p:spPr>
          <a:xfrm>
            <a:off x="1417320" y="2532888"/>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Đặc trưng → 10 kịch bản</a:t>
            </a:r>
            <a:endParaRPr sz="2400">
              <a:solidFill>
                <a:srgbClr val="BB2019"/>
              </a:solidFill>
              <a:latin typeface="Open Sans"/>
              <a:ea typeface="Open Sans"/>
              <a:cs typeface="Open Sans"/>
            </a:endParaRPr>
          </a:p>
        </p:txBody>
      </p:sp>
      <p:sp>
        <p:nvSpPr>
          <p:cNvPr id="12" name="TextBox 11"/>
          <p:cNvSpPr txBox="1"/>
          <p:nvPr/>
        </p:nvSpPr>
        <p:spPr>
          <a:xfrm>
            <a:off x="1417320" y="3008376"/>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Bảng ánh xạ đặc trưng và bằng chứng đo được</a:t>
            </a:r>
            <a:endParaRPr sz="1400">
              <a:solidFill>
                <a:srgbClr val="6B5F5D"/>
              </a:solidFill>
              <a:latin typeface="Open Sans"/>
              <a:ea typeface="Open Sans"/>
              <a:cs typeface="Open Sans"/>
            </a:endParaRPr>
          </a:p>
        </p:txBody>
      </p:sp>
      <p:sp>
        <p:nvSpPr>
          <p:cNvPr id="13" name="Oval 12"/>
          <p:cNvSpPr/>
          <p:nvPr/>
        </p:nvSpPr>
        <p:spPr>
          <a:xfrm>
            <a:off x="548640" y="3831336"/>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3</a:t>
            </a:r>
            <a:endParaRPr sz="2200" b="1">
              <a:solidFill>
                <a:srgbClr val="FFFFFF"/>
              </a:solidFill>
              <a:latin typeface="Open Sans"/>
              <a:ea typeface="Open Sans"/>
              <a:cs typeface="Open Sans"/>
            </a:endParaRPr>
          </a:p>
        </p:txBody>
      </p:sp>
      <p:sp>
        <p:nvSpPr>
          <p:cNvPr id="14" name="TextBox 13"/>
          <p:cNvSpPr txBox="1"/>
          <p:nvPr/>
        </p:nvSpPr>
        <p:spPr>
          <a:xfrm>
            <a:off x="1417320" y="3739896"/>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Kết quả từng kịch bản</a:t>
            </a:r>
            <a:endParaRPr sz="2400">
              <a:solidFill>
                <a:srgbClr val="BB2019"/>
              </a:solidFill>
              <a:latin typeface="Open Sans"/>
              <a:ea typeface="Open Sans"/>
              <a:cs typeface="Open Sans"/>
            </a:endParaRPr>
          </a:p>
        </p:txBody>
      </p:sp>
      <p:sp>
        <p:nvSpPr>
          <p:cNvPr id="15" name="TextBox 14"/>
          <p:cNvSpPr txBox="1"/>
          <p:nvPr/>
        </p:nvSpPr>
        <p:spPr>
          <a:xfrm>
            <a:off x="1417320" y="4215384"/>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Trong suốt, đồng thời, chịu lỗi, split-brain, failover, cô lập máy, nhân bản, đồng hồ</a:t>
            </a:r>
            <a:endParaRPr sz="1400">
              <a:solidFill>
                <a:srgbClr val="6B5F5D"/>
              </a:solidFill>
              <a:latin typeface="Open Sans"/>
              <a:ea typeface="Open Sans"/>
              <a:cs typeface="Open Sans"/>
            </a:endParaRPr>
          </a:p>
        </p:txBody>
      </p:sp>
      <p:sp>
        <p:nvSpPr>
          <p:cNvPr id="16" name="Oval 15"/>
          <p:cNvSpPr/>
          <p:nvPr/>
        </p:nvSpPr>
        <p:spPr>
          <a:xfrm>
            <a:off x="548640" y="5038344"/>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4</a:t>
            </a:r>
            <a:endParaRPr sz="2200" b="1">
              <a:solidFill>
                <a:srgbClr val="FFFFFF"/>
              </a:solidFill>
              <a:latin typeface="Open Sans"/>
              <a:ea typeface="Open Sans"/>
              <a:cs typeface="Open Sans"/>
            </a:endParaRPr>
          </a:p>
        </p:txBody>
      </p:sp>
      <p:sp>
        <p:nvSpPr>
          <p:cNvPr id="17" name="TextBox 16"/>
          <p:cNvSpPr txBox="1"/>
          <p:nvPr/>
        </p:nvSpPr>
        <p:spPr>
          <a:xfrm>
            <a:off x="1417320" y="4946904"/>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Tổng kết &amp; hỏi đáp</a:t>
            </a:r>
            <a:endParaRPr sz="2400">
              <a:solidFill>
                <a:srgbClr val="BB2019"/>
              </a:solidFill>
              <a:latin typeface="Open Sans"/>
              <a:ea typeface="Open Sans"/>
              <a:cs typeface="Open Sans"/>
            </a:endParaRPr>
          </a:p>
        </p:txBody>
      </p:sp>
      <p:sp>
        <p:nvSpPr>
          <p:cNvPr id="18" name="TextBox 17"/>
          <p:cNvSpPr txBox="1"/>
          <p:nvPr/>
        </p:nvSpPr>
        <p:spPr>
          <a:xfrm>
            <a:off x="1417320" y="5422392"/>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Điều đạt được với 2 máy vật lý + Node 3 trọng tài</a:t>
            </a:r>
            <a:endParaRPr sz="1400">
              <a:solidFill>
                <a:srgbClr val="6B5F5D"/>
              </a:solidFill>
              <a:latin typeface="Open Sans"/>
              <a:ea typeface="Open Sans"/>
              <a:cs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hệ thống đặt vé phân tán</a:t>
            </a:r>
          </a:p>
        </p:txBody>
      </p:sp>
      <p:sp>
        <p:nvSpPr>
          <p:cNvPr id="3" name="Text Placeholder 2"/>
          <p:cNvSpPr>
            <a:spLocks noGrp="1"/>
          </p:cNvSpPr>
          <p:nvPr>
            <p:ph type="body" sz="quarter" idx="13"/>
          </p:nvPr>
        </p:nvSpPr>
        <p:spPr/>
        <p:txBody>
          <a:bodyPr/>
          <a:lstStyle/>
          <a:p>
            <a:r>
              <a:t>Kiến trúc Active-Standby 2 máy vật lý + Node 3 trọng tài, cùng một Wi-Fi</a:t>
            </a:r>
          </a:p>
          <a:p>
            <a:r>
              <a:t>PostgreSQL Primary/Standby + repmgr · Redis Master/Replica · RabbitMQ 3 nút (Raft)</a:t>
            </a:r>
          </a:p>
          <a:p>
            <a:r>
              <a:t>10 kịch bản chạy thật: node demo/run.mjs · Demo Console: http://&lt;IP Node 3&gt;:8090/</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Kiến trúc: Active-Standby hai máy vật lý + Node 3</a:t>
            </a:r>
          </a:p>
        </p:txBody>
      </p:sp>
      <p:sp>
        <p:nvSpPr>
          <p:cNvPr id="3" name="Text Placeholder 2"/>
          <p:cNvSpPr>
            <a:spLocks noGrp="1"/>
          </p:cNvSpPr>
          <p:nvPr>
            <p:ph type="body" sz="quarter" idx="13"/>
          </p:nvPr>
        </p:nvSpPr>
        <p:spPr/>
        <p:txBody>
          <a:bodyPr/>
          <a:lstStyle/>
          <a:p>
            <a:r>
              <a:t>Giữ nguyên kiến trúc lần bảo vệ trước — Node 3 nay là laptop thật trong cùng mạng Wi-Fi</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pic>
        <p:nvPicPr>
          <p:cNvPr id="7" name="Picture 6" descr="arch3.png"/>
          <p:cNvPicPr>
            <a:picLocks noChangeAspect="1"/>
          </p:cNvPicPr>
          <p:nvPr/>
        </p:nvPicPr>
        <p:blipFill>
          <a:blip r:embed="rId1"/>
          <a:stretch>
            <a:fillRect/>
          </a:stretch>
        </p:blipFill>
        <p:spPr>
          <a:xfrm>
            <a:off x="1463040" y="1261872"/>
            <a:ext cx="8932653" cy="4983480"/>
          </a:xfrm>
          <a:prstGeom prst="rect">
            <a:avLst/>
          </a:prstGeom>
          <a:ln>
            <a:solidFill>
              <a:srgbClr val="FFD5D5"/>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Lần này khắc phục 3 tình huống kiến trúc cũ chưa xử lý</a:t>
            </a:r>
          </a:p>
        </p:txBody>
      </p:sp>
      <p:sp>
        <p:nvSpPr>
          <p:cNvPr id="3" name="Text Placeholder 2"/>
          <p:cNvSpPr>
            <a:spLocks noGrp="1"/>
          </p:cNvSpPr>
          <p:nvPr>
            <p:ph type="body" sz="quarter" idx="13"/>
          </p:nvPr>
        </p:nvSpPr>
        <p:spPr/>
        <p:txBody>
          <a:bodyPr/>
          <a:lstStyle/>
          <a:p>
            <a:r>
              <a:t>Cả 3 tình huống đều được demo trực tiếp ở các slide sau</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graphicFrame>
        <p:nvGraphicFramePr>
          <p:cNvPr id="7" name="Table 6"/>
          <p:cNvGraphicFramePr>
            <a:graphicFrameLocks noGrp="1"/>
          </p:cNvGraphicFramePr>
          <p:nvPr/>
        </p:nvGraphicFramePr>
        <p:xfrm>
          <a:off x="457200" y="1325880"/>
          <a:ext cx="11292840" cy="3968496"/>
        </p:xfrm>
        <a:graphic>
          <a:graphicData uri="http://schemas.openxmlformats.org/drawingml/2006/table">
            <a:tbl>
              <a:tblPr firstRow="1" bandRow="1">
                <a:tableStyleId>{C083E6E3-FA7D-4D7B-A595-EF9225AFEA82}</a:tableStyleId>
              </a:tblPr>
              <a:tblGrid>
                <a:gridCol w="2377440"/>
                <a:gridCol w="3017520"/>
                <a:gridCol w="4892040"/>
                <a:gridCol w="1005840"/>
              </a:tblGrid>
              <a:tr h="566928">
                <a:tc>
                  <a:txBody>
                    <a:bodyPr wrap="square"/>
                    <a:lstStyle/>
                    <a:p>
                      <a:r>
                        <a:rPr sz="1250" b="1">
                          <a:solidFill>
                            <a:srgbClr val="BB2019"/>
                          </a:solidFill>
                          <a:latin typeface="Open Sans"/>
                          <a:ea typeface="Open Sans"/>
                          <a:cs typeface="Open Sans"/>
                        </a:rPr>
                        <a:t>Tình huống</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Kiến trúc cũ</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Bây giờ</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Demo</a:t>
                      </a:r>
                      <a:endParaRPr sz="1250" b="1">
                        <a:solidFill>
                          <a:srgbClr val="BB2019"/>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Máy 1 mất mạng nhưng vẫn sống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2 lên Primary, máy 1 vẫn nhận ghi → 2 nơi bán vé</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pg-router chỉ cho ghi khi thấy ≥ 2/3 nút: máy 1 tự chặn ghi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10</a:t>
                      </a:r>
                      <a:endParaRPr sz="1250" b="0">
                        <a:solidFill>
                          <a:srgbClr val="262626"/>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Primary cũ bật lại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Thành 2 Primary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Thấy Primary timeline cao hơn → tự hạ cấp, pg_rewind về Standby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05, 10</a:t>
                      </a:r>
                      <a:endParaRPr sz="1250" b="0">
                        <a:solidFill>
                          <a:srgbClr val="262626"/>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Đứt mạng máy 1 ↔ máy 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Witness chưa cấu hình phiếu đồng thuận</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Node 3 còn thấy Primary → phủ quyết, máy 2 giữ Standby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04</a:t>
                      </a:r>
                      <a:endParaRPr sz="1250" b="0">
                        <a:solidFill>
                          <a:srgbClr val="262626"/>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1 máy chết, RabbitMQ 2 nút</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Raft mất đa số (1/2) → hàng đợi ngừng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RabbitMQ #3 trên Node 3: còn 2/3, leader bầu lại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03</a:t>
                      </a:r>
                      <a:endParaRPr sz="1250" b="0">
                        <a:solidFill>
                          <a:srgbClr val="262626"/>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Máy 1 chết, client vào qua máy 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Mất điểm vào</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Frontend LB trên Node 3, tự né máy lỗi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05</a:t>
                      </a:r>
                      <a:endParaRPr sz="1250" b="0">
                        <a:solidFill>
                          <a:srgbClr val="262626"/>
                        </a:solidFill>
                        <a:latin typeface="Open Sans"/>
                        <a:ea typeface="Open Sans"/>
                        <a:cs typeface="Open Sans"/>
                      </a:endParaRPr>
                    </a:p>
                  </a:txBody>
                  <a:tcPr marL="73152" marR="73152" marT="27432" marB="27432" anchor="ctr"/>
                </a:tc>
              </a:tr>
              <a:tr h="566928">
                <a:tc>
                  <a:txBody>
                    <a:bodyPr wrap="square"/>
                    <a:lstStyle/>
                    <a:p>
                      <a:r>
                        <a:rPr sz="1250" b="0">
                          <a:solidFill>
                            <a:srgbClr val="262626"/>
                          </a:solidFill>
                          <a:latin typeface="Open Sans"/>
                          <a:ea typeface="Open Sans"/>
                          <a:cs typeface="Open Sans"/>
                        </a:rPr>
                        <a:t>Sau failover, app ghi về máy 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Ghi vào máy đã chết</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Ghi qua pg-router → Primary hiện tại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05</a:t>
                      </a:r>
                      <a:endParaRPr sz="1250" b="0">
                        <a:solidFill>
                          <a:srgbClr val="262626"/>
                        </a:solidFill>
                        <a:latin typeface="Open Sans"/>
                        <a:ea typeface="Open Sans"/>
                        <a:cs typeface="Open Sans"/>
                      </a:endParaRPr>
                    </a:p>
                  </a:txBody>
                  <a:tcPr marL="73152" marR="73152" marT="27432" marB="27432" anchor="ctr"/>
                </a:tc>
              </a:tr>
            </a:tbl>
          </a:graphicData>
        </a:graphic>
      </p:graphicFrame>
      <p:sp>
        <p:nvSpPr>
          <p:cNvPr id="8" name="Rectangle 7"/>
          <p:cNvSpPr/>
          <p:nvPr/>
        </p:nvSpPr>
        <p:spPr>
          <a:xfrm>
            <a:off x="457200" y="5532120"/>
            <a:ext cx="11292840" cy="68580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FFFFFF"/>
                </a:solidFill>
                <a:latin typeface="Open Sans"/>
                <a:ea typeface="Open Sans"/>
                <a:cs typeface="Open Sans"/>
              </a:rPr>
              <a:t>Nguyên tắc chung: mọi quyết định "ai là chủ" đều cần đa số 2/3 — thiếu đa số thì dừng ghi chứ không đoán.</a:t>
            </a:r>
            <a:endParaRPr sz="1500" b="1">
              <a:solidFill>
                <a:srgbClr val="FFFFFF"/>
              </a:solidFill>
              <a:latin typeface="Open Sans"/>
              <a:ea typeface="Open Sans"/>
              <a:cs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Đặc trưng hệ phân tán → 10 kịch bản demo</a:t>
            </a:r>
          </a:p>
        </p:txBody>
      </p:sp>
      <p:sp>
        <p:nvSpPr>
          <p:cNvPr id="3" name="Text Placeholder 2"/>
          <p:cNvSpPr>
            <a:spLocks noGrp="1"/>
          </p:cNvSpPr>
          <p:nvPr>
            <p:ph type="body" sz="quarter" idx="13"/>
          </p:nvPr>
        </p:nvSpPr>
        <p:spPr/>
        <p:txBody>
          <a:bodyPr/>
          <a:lstStyle/>
          <a:p>
            <a:r>
              <a:t>Mỗi kịch bản chứng minh một đặc trưng bằng một con số đo được</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graphicFrame>
        <p:nvGraphicFramePr>
          <p:cNvPr id="7" name="Table 6"/>
          <p:cNvGraphicFramePr>
            <a:graphicFrameLocks noGrp="1"/>
          </p:cNvGraphicFramePr>
          <p:nvPr/>
        </p:nvGraphicFramePr>
        <p:xfrm>
          <a:off x="457200" y="1280160"/>
          <a:ext cx="11292836" cy="4576572"/>
        </p:xfrm>
        <a:graphic>
          <a:graphicData uri="http://schemas.openxmlformats.org/drawingml/2006/table">
            <a:tbl>
              <a:tblPr firstRow="1" bandRow="1">
                <a:tableStyleId>{C083E6E3-FA7D-4D7B-A595-EF9225AFEA82}</a:tableStyleId>
              </a:tblPr>
              <a:tblGrid>
                <a:gridCol w="548639"/>
                <a:gridCol w="2834639"/>
                <a:gridCol w="3657599"/>
                <a:gridCol w="4251959"/>
              </a:tblGrid>
              <a:tr h="416052">
                <a:tc>
                  <a:txBody>
                    <a:bodyPr wrap="square"/>
                    <a:lstStyle/>
                    <a:p>
                      <a:r>
                        <a:rPr sz="1250" b="1">
                          <a:solidFill>
                            <a:srgbClr val="BB2019"/>
                          </a:solidFill>
                          <a:latin typeface="Open Sans"/>
                          <a:ea typeface="Open Sans"/>
                          <a:cs typeface="Open Sans"/>
                        </a:rPr>
                        <a:t>#</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Đặc trưng</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Kịch bản</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Bằng chứng đo được</a:t>
                      </a:r>
                      <a:endParaRPr sz="1250" b="1">
                        <a:solidFill>
                          <a:srgbClr val="BB2019"/>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Transparency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Một URL, 2 máy phía sau</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Yêu cầu luân phiên máy 1 ↔ máy 2</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Concurrency control</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10 khách ở 2 máy giành ghế A20</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1 × 201, 9 × 409 (pessimistic &amp; optimistic)</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03</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Fault tolerance + Async</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Email &amp; 1 nút RabbitMQ chết</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2 tiếp quản; leader Raft bầu lại; 3/3 email bù</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04</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Chống split-brain</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Đứt mạng máy 1 ↔ máy 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Node 3 phủ quyết: “cancelling failover”</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05</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Auto-failover + fencing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Primary máy 1 sập</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2 lên Primary, gián đoạn ~22 s; máy 1 tự về Standby</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06</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Replication / nhất quán</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Bán ở máy 1, xem ở máy 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2 thấy “booked” sau ~13 ms</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07</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No global clock</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Đo lệch đồng hồ 2 máy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Thuật toán Cristian, sai số ± RTT/2</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10</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Partition + self-fencing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Tắt Wi-Fi máy 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1: 1/3 → chặn ghi · máy 2: 2/3 → Primary</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08</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Scalability (bổ sung)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booking-service ×3 + cache</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12 lượt chia 4/4/4 · 99,5 % trúng cache</a:t>
                      </a:r>
                      <a:endParaRPr sz="1250" b="0">
                        <a:solidFill>
                          <a:srgbClr val="262626"/>
                        </a:solidFill>
                        <a:latin typeface="Open Sans"/>
                        <a:ea typeface="Open Sans"/>
                        <a:cs typeface="Open Sans"/>
                      </a:endParaRPr>
                    </a:p>
                  </a:txBody>
                  <a:tcPr marL="73152" marR="73152" marT="27432" marB="27432" anchor="ctr"/>
                </a:tc>
              </a:tr>
              <a:tr h="416052">
                <a:tc>
                  <a:txBody>
                    <a:bodyPr wrap="square"/>
                    <a:lstStyle/>
                    <a:p>
                      <a:r>
                        <a:rPr sz="1250" b="0">
                          <a:solidFill>
                            <a:srgbClr val="262626"/>
                          </a:solidFill>
                          <a:latin typeface="Open Sans"/>
                          <a:ea typeface="Open Sans"/>
                          <a:cs typeface="Open Sans"/>
                        </a:rPr>
                        <a:t>09</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Circuit breaker (bổ sung)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Dịch vụ kho ghế chết</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Mạch OPEN: phản hồi trong 3 ms</a:t>
                      </a:r>
                      <a:endParaRPr sz="1250" b="0">
                        <a:solidFill>
                          <a:srgbClr val="262626"/>
                        </a:solidFill>
                        <a:latin typeface="Open Sans"/>
                        <a:ea typeface="Open Sans"/>
                        <a:cs typeface="Open Sans"/>
                      </a:endParaRPr>
                    </a:p>
                  </a:txBody>
                  <a:tcPr marL="73152" marR="73152" marT="27432" marB="27432"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01 · Transparency — một địa chỉ, hai máy</a:t>
            </a:r>
          </a:p>
        </p:txBody>
      </p:sp>
      <p:sp>
        <p:nvSpPr>
          <p:cNvPr id="3" name="Text Placeholder 2"/>
          <p:cNvSpPr>
            <a:spLocks noGrp="1"/>
          </p:cNvSpPr>
          <p:nvPr>
            <p:ph type="body" sz="quarter" idx="13"/>
          </p:nvPr>
        </p:nvSpPr>
        <p:spPr/>
        <p:txBody>
          <a:bodyPr/>
          <a:lstStyle/>
          <a:p>
            <a:r>
              <a:t>Client gọi cùng một URL; Frontend LB trên Node 3 chia yêu cầu cho gateway của cả 2 máy</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1</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37360"/>
            <a:ext cx="5120640" cy="29260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250">
                <a:solidFill>
                  <a:srgbClr val="BB2019"/>
                </a:solidFill>
                <a:latin typeface="Consolas" panose="020B0609020204030204"/>
                <a:ea typeface="Consolas" panose="020B0609020204030204"/>
                <a:cs typeface="Consolas" panose="020B0609020204030204"/>
              </a:rPr>
              <a:t>$ curl http://&lt;IP Node 3&gt;:8090/health   ×6</a:t>
            </a:r>
            <a:endParaRPr sz="1250">
              <a:solidFill>
                <a:srgbClr val="BB2019"/>
              </a:solidFill>
              <a:latin typeface="Consolas" panose="020B0609020204030204"/>
              <a:ea typeface="Consolas" panose="020B0609020204030204"/>
              <a:cs typeface="Consolas" panose="020B0609020204030204"/>
            </a:endParaRPr>
          </a:p>
          <a:p>
            <a:pPr algn="l">
              <a:spcAft>
                <a:spcPts val="0"/>
              </a:spcAft>
            </a:pPr>
          </a:p>
          <a:p>
            <a:pPr algn="l">
              <a:spcAft>
                <a:spcPts val="0"/>
              </a:spcAft>
            </a:pPr>
            <a:r>
              <a:rPr sz="1250">
                <a:solidFill>
                  <a:srgbClr val="262626"/>
                </a:solidFill>
                <a:latin typeface="Consolas" panose="020B0609020204030204"/>
                <a:ea typeface="Consolas" panose="020B0609020204030204"/>
                <a:cs typeface="Consolas" panose="020B0609020204030204"/>
              </a:rPr>
              <a:t>Lần 1  →  MÁY 1  gateway 9787c9a1d33d</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BB2019"/>
                </a:solidFill>
                <a:latin typeface="Consolas" panose="020B0609020204030204"/>
                <a:ea typeface="Consolas" panose="020B0609020204030204"/>
                <a:cs typeface="Consolas" panose="020B0609020204030204"/>
              </a:rPr>
              <a:t>Lần 2  →  MÁY 2  gateway a1d5309bf606</a:t>
            </a:r>
            <a:endParaRPr sz="1250">
              <a:solidFill>
                <a:srgbClr val="BB2019"/>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Lần 3  →  MÁY 1  gateway 9787c9a1d33d</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BB2019"/>
                </a:solidFill>
                <a:latin typeface="Consolas" panose="020B0609020204030204"/>
                <a:ea typeface="Consolas" panose="020B0609020204030204"/>
                <a:cs typeface="Consolas" panose="020B0609020204030204"/>
              </a:rPr>
              <a:t>Lần 4  →  MÁY 2  gateway a1d5309bf606</a:t>
            </a:r>
            <a:endParaRPr sz="1250">
              <a:solidFill>
                <a:srgbClr val="BB2019"/>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Lần 5  →  MÁY 1  …</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BB2019"/>
                </a:solidFill>
                <a:latin typeface="Consolas" panose="020B0609020204030204"/>
                <a:ea typeface="Consolas" panose="020B0609020204030204"/>
                <a:cs typeface="Consolas" panose="020B0609020204030204"/>
              </a:rPr>
              <a:t>Lần 6  →  MÁY 2  …</a:t>
            </a:r>
            <a:endParaRPr sz="1250">
              <a:solidFill>
                <a:srgbClr val="BB2019"/>
              </a:solidFill>
              <a:latin typeface="Consolas" panose="020B0609020204030204"/>
              <a:ea typeface="Consolas" panose="020B0609020204030204"/>
              <a:cs typeface="Consolas" panose="020B0609020204030204"/>
            </a:endParaRPr>
          </a:p>
        </p:txBody>
      </p:sp>
      <p:sp>
        <p:nvSpPr>
          <p:cNvPr id="9" name="Rectangle 8"/>
          <p:cNvSpPr/>
          <p:nvPr/>
        </p:nvSpPr>
        <p:spPr>
          <a:xfrm>
            <a:off x="457200" y="4846320"/>
            <a:ext cx="5120640" cy="13716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200"/>
              </a:spcAft>
            </a:pPr>
            <a:r>
              <a:rPr sz="1400" b="1">
                <a:solidFill>
                  <a:srgbClr val="BB2019"/>
                </a:solidFill>
                <a:latin typeface="Open Sans"/>
                <a:ea typeface="Open Sans"/>
                <a:cs typeface="Open Sans"/>
              </a:rPr>
              <a:t>POST /booking → 201 </a:t>
            </a:r>
            <a:r>
              <a:rPr sz="1400">
                <a:solidFill>
                  <a:srgbClr val="262626"/>
                </a:solidFill>
                <a:latin typeface="Open Sans"/>
                <a:ea typeface="Open Sans"/>
                <a:cs typeface="Open Sans"/>
              </a:rPr>
              <a:t>trong ~40 ms. Phản hồi chỉ là JSON: mã vé, ghế, phim.</a:t>
            </a:r>
            <a:endParaRPr sz="1400">
              <a:solidFill>
                <a:srgbClr val="262626"/>
              </a:solidFill>
              <a:latin typeface="Open Sans"/>
              <a:ea typeface="Open Sans"/>
              <a:cs typeface="Open Sans"/>
            </a:endParaRPr>
          </a:p>
        </p:txBody>
      </p:sp>
      <p:graphicFrame>
        <p:nvGraphicFramePr>
          <p:cNvPr id="10" name="Table 9"/>
          <p:cNvGraphicFramePr>
            <a:graphicFrameLocks noGrp="1"/>
          </p:cNvGraphicFramePr>
          <p:nvPr/>
        </p:nvGraphicFramePr>
        <p:xfrm>
          <a:off x="5852160" y="1737360"/>
          <a:ext cx="5897880" cy="2743200"/>
        </p:xfrm>
        <a:graphic>
          <a:graphicData uri="http://schemas.openxmlformats.org/drawingml/2006/table">
            <a:tbl>
              <a:tblPr firstRow="1" bandRow="1">
                <a:tableStyleId>{C083E6E3-FA7D-4D7B-A595-EF9225AFEA82}</a:tableStyleId>
              </a:tblPr>
              <a:tblGrid>
                <a:gridCol w="1371600"/>
                <a:gridCol w="2286000"/>
                <a:gridCol w="2240280"/>
              </a:tblGrid>
              <a:tr h="457200">
                <a:tc>
                  <a:txBody>
                    <a:bodyPr wrap="square"/>
                    <a:lstStyle/>
                    <a:p>
                      <a:r>
                        <a:rPr sz="1250" b="1">
                          <a:solidFill>
                            <a:srgbClr val="BB2019"/>
                          </a:solidFill>
                          <a:latin typeface="Open Sans"/>
                          <a:ea typeface="Open Sans"/>
                          <a:cs typeface="Open Sans"/>
                        </a:rPr>
                        <a:t>Bị che giấu</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Máy 1</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Máy 2</a:t>
                      </a:r>
                      <a:endParaRPr sz="1250" b="1">
                        <a:solidFill>
                          <a:srgbClr val="BB2019"/>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Gateway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:3000</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:3100</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Ghi CSDL</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PRIMARY (pg-router)</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PRIMARY (pg-router)</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Đọc CSDL</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PRIMARY tại chỗ</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 tại chỗ</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Đọc cache</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Redis MASTER</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Redis REPLICA</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Giao thức</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REST → gRPC → SQL → AMQP</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a:t>
                      </a:r>
                      <a:endParaRPr sz="1250" b="0">
                        <a:solidFill>
                          <a:srgbClr val="262626"/>
                        </a:solidFill>
                        <a:latin typeface="Open Sans"/>
                        <a:ea typeface="Open Sans"/>
                        <a:cs typeface="Open Sans"/>
                      </a:endParaRPr>
                    </a:p>
                  </a:txBody>
                  <a:tcPr marL="73152" marR="73152" marT="27432" marB="27432" anchor="ctr"/>
                </a:tc>
              </a:tr>
            </a:tbl>
          </a:graphicData>
        </a:graphic>
      </p:graphicFrame>
      <p:sp>
        <p:nvSpPr>
          <p:cNvPr id="11" name="Rectangle 10"/>
          <p:cNvSpPr/>
          <p:nvPr/>
        </p:nvSpPr>
        <p:spPr>
          <a:xfrm>
            <a:off x="5852160" y="4663440"/>
            <a:ext cx="589788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Ba loại trong suốt</a:t>
            </a:r>
            <a:endParaRPr sz="1400" b="1">
              <a:solidFill>
                <a:srgbClr val="FFFFFF"/>
              </a:solidFill>
              <a:latin typeface="Open Sans"/>
              <a:ea typeface="Open Sans"/>
              <a:cs typeface="Open Sans"/>
            </a:endParaRPr>
          </a:p>
        </p:txBody>
      </p:sp>
      <p:sp>
        <p:nvSpPr>
          <p:cNvPr id="12" name="Rectangle 11"/>
          <p:cNvSpPr/>
          <p:nvPr/>
        </p:nvSpPr>
        <p:spPr>
          <a:xfrm>
            <a:off x="5852160" y="5047488"/>
            <a:ext cx="5897880" cy="117043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Access: REST/JSON bên ngoài, gRPC/Protobuf bên trong</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Location &amp; replication: không biết IP, số máy, số bản dữ liệu</a:t>
            </a:r>
            <a:endParaRPr sz="1300">
              <a:solidFill>
                <a:srgbClr val="262626"/>
              </a:solidFill>
              <a:latin typeface="Open Sans"/>
              <a:ea typeface="Open Sans"/>
              <a:cs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02 · Concurrency control — 10 khách, 2 máy, 1 ghế</a:t>
            </a:r>
          </a:p>
        </p:txBody>
      </p:sp>
      <p:sp>
        <p:nvSpPr>
          <p:cNvPr id="3" name="Text Placeholder 2"/>
          <p:cNvSpPr>
            <a:spLocks noGrp="1"/>
          </p:cNvSpPr>
          <p:nvPr>
            <p:ph type="body" sz="quarter" idx="13"/>
          </p:nvPr>
        </p:nvSpPr>
        <p:spPr/>
        <p:txBody>
          <a:bodyPr/>
          <a:lstStyle/>
          <a:p>
            <a:r>
              <a:t>5 yêu cầu vào máy 1, 5 yêu cầu vào máy 2, bắn cùng lúc giành ghế cuối A20</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2</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37360"/>
            <a:ext cx="3703320" cy="45720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FFFFFF"/>
                </a:solidFill>
                <a:latin typeface="Open Sans"/>
                <a:ea typeface="Open Sans"/>
                <a:cs typeface="Open Sans"/>
              </a:rPr>
              <a:t>PESSIMISTIC</a:t>
            </a:r>
            <a:endParaRPr sz="1400" b="1">
              <a:solidFill>
                <a:srgbClr val="FFFFFF"/>
              </a:solidFill>
              <a:latin typeface="Open Sans"/>
              <a:ea typeface="Open Sans"/>
              <a:cs typeface="Open Sans"/>
            </a:endParaRPr>
          </a:p>
        </p:txBody>
      </p:sp>
      <p:sp>
        <p:nvSpPr>
          <p:cNvPr id="9" name="Rectangle 8"/>
          <p:cNvSpPr/>
          <p:nvPr/>
        </p:nvSpPr>
        <p:spPr>
          <a:xfrm>
            <a:off x="457200" y="2194560"/>
            <a:ext cx="3703320" cy="2148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150">
                <a:solidFill>
                  <a:srgbClr val="262626"/>
                </a:solidFill>
                <a:latin typeface="Consolas" panose="020B0609020204030204"/>
                <a:ea typeface="Consolas" panose="020B0609020204030204"/>
                <a:cs typeface="Consolas" panose="020B0609020204030204"/>
              </a:rPr>
              <a:t>Khách 01  MÁY 1  201 Created</a:t>
            </a:r>
            <a:endParaRPr sz="1150">
              <a:solidFill>
                <a:srgbClr val="262626"/>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Khách 02  MÁY 2  409 already booked</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Khách 03  MÁY 1  409 …</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  …</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Khách 10  MÁY 2  409 …</a:t>
            </a:r>
            <a:endParaRPr sz="1150">
              <a:solidFill>
                <a:srgbClr val="6B5F5D"/>
              </a:solidFill>
              <a:latin typeface="Consolas" panose="020B0609020204030204"/>
              <a:ea typeface="Consolas" panose="020B0609020204030204"/>
              <a:cs typeface="Consolas" panose="020B0609020204030204"/>
            </a:endParaRPr>
          </a:p>
        </p:txBody>
      </p:sp>
      <p:sp>
        <p:nvSpPr>
          <p:cNvPr id="10" name="TextBox 9"/>
          <p:cNvSpPr txBox="1"/>
          <p:nvPr/>
        </p:nvSpPr>
        <p:spPr>
          <a:xfrm>
            <a:off x="457200" y="4434840"/>
            <a:ext cx="3703320" cy="457200"/>
          </a:xfrm>
          <a:prstGeom prst="rect">
            <a:avLst/>
          </a:prstGeom>
          <a:noFill/>
        </p:spPr>
        <p:txBody>
          <a:bodyPr wrap="square" lIns="36576" tIns="36576" rIns="36576" bIns="36576" anchor="t">
            <a:spAutoFit/>
          </a:bodyPr>
          <a:lstStyle/>
          <a:p>
            <a:pPr algn="l">
              <a:spcAft>
                <a:spcPts val="400"/>
              </a:spcAft>
            </a:pPr>
            <a:r>
              <a:rPr sz="1250">
                <a:solidFill>
                  <a:srgbClr val="6B5F5D"/>
                </a:solidFill>
                <a:latin typeface="Open Sans"/>
                <a:ea typeface="Open Sans"/>
                <a:cs typeface="Open Sans"/>
              </a:rPr>
              <a:t>SELECT … FOR UPDATE: người đến sau chờ khoá</a:t>
            </a:r>
            <a:endParaRPr sz="1250">
              <a:solidFill>
                <a:srgbClr val="6B5F5D"/>
              </a:solidFill>
              <a:latin typeface="Open Sans"/>
              <a:ea typeface="Open Sans"/>
              <a:cs typeface="Open Sans"/>
            </a:endParaRPr>
          </a:p>
        </p:txBody>
      </p:sp>
      <p:sp>
        <p:nvSpPr>
          <p:cNvPr id="11" name="Rectangle 10"/>
          <p:cNvSpPr/>
          <p:nvPr/>
        </p:nvSpPr>
        <p:spPr>
          <a:xfrm>
            <a:off x="4389120" y="1737360"/>
            <a:ext cx="3703320" cy="45720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FFFFFF"/>
                </a:solidFill>
                <a:latin typeface="Open Sans"/>
                <a:ea typeface="Open Sans"/>
                <a:cs typeface="Open Sans"/>
              </a:rPr>
              <a:t>OPTIMISTIC</a:t>
            </a:r>
            <a:endParaRPr sz="1400" b="1">
              <a:solidFill>
                <a:srgbClr val="FFFFFF"/>
              </a:solidFill>
              <a:latin typeface="Open Sans"/>
              <a:ea typeface="Open Sans"/>
              <a:cs typeface="Open Sans"/>
            </a:endParaRPr>
          </a:p>
        </p:txBody>
      </p:sp>
      <p:sp>
        <p:nvSpPr>
          <p:cNvPr id="12" name="Rectangle 11"/>
          <p:cNvSpPr/>
          <p:nvPr/>
        </p:nvSpPr>
        <p:spPr>
          <a:xfrm>
            <a:off x="4389120" y="2194560"/>
            <a:ext cx="3703320" cy="2148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150">
                <a:solidFill>
                  <a:srgbClr val="6B5F5D"/>
                </a:solidFill>
                <a:latin typeface="Consolas" panose="020B0609020204030204"/>
                <a:ea typeface="Consolas" panose="020B0609020204030204"/>
                <a:cs typeface="Consolas" panose="020B0609020204030204"/>
              </a:rPr>
              <a:t>Khách 01  MÁY 1  409 version conflict</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  …</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262626"/>
                </a:solidFill>
                <a:latin typeface="Consolas" panose="020B0609020204030204"/>
                <a:ea typeface="Consolas" panose="020B0609020204030204"/>
                <a:cs typeface="Consolas" panose="020B0609020204030204"/>
              </a:rPr>
              <a:t>Khách 07  MÁY 1  201 Created</a:t>
            </a:r>
            <a:endParaRPr sz="1150">
              <a:solidFill>
                <a:srgbClr val="262626"/>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Khách 08  MÁY 2  409 version conflict</a:t>
            </a:r>
            <a:endParaRPr sz="1150">
              <a:solidFill>
                <a:srgbClr val="6B5F5D"/>
              </a:solidFill>
              <a:latin typeface="Consolas" panose="020B0609020204030204"/>
              <a:ea typeface="Consolas" panose="020B0609020204030204"/>
              <a:cs typeface="Consolas" panose="020B0609020204030204"/>
            </a:endParaRPr>
          </a:p>
          <a:p>
            <a:pPr algn="l">
              <a:spcAft>
                <a:spcPts val="0"/>
              </a:spcAft>
            </a:pPr>
            <a:r>
              <a:rPr sz="1150">
                <a:solidFill>
                  <a:srgbClr val="6B5F5D"/>
                </a:solidFill>
                <a:latin typeface="Consolas" panose="020B0609020204030204"/>
                <a:ea typeface="Consolas" panose="020B0609020204030204"/>
                <a:cs typeface="Consolas" panose="020B0609020204030204"/>
              </a:rPr>
              <a:t>Khách 10  MÁY 2  409 …</a:t>
            </a:r>
            <a:endParaRPr sz="1150">
              <a:solidFill>
                <a:srgbClr val="6B5F5D"/>
              </a:solidFill>
              <a:latin typeface="Consolas" panose="020B0609020204030204"/>
              <a:ea typeface="Consolas" panose="020B0609020204030204"/>
              <a:cs typeface="Consolas" panose="020B0609020204030204"/>
            </a:endParaRPr>
          </a:p>
        </p:txBody>
      </p:sp>
      <p:sp>
        <p:nvSpPr>
          <p:cNvPr id="13" name="TextBox 12"/>
          <p:cNvSpPr txBox="1"/>
          <p:nvPr/>
        </p:nvSpPr>
        <p:spPr>
          <a:xfrm>
            <a:off x="4389120" y="4434840"/>
            <a:ext cx="3703320" cy="457200"/>
          </a:xfrm>
          <a:prstGeom prst="rect">
            <a:avLst/>
          </a:prstGeom>
          <a:noFill/>
        </p:spPr>
        <p:txBody>
          <a:bodyPr wrap="square" lIns="36576" tIns="36576" rIns="36576" bIns="36576" anchor="t">
            <a:spAutoFit/>
          </a:bodyPr>
          <a:lstStyle/>
          <a:p>
            <a:pPr algn="l">
              <a:spcAft>
                <a:spcPts val="400"/>
              </a:spcAft>
            </a:pPr>
            <a:r>
              <a:rPr sz="1250">
                <a:solidFill>
                  <a:srgbClr val="6B5F5D"/>
                </a:solidFill>
                <a:latin typeface="Open Sans"/>
                <a:ea typeface="Open Sans"/>
                <a:cs typeface="Open Sans"/>
              </a:rPr>
              <a:t>UPDATE … WHERE version = v: sai version → huỷ</a:t>
            </a:r>
            <a:endParaRPr sz="1250">
              <a:solidFill>
                <a:srgbClr val="6B5F5D"/>
              </a:solidFill>
              <a:latin typeface="Open Sans"/>
              <a:ea typeface="Open Sans"/>
              <a:cs typeface="Open Sans"/>
            </a:endParaRPr>
          </a:p>
        </p:txBody>
      </p:sp>
      <p:sp>
        <p:nvSpPr>
          <p:cNvPr id="14" name="Rectangle 13"/>
          <p:cNvSpPr/>
          <p:nvPr/>
        </p:nvSpPr>
        <p:spPr>
          <a:xfrm>
            <a:off x="8366760" y="1737360"/>
            <a:ext cx="3383280" cy="96012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5" name="TextBox 14"/>
          <p:cNvSpPr txBox="1"/>
          <p:nvPr/>
        </p:nvSpPr>
        <p:spPr>
          <a:xfrm>
            <a:off x="8549640" y="1755648"/>
            <a:ext cx="3108960" cy="548640"/>
          </a:xfrm>
          <a:prstGeom prst="rect">
            <a:avLst/>
          </a:prstGeom>
          <a:noFill/>
        </p:spPr>
        <p:txBody>
          <a:bodyPr wrap="square" lIns="36576" tIns="36576" rIns="36576" bIns="36576" anchor="t">
            <a:spAutoFit/>
          </a:bodyPr>
          <a:lstStyle/>
          <a:p>
            <a:pPr algn="l">
              <a:spcAft>
                <a:spcPts val="400"/>
              </a:spcAft>
            </a:pPr>
            <a:r>
              <a:rPr sz="2400" b="1">
                <a:solidFill>
                  <a:srgbClr val="BB2019"/>
                </a:solidFill>
                <a:latin typeface="Open Sans"/>
                <a:ea typeface="Open Sans"/>
                <a:cs typeface="Open Sans"/>
              </a:rPr>
              <a:t>1 × 201</a:t>
            </a:r>
            <a:endParaRPr sz="2400" b="1">
              <a:solidFill>
                <a:srgbClr val="BB2019"/>
              </a:solidFill>
              <a:latin typeface="Open Sans"/>
              <a:ea typeface="Open Sans"/>
              <a:cs typeface="Open Sans"/>
            </a:endParaRPr>
          </a:p>
        </p:txBody>
      </p:sp>
      <p:sp>
        <p:nvSpPr>
          <p:cNvPr id="16" name="TextBox 15"/>
          <p:cNvSpPr txBox="1"/>
          <p:nvPr/>
        </p:nvSpPr>
        <p:spPr>
          <a:xfrm>
            <a:off x="8549640" y="2286000"/>
            <a:ext cx="3108960" cy="411480"/>
          </a:xfrm>
          <a:prstGeom prst="rect">
            <a:avLst/>
          </a:prstGeom>
          <a:noFill/>
        </p:spPr>
        <p:txBody>
          <a:bodyPr wrap="square" lIns="36576" tIns="36576" rIns="36576" bIns="36576" anchor="t">
            <a:spAutoFit/>
          </a:bodyPr>
          <a:lstStyle/>
          <a:p>
            <a:pPr algn="l">
              <a:spcAft>
                <a:spcPts val="400"/>
              </a:spcAft>
            </a:pPr>
            <a:r>
              <a:rPr sz="1200">
                <a:solidFill>
                  <a:srgbClr val="6B5F5D"/>
                </a:solidFill>
                <a:latin typeface="Open Sans"/>
                <a:ea typeface="Open Sans"/>
                <a:cs typeface="Open Sans"/>
              </a:rPr>
              <a:t>vé duy nhất cho A20 ở cả 2 lần chạy</a:t>
            </a:r>
            <a:endParaRPr sz="1200">
              <a:solidFill>
                <a:srgbClr val="6B5F5D"/>
              </a:solidFill>
              <a:latin typeface="Open Sans"/>
              <a:ea typeface="Open Sans"/>
              <a:cs typeface="Open Sans"/>
            </a:endParaRPr>
          </a:p>
        </p:txBody>
      </p:sp>
      <p:sp>
        <p:nvSpPr>
          <p:cNvPr id="17" name="Rectangle 16"/>
          <p:cNvSpPr/>
          <p:nvPr/>
        </p:nvSpPr>
        <p:spPr>
          <a:xfrm>
            <a:off x="8366760" y="2834639"/>
            <a:ext cx="3383280" cy="96012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8" name="TextBox 17"/>
          <p:cNvSpPr txBox="1"/>
          <p:nvPr/>
        </p:nvSpPr>
        <p:spPr>
          <a:xfrm>
            <a:off x="8549640" y="2852927"/>
            <a:ext cx="3108960" cy="548640"/>
          </a:xfrm>
          <a:prstGeom prst="rect">
            <a:avLst/>
          </a:prstGeom>
          <a:noFill/>
        </p:spPr>
        <p:txBody>
          <a:bodyPr wrap="square" lIns="36576" tIns="36576" rIns="36576" bIns="36576" anchor="t">
            <a:spAutoFit/>
          </a:bodyPr>
          <a:lstStyle/>
          <a:p>
            <a:pPr algn="l">
              <a:spcAft>
                <a:spcPts val="400"/>
              </a:spcAft>
            </a:pPr>
            <a:r>
              <a:rPr sz="2400" b="1">
                <a:solidFill>
                  <a:srgbClr val="BB2019"/>
                </a:solidFill>
                <a:latin typeface="Open Sans"/>
                <a:ea typeface="Open Sans"/>
                <a:cs typeface="Open Sans"/>
              </a:rPr>
              <a:t>9 × 409</a:t>
            </a:r>
            <a:endParaRPr sz="2400" b="1">
              <a:solidFill>
                <a:srgbClr val="BB2019"/>
              </a:solidFill>
              <a:latin typeface="Open Sans"/>
              <a:ea typeface="Open Sans"/>
              <a:cs typeface="Open Sans"/>
            </a:endParaRPr>
          </a:p>
        </p:txBody>
      </p:sp>
      <p:sp>
        <p:nvSpPr>
          <p:cNvPr id="19" name="TextBox 18"/>
          <p:cNvSpPr txBox="1"/>
          <p:nvPr/>
        </p:nvSpPr>
        <p:spPr>
          <a:xfrm>
            <a:off x="8549640" y="3383279"/>
            <a:ext cx="3108960" cy="411480"/>
          </a:xfrm>
          <a:prstGeom prst="rect">
            <a:avLst/>
          </a:prstGeom>
          <a:noFill/>
        </p:spPr>
        <p:txBody>
          <a:bodyPr wrap="square" lIns="36576" tIns="36576" rIns="36576" bIns="36576" anchor="t">
            <a:spAutoFit/>
          </a:bodyPr>
          <a:lstStyle/>
          <a:p>
            <a:pPr algn="l">
              <a:spcAft>
                <a:spcPts val="400"/>
              </a:spcAft>
            </a:pPr>
            <a:r>
              <a:rPr sz="1200">
                <a:solidFill>
                  <a:srgbClr val="6B5F5D"/>
                </a:solidFill>
                <a:latin typeface="Open Sans"/>
                <a:ea typeface="Open Sans"/>
                <a:cs typeface="Open Sans"/>
              </a:rPr>
              <a:t>bị từ chối dứt khoát</a:t>
            </a:r>
            <a:endParaRPr sz="1200">
              <a:solidFill>
                <a:srgbClr val="6B5F5D"/>
              </a:solidFill>
              <a:latin typeface="Open Sans"/>
              <a:ea typeface="Open Sans"/>
              <a:cs typeface="Open Sans"/>
            </a:endParaRPr>
          </a:p>
        </p:txBody>
      </p:sp>
      <p:sp>
        <p:nvSpPr>
          <p:cNvPr id="20" name="Rectangle 19"/>
          <p:cNvSpPr/>
          <p:nvPr/>
        </p:nvSpPr>
        <p:spPr>
          <a:xfrm>
            <a:off x="8366760" y="3931920"/>
            <a:ext cx="3383280" cy="96012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1" name="TextBox 20"/>
          <p:cNvSpPr txBox="1"/>
          <p:nvPr/>
        </p:nvSpPr>
        <p:spPr>
          <a:xfrm>
            <a:off x="8549640" y="3950207"/>
            <a:ext cx="3108960" cy="548640"/>
          </a:xfrm>
          <a:prstGeom prst="rect">
            <a:avLst/>
          </a:prstGeom>
          <a:noFill/>
        </p:spPr>
        <p:txBody>
          <a:bodyPr wrap="square" lIns="36576" tIns="36576" rIns="36576" bIns="36576" anchor="t">
            <a:spAutoFit/>
          </a:bodyPr>
          <a:lstStyle/>
          <a:p>
            <a:pPr algn="l">
              <a:spcAft>
                <a:spcPts val="400"/>
              </a:spcAft>
            </a:pPr>
            <a:r>
              <a:rPr sz="2400" b="1">
                <a:solidFill>
                  <a:srgbClr val="BB2019"/>
                </a:solidFill>
                <a:latin typeface="Open Sans"/>
                <a:ea typeface="Open Sans"/>
                <a:cs typeface="Open Sans"/>
              </a:rPr>
              <a:t>~50 ms</a:t>
            </a:r>
            <a:endParaRPr sz="2400" b="1">
              <a:solidFill>
                <a:srgbClr val="BB2019"/>
              </a:solidFill>
              <a:latin typeface="Open Sans"/>
              <a:ea typeface="Open Sans"/>
              <a:cs typeface="Open Sans"/>
            </a:endParaRPr>
          </a:p>
        </p:txBody>
      </p:sp>
      <p:sp>
        <p:nvSpPr>
          <p:cNvPr id="22" name="TextBox 21"/>
          <p:cNvSpPr txBox="1"/>
          <p:nvPr/>
        </p:nvSpPr>
        <p:spPr>
          <a:xfrm>
            <a:off x="8549640" y="4480559"/>
            <a:ext cx="3108960" cy="411480"/>
          </a:xfrm>
          <a:prstGeom prst="rect">
            <a:avLst/>
          </a:prstGeom>
          <a:noFill/>
        </p:spPr>
        <p:txBody>
          <a:bodyPr wrap="square" lIns="36576" tIns="36576" rIns="36576" bIns="36576" anchor="t">
            <a:spAutoFit/>
          </a:bodyPr>
          <a:lstStyle/>
          <a:p>
            <a:pPr algn="l">
              <a:spcAft>
                <a:spcPts val="400"/>
              </a:spcAft>
            </a:pPr>
            <a:r>
              <a:rPr sz="1200">
                <a:solidFill>
                  <a:srgbClr val="6B5F5D"/>
                </a:solidFill>
                <a:latin typeface="Open Sans"/>
                <a:ea typeface="Open Sans"/>
                <a:cs typeface="Open Sans"/>
              </a:rPr>
              <a:t>cho cả 10 yêu cầu</a:t>
            </a:r>
            <a:endParaRPr sz="1200">
              <a:solidFill>
                <a:srgbClr val="6B5F5D"/>
              </a:solidFill>
              <a:latin typeface="Open Sans"/>
              <a:ea typeface="Open Sans"/>
              <a:cs typeface="Open Sans"/>
            </a:endParaRPr>
          </a:p>
        </p:txBody>
      </p:sp>
      <p:sp>
        <p:nvSpPr>
          <p:cNvPr id="23" name="Rectangle 22"/>
          <p:cNvSpPr/>
          <p:nvPr/>
        </p:nvSpPr>
        <p:spPr>
          <a:xfrm>
            <a:off x="457200" y="5120640"/>
            <a:ext cx="11292840" cy="1097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200"/>
              </a:spcAft>
            </a:pPr>
            <a:r>
              <a:rPr sz="1400" b="1">
                <a:solidFill>
                  <a:srgbClr val="BB2019"/>
                </a:solidFill>
                <a:latin typeface="Open Sans"/>
                <a:ea typeface="Open Sans"/>
                <a:cs typeface="Open Sans"/>
              </a:rPr>
              <a:t>Vì sao 2 máy không bán trùng? </a:t>
            </a:r>
            <a:r>
              <a:rPr sz="1400">
                <a:solidFill>
                  <a:srgbClr val="262626"/>
                </a:solidFill>
                <a:latin typeface="Open Sans"/>
                <a:ea typeface="Open Sans"/>
                <a:cs typeface="Open Sans"/>
              </a:rPr>
              <a:t>Hai inventory-service độc lập nhưng mọi lệnh GHI qua pg-router về MỘT Primary — điểm phân xử duy nhất; thứ tự không dựa vào đồng hồ của từng máy.</a:t>
            </a:r>
            <a:endParaRPr sz="1400">
              <a:solidFill>
                <a:srgbClr val="262626"/>
              </a:solidFill>
              <a:latin typeface="Open Sans"/>
              <a:ea typeface="Open Sans"/>
              <a:cs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03 · Fault tolerance — email &amp; hàng đợi chết từng phần</a:t>
            </a:r>
          </a:p>
        </p:txBody>
      </p:sp>
      <p:sp>
        <p:nvSpPr>
          <p:cNvPr id="3" name="Text Placeholder 2"/>
          <p:cNvSpPr>
            <a:spLocks noGrp="1"/>
          </p:cNvSpPr>
          <p:nvPr>
            <p:ph type="body" sz="quarter" idx="13"/>
          </p:nvPr>
        </p:nvSpPr>
        <p:spPr/>
        <p:txBody>
          <a:bodyPr/>
          <a:lstStyle/>
          <a:p>
            <a:r>
              <a:t>Quorum queue: mỗi thông điệp có trên đa số 3 nút RabbitMQ (Raft)</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3</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828800"/>
            <a:ext cx="2606040" cy="2194560"/>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9" name="Oval 8"/>
          <p:cNvSpPr/>
          <p:nvPr/>
        </p:nvSpPr>
        <p:spPr>
          <a:xfrm>
            <a:off x="640080" y="1993392"/>
            <a:ext cx="457200" cy="457200"/>
          </a:xfrm>
          <a:prstGeom prst="ellipse">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700" b="1">
                <a:solidFill>
                  <a:srgbClr val="FFFFFF"/>
                </a:solidFill>
                <a:latin typeface="Open Sans"/>
                <a:ea typeface="Open Sans"/>
                <a:cs typeface="Open Sans"/>
              </a:rPr>
              <a:t>1</a:t>
            </a:r>
            <a:endParaRPr sz="1700" b="1">
              <a:solidFill>
                <a:srgbClr val="FFFFFF"/>
              </a:solidFill>
              <a:latin typeface="Open Sans"/>
              <a:ea typeface="Open Sans"/>
              <a:cs typeface="Open Sans"/>
            </a:endParaRPr>
          </a:p>
        </p:txBody>
      </p:sp>
      <p:sp>
        <p:nvSpPr>
          <p:cNvPr id="10" name="TextBox 9"/>
          <p:cNvSpPr txBox="1"/>
          <p:nvPr/>
        </p:nvSpPr>
        <p:spPr>
          <a:xfrm>
            <a:off x="640080" y="2560320"/>
            <a:ext cx="2286000" cy="685800"/>
          </a:xfrm>
          <a:prstGeom prst="rect">
            <a:avLst/>
          </a:prstGeom>
          <a:noFill/>
        </p:spPr>
        <p:txBody>
          <a:bodyPr wrap="square" lIns="36576" tIns="36576" rIns="36576" bIns="36576" anchor="t">
            <a:spAutoFit/>
          </a:bodyPr>
          <a:lstStyle/>
          <a:p>
            <a:pPr algn="l">
              <a:spcAft>
                <a:spcPts val="400"/>
              </a:spcAft>
            </a:pPr>
            <a:r>
              <a:rPr sz="1400" b="1">
                <a:solidFill>
                  <a:srgbClr val="262626"/>
                </a:solidFill>
                <a:latin typeface="Open Sans"/>
                <a:ea typeface="Open Sans"/>
                <a:cs typeface="Open Sans"/>
              </a:rPr>
              <a:t>Tắt email máy 1</a:t>
            </a:r>
            <a:endParaRPr sz="1400" b="1">
              <a:solidFill>
                <a:srgbClr val="262626"/>
              </a:solidFill>
              <a:latin typeface="Open Sans"/>
              <a:ea typeface="Open Sans"/>
              <a:cs typeface="Open Sans"/>
            </a:endParaRPr>
          </a:p>
        </p:txBody>
      </p:sp>
      <p:sp>
        <p:nvSpPr>
          <p:cNvPr id="11" name="TextBox 10"/>
          <p:cNvSpPr txBox="1"/>
          <p:nvPr/>
        </p:nvSpPr>
        <p:spPr>
          <a:xfrm>
            <a:off x="640080" y="3200400"/>
            <a:ext cx="2286000" cy="777240"/>
          </a:xfrm>
          <a:prstGeom prst="rect">
            <a:avLst/>
          </a:prstGeom>
          <a:noFill/>
        </p:spPr>
        <p:txBody>
          <a:bodyPr wrap="square" lIns="36576" tIns="36576" rIns="36576" bIns="36576" anchor="t">
            <a:spAutoFit/>
          </a:bodyPr>
          <a:lstStyle/>
          <a:p>
            <a:pPr algn="l">
              <a:spcAft>
                <a:spcPts val="400"/>
              </a:spcAft>
            </a:pPr>
            <a:r>
              <a:rPr sz="1350" b="1">
                <a:solidFill>
                  <a:srgbClr val="1B7F3B"/>
                </a:solidFill>
                <a:latin typeface="Open Sans"/>
                <a:ea typeface="Open Sans"/>
                <a:cs typeface="Open Sans"/>
              </a:rPr>
              <a:t>Máy 2 tiếp quản: 2/2 email</a:t>
            </a:r>
            <a:endParaRPr sz="1350" b="1">
              <a:solidFill>
                <a:srgbClr val="1B7F3B"/>
              </a:solidFill>
              <a:latin typeface="Open Sans"/>
              <a:ea typeface="Open Sans"/>
              <a:cs typeface="Open Sans"/>
            </a:endParaRPr>
          </a:p>
        </p:txBody>
      </p:sp>
      <p:cxnSp>
        <p:nvCxnSpPr>
          <p:cNvPr id="12" name="Connector 11"/>
          <p:cNvCxnSpPr/>
          <p:nvPr/>
        </p:nvCxnSpPr>
        <p:spPr>
          <a:xfrm>
            <a:off x="3090672" y="292608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10128" y="1828800"/>
            <a:ext cx="2606040" cy="21945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4" name="Oval 13"/>
          <p:cNvSpPr/>
          <p:nvPr/>
        </p:nvSpPr>
        <p:spPr>
          <a:xfrm>
            <a:off x="3493008" y="1993392"/>
            <a:ext cx="457200" cy="45720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700" b="1">
                <a:solidFill>
                  <a:srgbClr val="FFFFFF"/>
                </a:solidFill>
                <a:latin typeface="Open Sans"/>
                <a:ea typeface="Open Sans"/>
                <a:cs typeface="Open Sans"/>
              </a:rPr>
              <a:t>2</a:t>
            </a:r>
            <a:endParaRPr sz="1700" b="1">
              <a:solidFill>
                <a:srgbClr val="FFFFFF"/>
              </a:solidFill>
              <a:latin typeface="Open Sans"/>
              <a:ea typeface="Open Sans"/>
              <a:cs typeface="Open Sans"/>
            </a:endParaRPr>
          </a:p>
        </p:txBody>
      </p:sp>
      <p:sp>
        <p:nvSpPr>
          <p:cNvPr id="15" name="TextBox 14"/>
          <p:cNvSpPr txBox="1"/>
          <p:nvPr/>
        </p:nvSpPr>
        <p:spPr>
          <a:xfrm>
            <a:off x="3493008" y="2560320"/>
            <a:ext cx="2286000" cy="685800"/>
          </a:xfrm>
          <a:prstGeom prst="rect">
            <a:avLst/>
          </a:prstGeom>
          <a:noFill/>
        </p:spPr>
        <p:txBody>
          <a:bodyPr wrap="square" lIns="36576" tIns="36576" rIns="36576" bIns="36576" anchor="t">
            <a:spAutoFit/>
          </a:bodyPr>
          <a:lstStyle/>
          <a:p>
            <a:pPr algn="l">
              <a:spcAft>
                <a:spcPts val="400"/>
              </a:spcAft>
            </a:pPr>
            <a:r>
              <a:rPr sz="1400" b="1">
                <a:solidFill>
                  <a:srgbClr val="262626"/>
                </a:solidFill>
                <a:latin typeface="Open Sans"/>
                <a:ea typeface="Open Sans"/>
                <a:cs typeface="Open Sans"/>
              </a:rPr>
              <a:t>Tắt email máy 2</a:t>
            </a:r>
            <a:endParaRPr sz="1400" b="1">
              <a:solidFill>
                <a:srgbClr val="262626"/>
              </a:solidFill>
              <a:latin typeface="Open Sans"/>
              <a:ea typeface="Open Sans"/>
              <a:cs typeface="Open Sans"/>
            </a:endParaRPr>
          </a:p>
        </p:txBody>
      </p:sp>
      <p:sp>
        <p:nvSpPr>
          <p:cNvPr id="16" name="TextBox 15"/>
          <p:cNvSpPr txBox="1"/>
          <p:nvPr/>
        </p:nvSpPr>
        <p:spPr>
          <a:xfrm>
            <a:off x="3493008" y="3200400"/>
            <a:ext cx="2286000" cy="777240"/>
          </a:xfrm>
          <a:prstGeom prst="rect">
            <a:avLst/>
          </a:prstGeom>
          <a:noFill/>
        </p:spPr>
        <p:txBody>
          <a:bodyPr wrap="square" lIns="36576" tIns="36576" rIns="36576" bIns="36576" anchor="t">
            <a:spAutoFit/>
          </a:bodyPr>
          <a:lstStyle/>
          <a:p>
            <a:pPr algn="l">
              <a:spcAft>
                <a:spcPts val="400"/>
              </a:spcAft>
            </a:pPr>
            <a:r>
              <a:rPr sz="1350" b="1">
                <a:solidFill>
                  <a:srgbClr val="BB2019"/>
                </a:solidFill>
                <a:latin typeface="Open Sans"/>
                <a:ea typeface="Open Sans"/>
                <a:cs typeface="Open Sans"/>
              </a:rPr>
              <a:t>3 vé vẫn bán · 3 thông điệp chờ</a:t>
            </a:r>
            <a:endParaRPr sz="1350" b="1">
              <a:solidFill>
                <a:srgbClr val="BB2019"/>
              </a:solidFill>
              <a:latin typeface="Open Sans"/>
              <a:ea typeface="Open Sans"/>
              <a:cs typeface="Open Sans"/>
            </a:endParaRPr>
          </a:p>
        </p:txBody>
      </p:sp>
      <p:cxnSp>
        <p:nvCxnSpPr>
          <p:cNvPr id="17" name="Connector 16"/>
          <p:cNvCxnSpPr/>
          <p:nvPr/>
        </p:nvCxnSpPr>
        <p:spPr>
          <a:xfrm>
            <a:off x="5943600" y="292608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63056" y="1828800"/>
            <a:ext cx="2606040" cy="21945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9" name="Oval 18"/>
          <p:cNvSpPr/>
          <p:nvPr/>
        </p:nvSpPr>
        <p:spPr>
          <a:xfrm>
            <a:off x="6345936" y="1993392"/>
            <a:ext cx="457200" cy="45720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700" b="1">
                <a:solidFill>
                  <a:srgbClr val="FFFFFF"/>
                </a:solidFill>
                <a:latin typeface="Open Sans"/>
                <a:ea typeface="Open Sans"/>
                <a:cs typeface="Open Sans"/>
              </a:rPr>
              <a:t>3</a:t>
            </a:r>
            <a:endParaRPr sz="1700" b="1">
              <a:solidFill>
                <a:srgbClr val="FFFFFF"/>
              </a:solidFill>
              <a:latin typeface="Open Sans"/>
              <a:ea typeface="Open Sans"/>
              <a:cs typeface="Open Sans"/>
            </a:endParaRPr>
          </a:p>
        </p:txBody>
      </p:sp>
      <p:sp>
        <p:nvSpPr>
          <p:cNvPr id="20" name="TextBox 19"/>
          <p:cNvSpPr txBox="1"/>
          <p:nvPr/>
        </p:nvSpPr>
        <p:spPr>
          <a:xfrm>
            <a:off x="6345936" y="2560320"/>
            <a:ext cx="2286000" cy="685800"/>
          </a:xfrm>
          <a:prstGeom prst="rect">
            <a:avLst/>
          </a:prstGeom>
          <a:noFill/>
        </p:spPr>
        <p:txBody>
          <a:bodyPr wrap="square" lIns="36576" tIns="36576" rIns="36576" bIns="36576" anchor="t">
            <a:spAutoFit/>
          </a:bodyPr>
          <a:lstStyle/>
          <a:p>
            <a:pPr algn="l">
              <a:spcAft>
                <a:spcPts val="400"/>
              </a:spcAft>
            </a:pPr>
            <a:r>
              <a:rPr sz="1400" b="1">
                <a:solidFill>
                  <a:srgbClr val="262626"/>
                </a:solidFill>
                <a:latin typeface="Open Sans"/>
                <a:ea typeface="Open Sans"/>
                <a:cs typeface="Open Sans"/>
              </a:rPr>
              <a:t>Tắt RabbitMQ leader</a:t>
            </a:r>
            <a:endParaRPr sz="1400" b="1">
              <a:solidFill>
                <a:srgbClr val="262626"/>
              </a:solidFill>
              <a:latin typeface="Open Sans"/>
              <a:ea typeface="Open Sans"/>
              <a:cs typeface="Open Sans"/>
            </a:endParaRPr>
          </a:p>
        </p:txBody>
      </p:sp>
      <p:sp>
        <p:nvSpPr>
          <p:cNvPr id="21" name="TextBox 20"/>
          <p:cNvSpPr txBox="1"/>
          <p:nvPr/>
        </p:nvSpPr>
        <p:spPr>
          <a:xfrm>
            <a:off x="6345936" y="3200400"/>
            <a:ext cx="2286000" cy="777240"/>
          </a:xfrm>
          <a:prstGeom prst="rect">
            <a:avLst/>
          </a:prstGeom>
          <a:noFill/>
        </p:spPr>
        <p:txBody>
          <a:bodyPr wrap="square" lIns="36576" tIns="36576" rIns="36576" bIns="36576" anchor="t">
            <a:spAutoFit/>
          </a:bodyPr>
          <a:lstStyle/>
          <a:p>
            <a:pPr algn="l">
              <a:spcAft>
                <a:spcPts val="400"/>
              </a:spcAft>
            </a:pPr>
            <a:r>
              <a:rPr sz="1350" b="1">
                <a:solidFill>
                  <a:srgbClr val="BB2019"/>
                </a:solidFill>
                <a:latin typeface="Open Sans"/>
                <a:ea typeface="Open Sans"/>
                <a:cs typeface="Open Sans"/>
              </a:rPr>
              <a:t>Leader mới được bầu · vẫn đủ 3 thông điệp</a:t>
            </a:r>
            <a:endParaRPr sz="1350" b="1">
              <a:solidFill>
                <a:srgbClr val="BB2019"/>
              </a:solidFill>
              <a:latin typeface="Open Sans"/>
              <a:ea typeface="Open Sans"/>
              <a:cs typeface="Open Sans"/>
            </a:endParaRPr>
          </a:p>
        </p:txBody>
      </p:sp>
      <p:cxnSp>
        <p:nvCxnSpPr>
          <p:cNvPr id="22" name="Connector 21"/>
          <p:cNvCxnSpPr/>
          <p:nvPr/>
        </p:nvCxnSpPr>
        <p:spPr>
          <a:xfrm>
            <a:off x="8796528" y="292608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015984" y="1828800"/>
            <a:ext cx="2606040" cy="2194560"/>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4" name="Oval 23"/>
          <p:cNvSpPr/>
          <p:nvPr/>
        </p:nvSpPr>
        <p:spPr>
          <a:xfrm>
            <a:off x="9198863" y="1993392"/>
            <a:ext cx="457200" cy="457200"/>
          </a:xfrm>
          <a:prstGeom prst="ellipse">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700" b="1">
                <a:solidFill>
                  <a:srgbClr val="FFFFFF"/>
                </a:solidFill>
                <a:latin typeface="Open Sans"/>
                <a:ea typeface="Open Sans"/>
                <a:cs typeface="Open Sans"/>
              </a:rPr>
              <a:t>4</a:t>
            </a:r>
            <a:endParaRPr sz="1700" b="1">
              <a:solidFill>
                <a:srgbClr val="FFFFFF"/>
              </a:solidFill>
              <a:latin typeface="Open Sans"/>
              <a:ea typeface="Open Sans"/>
              <a:cs typeface="Open Sans"/>
            </a:endParaRPr>
          </a:p>
        </p:txBody>
      </p:sp>
      <p:sp>
        <p:nvSpPr>
          <p:cNvPr id="25" name="TextBox 24"/>
          <p:cNvSpPr txBox="1"/>
          <p:nvPr/>
        </p:nvSpPr>
        <p:spPr>
          <a:xfrm>
            <a:off x="9198863" y="2560320"/>
            <a:ext cx="2286000" cy="685800"/>
          </a:xfrm>
          <a:prstGeom prst="rect">
            <a:avLst/>
          </a:prstGeom>
          <a:noFill/>
        </p:spPr>
        <p:txBody>
          <a:bodyPr wrap="square" lIns="36576" tIns="36576" rIns="36576" bIns="36576" anchor="t">
            <a:spAutoFit/>
          </a:bodyPr>
          <a:lstStyle/>
          <a:p>
            <a:pPr algn="l">
              <a:spcAft>
                <a:spcPts val="400"/>
              </a:spcAft>
            </a:pPr>
            <a:r>
              <a:rPr sz="1400" b="1">
                <a:solidFill>
                  <a:srgbClr val="262626"/>
                </a:solidFill>
                <a:latin typeface="Open Sans"/>
                <a:ea typeface="Open Sans"/>
                <a:cs typeface="Open Sans"/>
              </a:rPr>
              <a:t>Bật lại tất cả</a:t>
            </a:r>
            <a:endParaRPr sz="1400" b="1">
              <a:solidFill>
                <a:srgbClr val="262626"/>
              </a:solidFill>
              <a:latin typeface="Open Sans"/>
              <a:ea typeface="Open Sans"/>
              <a:cs typeface="Open Sans"/>
            </a:endParaRPr>
          </a:p>
        </p:txBody>
      </p:sp>
      <p:sp>
        <p:nvSpPr>
          <p:cNvPr id="26" name="TextBox 25"/>
          <p:cNvSpPr txBox="1"/>
          <p:nvPr/>
        </p:nvSpPr>
        <p:spPr>
          <a:xfrm>
            <a:off x="9198863" y="3200400"/>
            <a:ext cx="2286000" cy="777240"/>
          </a:xfrm>
          <a:prstGeom prst="rect">
            <a:avLst/>
          </a:prstGeom>
          <a:noFill/>
        </p:spPr>
        <p:txBody>
          <a:bodyPr wrap="square" lIns="36576" tIns="36576" rIns="36576" bIns="36576" anchor="t">
            <a:spAutoFit/>
          </a:bodyPr>
          <a:lstStyle/>
          <a:p>
            <a:pPr algn="l">
              <a:spcAft>
                <a:spcPts val="400"/>
              </a:spcAft>
            </a:pPr>
            <a:r>
              <a:rPr sz="1350" b="1">
                <a:solidFill>
                  <a:srgbClr val="1B7F3B"/>
                </a:solidFill>
                <a:latin typeface="Open Sans"/>
                <a:ea typeface="Open Sans"/>
                <a:cs typeface="Open Sans"/>
              </a:rPr>
              <a:t>Hàng đợi 3 → 0 · 3/3 email gửi bù</a:t>
            </a:r>
            <a:endParaRPr sz="1350" b="1">
              <a:solidFill>
                <a:srgbClr val="1B7F3B"/>
              </a:solidFill>
              <a:latin typeface="Open Sans"/>
              <a:ea typeface="Open Sans"/>
              <a:cs typeface="Open Sans"/>
            </a:endParaRPr>
          </a:p>
        </p:txBody>
      </p:sp>
      <p:sp>
        <p:nvSpPr>
          <p:cNvPr id="27" name="Rectangle 26"/>
          <p:cNvSpPr/>
          <p:nvPr/>
        </p:nvSpPr>
        <p:spPr>
          <a:xfrm>
            <a:off x="457200" y="4343400"/>
            <a:ext cx="5486400" cy="1874519"/>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8" name="TextBox 27"/>
          <p:cNvSpPr txBox="1"/>
          <p:nvPr/>
        </p:nvSpPr>
        <p:spPr>
          <a:xfrm>
            <a:off x="640080" y="4434840"/>
            <a:ext cx="5120640" cy="4572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Lỗi từng phần + tách rời bất đồng bộ</a:t>
            </a:r>
            <a:endParaRPr sz="1600" b="1">
              <a:solidFill>
                <a:srgbClr val="BB2019"/>
              </a:solidFill>
              <a:latin typeface="Open Sans"/>
              <a:ea typeface="Open Sans"/>
              <a:cs typeface="Open Sans"/>
            </a:endParaRPr>
          </a:p>
        </p:txBody>
      </p:sp>
      <p:sp>
        <p:nvSpPr>
          <p:cNvPr id="29" name="TextBox 28"/>
          <p:cNvSpPr txBox="1"/>
          <p:nvPr/>
        </p:nvSpPr>
        <p:spPr>
          <a:xfrm>
            <a:off x="640080" y="4937760"/>
            <a:ext cx="5120640" cy="118872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Booking chỉ phát sự kiện; email chết hay chậm cũng không chặn việc bán vé. Hai máy cùng nghe một hàng đợi nên tự tiếp quản.</a:t>
            </a:r>
            <a:endParaRPr sz="1400">
              <a:solidFill>
                <a:srgbClr val="262626"/>
              </a:solidFill>
              <a:latin typeface="Open Sans"/>
              <a:ea typeface="Open Sans"/>
              <a:cs typeface="Open Sans"/>
            </a:endParaRPr>
          </a:p>
        </p:txBody>
      </p:sp>
      <p:sp>
        <p:nvSpPr>
          <p:cNvPr id="30" name="Rectangle 29"/>
          <p:cNvSpPr/>
          <p:nvPr/>
        </p:nvSpPr>
        <p:spPr>
          <a:xfrm>
            <a:off x="6172200" y="4343400"/>
            <a:ext cx="5486400" cy="1874519"/>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1" name="TextBox 30"/>
          <p:cNvSpPr txBox="1"/>
          <p:nvPr/>
        </p:nvSpPr>
        <p:spPr>
          <a:xfrm>
            <a:off x="6355080" y="4434840"/>
            <a:ext cx="5120640" cy="4572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Raft 3 nút thay cho 2 nút</a:t>
            </a:r>
            <a:endParaRPr sz="1600" b="1">
              <a:solidFill>
                <a:srgbClr val="BB2019"/>
              </a:solidFill>
              <a:latin typeface="Open Sans"/>
              <a:ea typeface="Open Sans"/>
              <a:cs typeface="Open Sans"/>
            </a:endParaRPr>
          </a:p>
        </p:txBody>
      </p:sp>
      <p:sp>
        <p:nvSpPr>
          <p:cNvPr id="32" name="TextBox 31"/>
          <p:cNvSpPr txBox="1"/>
          <p:nvPr/>
        </p:nvSpPr>
        <p:spPr>
          <a:xfrm>
            <a:off x="6355080" y="4937760"/>
            <a:ext cx="5120640" cy="118872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Hai nút thì chết một là mất đa số (1/2) → hàng đợi ngừng. Thêm RabbitMQ #3 trên Node 3: còn 2/3, leader bầu lại trong vài giây.</a:t>
            </a:r>
            <a:endParaRPr sz="1400">
              <a:solidFill>
                <a:srgbClr val="262626"/>
              </a:solidFill>
              <a:latin typeface="Open Sans"/>
              <a:ea typeface="Open Sans"/>
              <a:cs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04 · Đứt mạng máy 1 ↔ máy 2 — Node 3 phủ quyết</a:t>
            </a:r>
          </a:p>
        </p:txBody>
      </p:sp>
      <p:sp>
        <p:nvSpPr>
          <p:cNvPr id="3" name="Text Placeholder 2"/>
          <p:cNvSpPr>
            <a:spLocks noGrp="1"/>
          </p:cNvSpPr>
          <p:nvPr>
            <p:ph type="body" sz="quarter" idx="13"/>
          </p:nvPr>
        </p:nvSpPr>
        <p:spPr/>
        <p:txBody>
          <a:bodyPr/>
          <a:lstStyle/>
          <a:p>
            <a:r>
              <a:t>Máy 2 mất Primary nhưng Node 3 vẫn thấy Primary → huỷ thăng cấp, không sinh 2 Primary</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4</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83080"/>
            <a:ext cx="2103120" cy="105156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MÁY 1</a:t>
            </a:r>
            <a:endParaRPr sz="1300" b="1">
              <a:solidFill>
                <a:srgbClr val="FFFFFF"/>
              </a:solidFill>
              <a:latin typeface="Open Sans"/>
              <a:ea typeface="Open Sans"/>
              <a:cs typeface="Open Sans"/>
            </a:endParaRPr>
          </a:p>
          <a:p>
            <a:pPr algn="ctr">
              <a:spcAft>
                <a:spcPts val="200"/>
              </a:spcAft>
            </a:pPr>
            <a:r>
              <a:rPr sz="1300" b="1">
                <a:solidFill>
                  <a:srgbClr val="FFFFFF"/>
                </a:solidFill>
                <a:latin typeface="Open Sans"/>
                <a:ea typeface="Open Sans"/>
                <a:cs typeface="Open Sans"/>
              </a:rPr>
              <a:t>Primary</a:t>
            </a:r>
            <a:endParaRPr sz="1300" b="1">
              <a:solidFill>
                <a:srgbClr val="FFFFFF"/>
              </a:solidFill>
              <a:latin typeface="Open Sans"/>
              <a:ea typeface="Open Sans"/>
              <a:cs typeface="Open Sans"/>
            </a:endParaRPr>
          </a:p>
        </p:txBody>
      </p:sp>
      <p:sp>
        <p:nvSpPr>
          <p:cNvPr id="9" name="Rectangle 8"/>
          <p:cNvSpPr/>
          <p:nvPr/>
        </p:nvSpPr>
        <p:spPr>
          <a:xfrm>
            <a:off x="4206240" y="1783080"/>
            <a:ext cx="2103120" cy="1051560"/>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MÁY 2</a:t>
            </a:r>
            <a:endParaRPr sz="1300" b="1">
              <a:solidFill>
                <a:srgbClr val="BB2019"/>
              </a:solidFill>
              <a:latin typeface="Open Sans"/>
              <a:ea typeface="Open Sans"/>
              <a:cs typeface="Open Sans"/>
            </a:endParaRPr>
          </a:p>
          <a:p>
            <a:pPr algn="ctr">
              <a:spcAft>
                <a:spcPts val="200"/>
              </a:spcAft>
            </a:pPr>
            <a:r>
              <a:rPr sz="1300" b="1">
                <a:solidFill>
                  <a:srgbClr val="BB2019"/>
                </a:solidFill>
                <a:latin typeface="Open Sans"/>
                <a:ea typeface="Open Sans"/>
                <a:cs typeface="Open Sans"/>
              </a:rPr>
              <a:t>Standby</a:t>
            </a:r>
            <a:endParaRPr sz="1300" b="1">
              <a:solidFill>
                <a:srgbClr val="BB2019"/>
              </a:solidFill>
              <a:latin typeface="Open Sans"/>
              <a:ea typeface="Open Sans"/>
              <a:cs typeface="Open Sans"/>
            </a:endParaRPr>
          </a:p>
        </p:txBody>
      </p:sp>
      <p:sp>
        <p:nvSpPr>
          <p:cNvPr id="10" name="Rectangle 9"/>
          <p:cNvSpPr/>
          <p:nvPr/>
        </p:nvSpPr>
        <p:spPr>
          <a:xfrm>
            <a:off x="2331720" y="3246120"/>
            <a:ext cx="2103120" cy="86868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NODE 3</a:t>
            </a:r>
            <a:endParaRPr sz="1300" b="1">
              <a:solidFill>
                <a:srgbClr val="FFFFFF"/>
              </a:solidFill>
              <a:latin typeface="Open Sans"/>
              <a:ea typeface="Open Sans"/>
              <a:cs typeface="Open Sans"/>
            </a:endParaRPr>
          </a:p>
          <a:p>
            <a:pPr algn="ctr">
              <a:spcAft>
                <a:spcPts val="200"/>
              </a:spcAft>
            </a:pPr>
            <a:r>
              <a:rPr sz="1300" b="1">
                <a:solidFill>
                  <a:srgbClr val="FFFFFF"/>
                </a:solidFill>
                <a:latin typeface="Open Sans"/>
                <a:ea typeface="Open Sans"/>
                <a:cs typeface="Open Sans"/>
              </a:rPr>
              <a:t>Witness</a:t>
            </a:r>
            <a:endParaRPr sz="1300" b="1">
              <a:solidFill>
                <a:srgbClr val="FFFFFF"/>
              </a:solidFill>
              <a:latin typeface="Open Sans"/>
              <a:ea typeface="Open Sans"/>
              <a:cs typeface="Open Sans"/>
            </a:endParaRPr>
          </a:p>
        </p:txBody>
      </p:sp>
      <p:cxnSp>
        <p:nvCxnSpPr>
          <p:cNvPr id="11" name="Connector 10"/>
          <p:cNvCxnSpPr/>
          <p:nvPr/>
        </p:nvCxnSpPr>
        <p:spPr>
          <a:xfrm>
            <a:off x="2606040" y="2304288"/>
            <a:ext cx="1554480" cy="0"/>
          </a:xfrm>
          <a:prstGeom prst="line">
            <a:avLst/>
          </a:prstGeom>
          <a:ln w="31750">
            <a:solidFill>
              <a:srgbClr val="BFB3B1"/>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108960" y="2048256"/>
            <a:ext cx="548640" cy="512064"/>
          </a:xfrm>
          <a:prstGeom prst="ellipse">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800" b="1">
                <a:solidFill>
                  <a:srgbClr val="BB2019"/>
                </a:solidFill>
                <a:latin typeface="Open Sans"/>
                <a:ea typeface="Open Sans"/>
                <a:cs typeface="Open Sans"/>
              </a:rPr>
              <a:t>✕</a:t>
            </a:r>
            <a:endParaRPr sz="1800" b="1">
              <a:solidFill>
                <a:srgbClr val="BB2019"/>
              </a:solidFill>
              <a:latin typeface="Open Sans"/>
              <a:ea typeface="Open Sans"/>
              <a:cs typeface="Open Sans"/>
            </a:endParaRPr>
          </a:p>
        </p:txBody>
      </p:sp>
      <p:cxnSp>
        <p:nvCxnSpPr>
          <p:cNvPr id="13" name="Connector 12"/>
          <p:cNvCxnSpPr/>
          <p:nvPr/>
        </p:nvCxnSpPr>
        <p:spPr>
          <a:xfrm>
            <a:off x="1508760" y="2852928"/>
            <a:ext cx="960120" cy="374904"/>
          </a:xfrm>
          <a:prstGeom prst="line">
            <a:avLst/>
          </a:prstGeom>
          <a:ln w="25400">
            <a:solidFill>
              <a:srgbClr val="1B7F3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4297680" y="2852928"/>
            <a:ext cx="960120" cy="374904"/>
          </a:xfrm>
          <a:prstGeom prst="line">
            <a:avLst/>
          </a:prstGeom>
          <a:ln w="25400">
            <a:solidFill>
              <a:srgbClr val="1B7F3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4206240"/>
            <a:ext cx="5852160" cy="457200"/>
          </a:xfrm>
          <a:prstGeom prst="rect">
            <a:avLst/>
          </a:prstGeom>
          <a:noFill/>
        </p:spPr>
        <p:txBody>
          <a:bodyPr wrap="square" lIns="36576" tIns="36576" rIns="36576" bIns="36576" anchor="t">
            <a:spAutoFit/>
          </a:bodyPr>
          <a:lstStyle/>
          <a:p>
            <a:pPr algn="l">
              <a:spcAft>
                <a:spcPts val="400"/>
              </a:spcAft>
            </a:pPr>
            <a:r>
              <a:rPr sz="1200">
                <a:solidFill>
                  <a:srgbClr val="6B5F5D"/>
                </a:solidFill>
                <a:latin typeface="Open Sans"/>
                <a:ea typeface="Open Sans"/>
                <a:cs typeface="Open Sans"/>
              </a:rPr>
              <a:t>Đường xanh: Node 3 vẫn thấy cả 2 máy.</a:t>
            </a:r>
            <a:endParaRPr sz="1200">
              <a:solidFill>
                <a:srgbClr val="6B5F5D"/>
              </a:solidFill>
              <a:latin typeface="Open Sans"/>
              <a:ea typeface="Open Sans"/>
              <a:cs typeface="Open Sans"/>
            </a:endParaRPr>
          </a:p>
        </p:txBody>
      </p:sp>
      <p:sp>
        <p:nvSpPr>
          <p:cNvPr id="16" name="Rectangle 15"/>
          <p:cNvSpPr/>
          <p:nvPr/>
        </p:nvSpPr>
        <p:spPr>
          <a:xfrm>
            <a:off x="457200" y="4617720"/>
            <a:ext cx="5852160" cy="1600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050">
                <a:solidFill>
                  <a:srgbClr val="BB2019"/>
                </a:solidFill>
                <a:latin typeface="Consolas" panose="020B0609020204030204"/>
                <a:ea typeface="Consolas" panose="020B0609020204030204"/>
                <a:cs typeface="Consolas" panose="020B0609020204030204"/>
              </a:rPr>
              <a:t>repmgrd · pg-inv-node2</a:t>
            </a:r>
            <a:endParaRPr sz="1050">
              <a:solidFill>
                <a:srgbClr val="BB2019"/>
              </a:solidFill>
              <a:latin typeface="Consolas" panose="020B0609020204030204"/>
              <a:ea typeface="Consolas" panose="020B0609020204030204"/>
              <a:cs typeface="Consolas" panose="020B0609020204030204"/>
            </a:endParaRPr>
          </a:p>
          <a:p>
            <a:pPr algn="l">
              <a:spcAft>
                <a:spcPts val="0"/>
              </a:spcAft>
            </a:pPr>
            <a:r>
              <a:rPr sz="1050">
                <a:solidFill>
                  <a:srgbClr val="262626"/>
                </a:solidFill>
                <a:latin typeface="Consolas" panose="020B0609020204030204"/>
                <a:ea typeface="Consolas" panose="020B0609020204030204"/>
                <a:cs typeface="Consolas" panose="020B0609020204030204"/>
              </a:rPr>
              <a:t>[WARNING] unable to reconnect to node "inv-node1"</a:t>
            </a:r>
            <a:endParaRPr sz="1050">
              <a:solidFill>
                <a:srgbClr val="262626"/>
              </a:solidFill>
              <a:latin typeface="Consolas" panose="020B0609020204030204"/>
              <a:ea typeface="Consolas" panose="020B0609020204030204"/>
              <a:cs typeface="Consolas" panose="020B0609020204030204"/>
            </a:endParaRPr>
          </a:p>
          <a:p>
            <a:pPr algn="l">
              <a:spcAft>
                <a:spcPts val="0"/>
              </a:spcAft>
            </a:pPr>
            <a:r>
              <a:rPr sz="1050">
                <a:solidFill>
                  <a:srgbClr val="262626"/>
                </a:solidFill>
                <a:latin typeface="Consolas" panose="020B0609020204030204"/>
                <a:ea typeface="Consolas" panose="020B0609020204030204"/>
                <a:cs typeface="Consolas" panose="020B0609020204030204"/>
              </a:rPr>
              <a:t>[NOTICE] witness node "inv-witness" last saw primary</a:t>
            </a:r>
            <a:endParaRPr sz="1050">
              <a:solidFill>
                <a:srgbClr val="262626"/>
              </a:solidFill>
              <a:latin typeface="Consolas" panose="020B0609020204030204"/>
              <a:ea typeface="Consolas" panose="020B0609020204030204"/>
              <a:cs typeface="Consolas" panose="020B0609020204030204"/>
            </a:endParaRPr>
          </a:p>
          <a:p>
            <a:pPr algn="l">
              <a:spcAft>
                <a:spcPts val="0"/>
              </a:spcAft>
            </a:pPr>
            <a:r>
              <a:rPr sz="1050">
                <a:solidFill>
                  <a:srgbClr val="262626"/>
                </a:solidFill>
                <a:latin typeface="Consolas" panose="020B0609020204030204"/>
                <a:ea typeface="Consolas" panose="020B0609020204030204"/>
                <a:cs typeface="Consolas" panose="020B0609020204030204"/>
              </a:rPr>
              <a:t>         node 0 second(s) ago, considering primary still visible</a:t>
            </a:r>
            <a:endParaRPr sz="1050">
              <a:solidFill>
                <a:srgbClr val="262626"/>
              </a:solidFill>
              <a:latin typeface="Consolas" panose="020B0609020204030204"/>
              <a:ea typeface="Consolas" panose="020B0609020204030204"/>
              <a:cs typeface="Consolas" panose="020B0609020204030204"/>
            </a:endParaRPr>
          </a:p>
          <a:p>
            <a:pPr algn="l">
              <a:spcAft>
                <a:spcPts val="0"/>
              </a:spcAft>
            </a:pPr>
            <a:r>
              <a:rPr sz="1050">
                <a:solidFill>
                  <a:srgbClr val="BB2019"/>
                </a:solidFill>
                <a:latin typeface="Consolas" panose="020B0609020204030204"/>
                <a:ea typeface="Consolas" panose="020B0609020204030204"/>
                <a:cs typeface="Consolas" panose="020B0609020204030204"/>
              </a:rPr>
              <a:t>[NOTICE] cancelling failover as some nodes can still see the primary</a:t>
            </a:r>
            <a:endParaRPr sz="1050">
              <a:solidFill>
                <a:srgbClr val="BB2019"/>
              </a:solidFill>
              <a:latin typeface="Consolas" panose="020B0609020204030204"/>
              <a:ea typeface="Consolas" panose="020B0609020204030204"/>
              <a:cs typeface="Consolas" panose="020B0609020204030204"/>
            </a:endParaRPr>
          </a:p>
        </p:txBody>
      </p:sp>
      <p:graphicFrame>
        <p:nvGraphicFramePr>
          <p:cNvPr id="17" name="Table 16"/>
          <p:cNvGraphicFramePr>
            <a:graphicFrameLocks noGrp="1"/>
          </p:cNvGraphicFramePr>
          <p:nvPr/>
        </p:nvGraphicFramePr>
        <p:xfrm>
          <a:off x="6583680" y="1783080"/>
          <a:ext cx="5166360" cy="2103120"/>
        </p:xfrm>
        <a:graphic>
          <a:graphicData uri="http://schemas.openxmlformats.org/drawingml/2006/table">
            <a:tbl>
              <a:tblPr firstRow="1" bandRow="1">
                <a:tableStyleId>{C083E6E3-FA7D-4D7B-A595-EF9225AFEA82}</a:tableStyleId>
              </a:tblPr>
              <a:tblGrid>
                <a:gridCol w="1554480"/>
                <a:gridCol w="1828800"/>
                <a:gridCol w="1783080"/>
              </a:tblGrid>
              <a:tr h="420624">
                <a:tc>
                  <a:txBody>
                    <a:bodyPr wrap="square"/>
                    <a:lstStyle/>
                    <a:p>
                      <a:r>
                        <a:rPr sz="1250" b="1">
                          <a:solidFill>
                            <a:srgbClr val="BB2019"/>
                          </a:solidFill>
                          <a:latin typeface="Open Sans"/>
                          <a:ea typeface="Open Sans"/>
                          <a:cs typeface="Open Sans"/>
                        </a:rPr>
                        <a:t>Thời điểm</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inventory máy 2</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booking máy 2</a:t>
                      </a:r>
                      <a:endParaRPr sz="1250" b="1">
                        <a:solidFill>
                          <a:srgbClr val="BB2019"/>
                        </a:solidFill>
                        <a:latin typeface="Open Sans"/>
                        <a:ea typeface="Open Sans"/>
                        <a:cs typeface="Open Sans"/>
                      </a:endParaRPr>
                    </a:p>
                  </a:txBody>
                  <a:tcPr marL="73152" marR="73152" marT="27432" marB="27432" anchor="ctr"/>
                </a:tc>
              </a:tr>
              <a:tr h="420624">
                <a:tc>
                  <a:txBody>
                    <a:bodyPr wrap="square"/>
                    <a:lstStyle/>
                    <a:p>
                      <a:r>
                        <a:rPr sz="1250" b="0">
                          <a:solidFill>
                            <a:srgbClr val="262626"/>
                          </a:solidFill>
                          <a:latin typeface="Open Sans"/>
                          <a:ea typeface="Open Sans"/>
                          <a:cs typeface="Open Sans"/>
                        </a:rPr>
                        <a:t>t + 5 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r>
              <a:tr h="420624">
                <a:tc>
                  <a:txBody>
                    <a:bodyPr wrap="square"/>
                    <a:lstStyle/>
                    <a:p>
                      <a:r>
                        <a:rPr sz="1250" b="0">
                          <a:solidFill>
                            <a:srgbClr val="262626"/>
                          </a:solidFill>
                          <a:latin typeface="Open Sans"/>
                          <a:ea typeface="Open Sans"/>
                          <a:cs typeface="Open Sans"/>
                        </a:rPr>
                        <a:t>t + 15 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r>
              <a:tr h="420624">
                <a:tc>
                  <a:txBody>
                    <a:bodyPr wrap="square"/>
                    <a:lstStyle/>
                    <a:p>
                      <a:r>
                        <a:rPr sz="1250" b="0">
                          <a:solidFill>
                            <a:srgbClr val="262626"/>
                          </a:solidFill>
                          <a:latin typeface="Open Sans"/>
                          <a:ea typeface="Open Sans"/>
                          <a:cs typeface="Open Sans"/>
                        </a:rPr>
                        <a:t>t + 25 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a:t>
                      </a:r>
                      <a:endParaRPr sz="1250" b="0">
                        <a:solidFill>
                          <a:srgbClr val="262626"/>
                        </a:solidFill>
                        <a:latin typeface="Open Sans"/>
                        <a:ea typeface="Open Sans"/>
                        <a:cs typeface="Open Sans"/>
                      </a:endParaRPr>
                    </a:p>
                  </a:txBody>
                  <a:tcPr marL="73152" marR="73152" marT="27432" marB="27432" anchor="ctr"/>
                </a:tc>
              </a:tr>
              <a:tr h="420624">
                <a:tc>
                  <a:txBody>
                    <a:bodyPr wrap="square"/>
                    <a:lstStyle/>
                    <a:p>
                      <a:r>
                        <a:rPr sz="1250" b="0">
                          <a:solidFill>
                            <a:srgbClr val="262626"/>
                          </a:solidFill>
                          <a:latin typeface="Open Sans"/>
                          <a:ea typeface="Open Sans"/>
                          <a:cs typeface="Open Sans"/>
                        </a:rPr>
                        <a:t>Nối lại mạng</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 nhận WAL</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standby, nhận WAL</a:t>
                      </a:r>
                      <a:endParaRPr sz="1250" b="0">
                        <a:solidFill>
                          <a:srgbClr val="262626"/>
                        </a:solidFill>
                        <a:latin typeface="Open Sans"/>
                        <a:ea typeface="Open Sans"/>
                        <a:cs typeface="Open Sans"/>
                      </a:endParaRPr>
                    </a:p>
                  </a:txBody>
                  <a:tcPr marL="73152" marR="73152" marT="27432" marB="27432" anchor="ctr"/>
                </a:tc>
              </a:tr>
            </a:tbl>
          </a:graphicData>
        </a:graphic>
      </p:graphicFrame>
      <p:sp>
        <p:nvSpPr>
          <p:cNvPr id="18" name="Rectangle 17"/>
          <p:cNvSpPr/>
          <p:nvPr/>
        </p:nvSpPr>
        <p:spPr>
          <a:xfrm>
            <a:off x="6583680" y="4023360"/>
            <a:ext cx="516636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Quy tắc thăng cấp</a:t>
            </a:r>
            <a:endParaRPr sz="1400" b="1">
              <a:solidFill>
                <a:srgbClr val="FFFFFF"/>
              </a:solidFill>
              <a:latin typeface="Open Sans"/>
              <a:ea typeface="Open Sans"/>
              <a:cs typeface="Open Sans"/>
            </a:endParaRPr>
          </a:p>
        </p:txBody>
      </p:sp>
      <p:sp>
        <p:nvSpPr>
          <p:cNvPr id="19" name="Rectangle 18"/>
          <p:cNvSpPr/>
          <p:nvPr/>
        </p:nvSpPr>
        <p:spPr>
          <a:xfrm>
            <a:off x="6583680" y="4407408"/>
            <a:ext cx="5166360" cy="181051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Thấy đa số nút (≥ 2/3)</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VÀ không nút nào còn thấy Primary cũ</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CAP: khi phân vùng, chọn nhất quán thay vì bán trùng vé</a:t>
            </a:r>
            <a:endParaRPr sz="1300">
              <a:solidFill>
                <a:srgbClr val="262626"/>
              </a:solidFill>
              <a:latin typeface="Open Sans"/>
              <a:ea typeface="Open Sans"/>
              <a:cs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05 · Auto-failover — Primary sập, máy 2 tự lên thay</a:t>
            </a:r>
          </a:p>
        </p:txBody>
      </p:sp>
      <p:sp>
        <p:nvSpPr>
          <p:cNvPr id="3" name="Text Placeholder 2"/>
          <p:cNvSpPr>
            <a:spLocks noGrp="1"/>
          </p:cNvSpPr>
          <p:nvPr>
            <p:ph type="body" sz="quarter" idx="13"/>
          </p:nvPr>
        </p:nvSpPr>
        <p:spPr/>
        <p:txBody>
          <a:bodyPr/>
          <a:lstStyle/>
          <a:p>
            <a:r>
              <a:t>Khách đặt vé liên tục qua Frontend LB (Node 3) trong lúc docker kill 2 Primary trên máy 1</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5</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9" name="Rectangle 8"/>
          <p:cNvSpPr/>
          <p:nvPr/>
        </p:nvSpPr>
        <p:spPr>
          <a:xfrm>
            <a:off x="739521"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Rectangle 9"/>
          <p:cNvSpPr/>
          <p:nvPr/>
        </p:nvSpPr>
        <p:spPr>
          <a:xfrm>
            <a:off x="1021842"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1" name="Rectangle 10"/>
          <p:cNvSpPr/>
          <p:nvPr/>
        </p:nvSpPr>
        <p:spPr>
          <a:xfrm>
            <a:off x="1304163"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2" name="Rectangle 11"/>
          <p:cNvSpPr/>
          <p:nvPr/>
        </p:nvSpPr>
        <p:spPr>
          <a:xfrm>
            <a:off x="1586484"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Rectangle 12"/>
          <p:cNvSpPr/>
          <p:nvPr/>
        </p:nvSpPr>
        <p:spPr>
          <a:xfrm>
            <a:off x="1868804"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4" name="Rectangle 13"/>
          <p:cNvSpPr/>
          <p:nvPr/>
        </p:nvSpPr>
        <p:spPr>
          <a:xfrm>
            <a:off x="2151126"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5" name="Rectangle 14"/>
          <p:cNvSpPr/>
          <p:nvPr/>
        </p:nvSpPr>
        <p:spPr>
          <a:xfrm>
            <a:off x="2433447"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6" name="Rectangle 15"/>
          <p:cNvSpPr/>
          <p:nvPr/>
        </p:nvSpPr>
        <p:spPr>
          <a:xfrm>
            <a:off x="2715768"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7" name="Rectangle 16"/>
          <p:cNvSpPr/>
          <p:nvPr/>
        </p:nvSpPr>
        <p:spPr>
          <a:xfrm>
            <a:off x="2998088"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8" name="Rectangle 17"/>
          <p:cNvSpPr/>
          <p:nvPr/>
        </p:nvSpPr>
        <p:spPr>
          <a:xfrm>
            <a:off x="3280409"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9" name="Rectangle 18"/>
          <p:cNvSpPr/>
          <p:nvPr/>
        </p:nvSpPr>
        <p:spPr>
          <a:xfrm>
            <a:off x="3562731"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0" name="Rectangle 19"/>
          <p:cNvSpPr/>
          <p:nvPr/>
        </p:nvSpPr>
        <p:spPr>
          <a:xfrm>
            <a:off x="3845052"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1" name="Rectangle 20"/>
          <p:cNvSpPr/>
          <p:nvPr/>
        </p:nvSpPr>
        <p:spPr>
          <a:xfrm>
            <a:off x="4127373"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2" name="Rectangle 21"/>
          <p:cNvSpPr/>
          <p:nvPr/>
        </p:nvSpPr>
        <p:spPr>
          <a:xfrm>
            <a:off x="4409694"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3" name="Rectangle 22"/>
          <p:cNvSpPr/>
          <p:nvPr/>
        </p:nvSpPr>
        <p:spPr>
          <a:xfrm>
            <a:off x="4692015"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4" name="Rectangle 23"/>
          <p:cNvSpPr/>
          <p:nvPr/>
        </p:nvSpPr>
        <p:spPr>
          <a:xfrm>
            <a:off x="4974336"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5" name="Rectangle 24"/>
          <p:cNvSpPr/>
          <p:nvPr/>
        </p:nvSpPr>
        <p:spPr>
          <a:xfrm>
            <a:off x="5256656"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6" name="Rectangle 25"/>
          <p:cNvSpPr/>
          <p:nvPr/>
        </p:nvSpPr>
        <p:spPr>
          <a:xfrm>
            <a:off x="5538977"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7" name="Rectangle 26"/>
          <p:cNvSpPr/>
          <p:nvPr/>
        </p:nvSpPr>
        <p:spPr>
          <a:xfrm>
            <a:off x="5821298"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8" name="Rectangle 27"/>
          <p:cNvSpPr/>
          <p:nvPr/>
        </p:nvSpPr>
        <p:spPr>
          <a:xfrm>
            <a:off x="6103619"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9" name="Rectangle 28"/>
          <p:cNvSpPr/>
          <p:nvPr/>
        </p:nvSpPr>
        <p:spPr>
          <a:xfrm>
            <a:off x="6385941"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0" name="Rectangle 29"/>
          <p:cNvSpPr/>
          <p:nvPr/>
        </p:nvSpPr>
        <p:spPr>
          <a:xfrm>
            <a:off x="6668262"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1" name="Rectangle 30"/>
          <p:cNvSpPr/>
          <p:nvPr/>
        </p:nvSpPr>
        <p:spPr>
          <a:xfrm>
            <a:off x="6950582"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2" name="Rectangle 31"/>
          <p:cNvSpPr/>
          <p:nvPr/>
        </p:nvSpPr>
        <p:spPr>
          <a:xfrm>
            <a:off x="7232903"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3" name="Rectangle 32"/>
          <p:cNvSpPr/>
          <p:nvPr/>
        </p:nvSpPr>
        <p:spPr>
          <a:xfrm>
            <a:off x="7515225"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4" name="Rectangle 33"/>
          <p:cNvSpPr/>
          <p:nvPr/>
        </p:nvSpPr>
        <p:spPr>
          <a:xfrm>
            <a:off x="7797546"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5" name="Rectangle 34"/>
          <p:cNvSpPr/>
          <p:nvPr/>
        </p:nvSpPr>
        <p:spPr>
          <a:xfrm>
            <a:off x="8079867"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6" name="Rectangle 35"/>
          <p:cNvSpPr/>
          <p:nvPr/>
        </p:nvSpPr>
        <p:spPr>
          <a:xfrm>
            <a:off x="8362188"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7" name="Rectangle 36"/>
          <p:cNvSpPr/>
          <p:nvPr/>
        </p:nvSpPr>
        <p:spPr>
          <a:xfrm>
            <a:off x="8644509"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8" name="Rectangle 37"/>
          <p:cNvSpPr/>
          <p:nvPr/>
        </p:nvSpPr>
        <p:spPr>
          <a:xfrm>
            <a:off x="8926830"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39" name="Rectangle 38"/>
          <p:cNvSpPr/>
          <p:nvPr/>
        </p:nvSpPr>
        <p:spPr>
          <a:xfrm>
            <a:off x="9209151"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0" name="Rectangle 39"/>
          <p:cNvSpPr/>
          <p:nvPr/>
        </p:nvSpPr>
        <p:spPr>
          <a:xfrm>
            <a:off x="9491472"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1" name="Rectangle 40"/>
          <p:cNvSpPr/>
          <p:nvPr/>
        </p:nvSpPr>
        <p:spPr>
          <a:xfrm>
            <a:off x="9773792"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2" name="Rectangle 41"/>
          <p:cNvSpPr/>
          <p:nvPr/>
        </p:nvSpPr>
        <p:spPr>
          <a:xfrm>
            <a:off x="10056113"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3" name="Rectangle 42"/>
          <p:cNvSpPr/>
          <p:nvPr/>
        </p:nvSpPr>
        <p:spPr>
          <a:xfrm>
            <a:off x="10338434"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4" name="Rectangle 43"/>
          <p:cNvSpPr/>
          <p:nvPr/>
        </p:nvSpPr>
        <p:spPr>
          <a:xfrm>
            <a:off x="10620755" y="1783080"/>
            <a:ext cx="254888" cy="38404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5" name="Rectangle 44"/>
          <p:cNvSpPr/>
          <p:nvPr/>
        </p:nvSpPr>
        <p:spPr>
          <a:xfrm>
            <a:off x="10903076"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6" name="Rectangle 45"/>
          <p:cNvSpPr/>
          <p:nvPr/>
        </p:nvSpPr>
        <p:spPr>
          <a:xfrm>
            <a:off x="11185397"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7" name="Rectangle 46"/>
          <p:cNvSpPr/>
          <p:nvPr/>
        </p:nvSpPr>
        <p:spPr>
          <a:xfrm>
            <a:off x="11467718" y="1783080"/>
            <a:ext cx="254888" cy="384048"/>
          </a:xfrm>
          <a:prstGeom prst="rect">
            <a:avLst/>
          </a:prstGeom>
          <a:solidFill>
            <a:srgbClr val="1B7F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48" name="TextBox 47"/>
          <p:cNvSpPr txBox="1"/>
          <p:nvPr/>
        </p:nvSpPr>
        <p:spPr>
          <a:xfrm>
            <a:off x="457200" y="2212848"/>
            <a:ext cx="3657600" cy="320040"/>
          </a:xfrm>
          <a:prstGeom prst="rect">
            <a:avLst/>
          </a:prstGeom>
          <a:noFill/>
        </p:spPr>
        <p:txBody>
          <a:bodyPr wrap="square" lIns="36576" tIns="36576" rIns="36576" bIns="36576" anchor="t">
            <a:spAutoFit/>
          </a:bodyPr>
          <a:lstStyle/>
          <a:p>
            <a:pPr algn="l">
              <a:spcAft>
                <a:spcPts val="400"/>
              </a:spcAft>
            </a:pPr>
            <a:r>
              <a:rPr sz="1150" b="1">
                <a:solidFill>
                  <a:srgbClr val="1B7F3B"/>
                </a:solidFill>
                <a:latin typeface="Open Sans"/>
                <a:ea typeface="Open Sans"/>
                <a:cs typeface="Open Sans"/>
              </a:rPr>
              <a:t>◀ đặt vé thành công</a:t>
            </a:r>
            <a:endParaRPr sz="1150" b="1">
              <a:solidFill>
                <a:srgbClr val="1B7F3B"/>
              </a:solidFill>
              <a:latin typeface="Open Sans"/>
              <a:ea typeface="Open Sans"/>
              <a:cs typeface="Open Sans"/>
            </a:endParaRPr>
          </a:p>
        </p:txBody>
      </p:sp>
      <p:sp>
        <p:nvSpPr>
          <p:cNvPr id="49" name="TextBox 48"/>
          <p:cNvSpPr txBox="1"/>
          <p:nvPr/>
        </p:nvSpPr>
        <p:spPr>
          <a:xfrm>
            <a:off x="3840480" y="2212848"/>
            <a:ext cx="4572000" cy="320040"/>
          </a:xfrm>
          <a:prstGeom prst="rect">
            <a:avLst/>
          </a:prstGeom>
          <a:noFill/>
        </p:spPr>
        <p:txBody>
          <a:bodyPr wrap="square" lIns="36576" tIns="36576" rIns="36576" bIns="36576" anchor="t">
            <a:spAutoFit/>
          </a:bodyPr>
          <a:lstStyle/>
          <a:p>
            <a:pPr algn="ctr">
              <a:spcAft>
                <a:spcPts val="400"/>
              </a:spcAft>
            </a:pPr>
            <a:r>
              <a:rPr sz="1150" b="1">
                <a:solidFill>
                  <a:srgbClr val="BB2019"/>
                </a:solidFill>
                <a:latin typeface="Open Sans"/>
                <a:ea typeface="Open Sans"/>
                <a:cs typeface="Open Sans"/>
              </a:rPr>
              <a:t>docker kill 2 Primary → ~22 s gián đoạn</a:t>
            </a:r>
            <a:endParaRPr sz="1150" b="1">
              <a:solidFill>
                <a:srgbClr val="BB2019"/>
              </a:solidFill>
              <a:latin typeface="Open Sans"/>
              <a:ea typeface="Open Sans"/>
              <a:cs typeface="Open Sans"/>
            </a:endParaRPr>
          </a:p>
        </p:txBody>
      </p:sp>
      <p:sp>
        <p:nvSpPr>
          <p:cNvPr id="50" name="TextBox 49"/>
          <p:cNvSpPr txBox="1"/>
          <p:nvPr/>
        </p:nvSpPr>
        <p:spPr>
          <a:xfrm>
            <a:off x="8503920" y="2212848"/>
            <a:ext cx="3246120" cy="320040"/>
          </a:xfrm>
          <a:prstGeom prst="rect">
            <a:avLst/>
          </a:prstGeom>
          <a:noFill/>
        </p:spPr>
        <p:txBody>
          <a:bodyPr wrap="square" lIns="36576" tIns="36576" rIns="36576" bIns="36576" anchor="t">
            <a:spAutoFit/>
          </a:bodyPr>
          <a:lstStyle/>
          <a:p>
            <a:pPr algn="r">
              <a:spcAft>
                <a:spcPts val="400"/>
              </a:spcAft>
            </a:pPr>
            <a:r>
              <a:rPr sz="1150" b="1">
                <a:solidFill>
                  <a:srgbClr val="1B7F3B"/>
                </a:solidFill>
                <a:latin typeface="Open Sans"/>
                <a:ea typeface="Open Sans"/>
                <a:cs typeface="Open Sans"/>
              </a:rPr>
              <a:t>ghi vào máy 2 ▶</a:t>
            </a:r>
            <a:endParaRPr sz="1150" b="1">
              <a:solidFill>
                <a:srgbClr val="1B7F3B"/>
              </a:solidFill>
              <a:latin typeface="Open Sans"/>
              <a:ea typeface="Open Sans"/>
              <a:cs typeface="Open Sans"/>
            </a:endParaRPr>
          </a:p>
        </p:txBody>
      </p:sp>
      <p:sp>
        <p:nvSpPr>
          <p:cNvPr id="51" name="Rectangle 50"/>
          <p:cNvSpPr/>
          <p:nvPr/>
        </p:nvSpPr>
        <p:spPr>
          <a:xfrm>
            <a:off x="457200" y="2788920"/>
            <a:ext cx="2103120" cy="13258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52" name="Oval 51"/>
          <p:cNvSpPr/>
          <p:nvPr/>
        </p:nvSpPr>
        <p:spPr>
          <a:xfrm>
            <a:off x="594360" y="2907792"/>
            <a:ext cx="411480" cy="41148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1</a:t>
            </a:r>
            <a:endParaRPr sz="1500" b="1">
              <a:solidFill>
                <a:srgbClr val="FFFFFF"/>
              </a:solidFill>
              <a:latin typeface="Open Sans"/>
              <a:ea typeface="Open Sans"/>
              <a:cs typeface="Open Sans"/>
            </a:endParaRPr>
          </a:p>
        </p:txBody>
      </p:sp>
      <p:sp>
        <p:nvSpPr>
          <p:cNvPr id="53" name="TextBox 52"/>
          <p:cNvSpPr txBox="1"/>
          <p:nvPr/>
        </p:nvSpPr>
        <p:spPr>
          <a:xfrm>
            <a:off x="1097280" y="2898648"/>
            <a:ext cx="1417320" cy="411480"/>
          </a:xfrm>
          <a:prstGeom prst="rect">
            <a:avLst/>
          </a:prstGeom>
          <a:noFill/>
        </p:spPr>
        <p:txBody>
          <a:bodyPr wrap="square" lIns="36576" tIns="36576" rIns="36576" bIns="36576" anchor="ctr">
            <a:spAutoFit/>
          </a:bodyPr>
          <a:lstStyle/>
          <a:p>
            <a:pPr algn="l">
              <a:spcAft>
                <a:spcPts val="400"/>
              </a:spcAft>
            </a:pPr>
            <a:r>
              <a:rPr sz="1400" b="1">
                <a:solidFill>
                  <a:srgbClr val="BB2019"/>
                </a:solidFill>
                <a:latin typeface="Open Sans"/>
                <a:ea typeface="Open Sans"/>
                <a:cs typeface="Open Sans"/>
              </a:rPr>
              <a:t>Phát hiện</a:t>
            </a:r>
            <a:endParaRPr sz="1400" b="1">
              <a:solidFill>
                <a:srgbClr val="BB2019"/>
              </a:solidFill>
              <a:latin typeface="Open Sans"/>
              <a:ea typeface="Open Sans"/>
              <a:cs typeface="Open Sans"/>
            </a:endParaRPr>
          </a:p>
        </p:txBody>
      </p:sp>
      <p:sp>
        <p:nvSpPr>
          <p:cNvPr id="54" name="TextBox 53"/>
          <p:cNvSpPr txBox="1"/>
          <p:nvPr/>
        </p:nvSpPr>
        <p:spPr>
          <a:xfrm>
            <a:off x="594360" y="3401568"/>
            <a:ext cx="1874519" cy="685800"/>
          </a:xfrm>
          <a:prstGeom prst="rect">
            <a:avLst/>
          </a:prstGeom>
          <a:noFill/>
        </p:spPr>
        <p:txBody>
          <a:bodyPr wrap="square" lIns="36576" tIns="36576" rIns="36576" bIns="36576" anchor="t">
            <a:spAutoFit/>
          </a:bodyPr>
          <a:lstStyle/>
          <a:p>
            <a:pPr algn="l">
              <a:spcAft>
                <a:spcPts val="400"/>
              </a:spcAft>
            </a:pPr>
            <a:r>
              <a:rPr sz="1200">
                <a:solidFill>
                  <a:srgbClr val="262626"/>
                </a:solidFill>
                <a:latin typeface="Open Sans"/>
                <a:ea typeface="Open Sans"/>
                <a:cs typeface="Open Sans"/>
              </a:rPr>
              <a:t>ping lỗi 3 lần × 2 s</a:t>
            </a:r>
            <a:endParaRPr sz="1200">
              <a:solidFill>
                <a:srgbClr val="262626"/>
              </a:solidFill>
              <a:latin typeface="Open Sans"/>
              <a:ea typeface="Open Sans"/>
              <a:cs typeface="Open Sans"/>
            </a:endParaRPr>
          </a:p>
        </p:txBody>
      </p:sp>
      <p:cxnSp>
        <p:nvCxnSpPr>
          <p:cNvPr id="55" name="Connector 54"/>
          <p:cNvCxnSpPr/>
          <p:nvPr/>
        </p:nvCxnSpPr>
        <p:spPr>
          <a:xfrm>
            <a:off x="2578608" y="3456432"/>
            <a:ext cx="14630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2743200" y="2788920"/>
            <a:ext cx="2103120" cy="13258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57" name="Oval 56"/>
          <p:cNvSpPr/>
          <p:nvPr/>
        </p:nvSpPr>
        <p:spPr>
          <a:xfrm>
            <a:off x="2880360" y="2907792"/>
            <a:ext cx="411480" cy="41148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2</a:t>
            </a:r>
            <a:endParaRPr sz="1500" b="1">
              <a:solidFill>
                <a:srgbClr val="FFFFFF"/>
              </a:solidFill>
              <a:latin typeface="Open Sans"/>
              <a:ea typeface="Open Sans"/>
              <a:cs typeface="Open Sans"/>
            </a:endParaRPr>
          </a:p>
        </p:txBody>
      </p:sp>
      <p:sp>
        <p:nvSpPr>
          <p:cNvPr id="58" name="TextBox 57"/>
          <p:cNvSpPr txBox="1"/>
          <p:nvPr/>
        </p:nvSpPr>
        <p:spPr>
          <a:xfrm>
            <a:off x="3383280" y="2898648"/>
            <a:ext cx="1417320" cy="411480"/>
          </a:xfrm>
          <a:prstGeom prst="rect">
            <a:avLst/>
          </a:prstGeom>
          <a:noFill/>
        </p:spPr>
        <p:txBody>
          <a:bodyPr wrap="square" lIns="36576" tIns="36576" rIns="36576" bIns="36576" anchor="ctr">
            <a:spAutoFit/>
          </a:bodyPr>
          <a:lstStyle/>
          <a:p>
            <a:pPr algn="l">
              <a:spcAft>
                <a:spcPts val="400"/>
              </a:spcAft>
            </a:pPr>
            <a:r>
              <a:rPr sz="1400" b="1">
                <a:solidFill>
                  <a:srgbClr val="BB2019"/>
                </a:solidFill>
                <a:latin typeface="Open Sans"/>
                <a:ea typeface="Open Sans"/>
                <a:cs typeface="Open Sans"/>
              </a:rPr>
              <a:t>Bỏ phiếu</a:t>
            </a:r>
            <a:endParaRPr sz="1400" b="1">
              <a:solidFill>
                <a:srgbClr val="BB2019"/>
              </a:solidFill>
              <a:latin typeface="Open Sans"/>
              <a:ea typeface="Open Sans"/>
              <a:cs typeface="Open Sans"/>
            </a:endParaRPr>
          </a:p>
        </p:txBody>
      </p:sp>
      <p:sp>
        <p:nvSpPr>
          <p:cNvPr id="59" name="TextBox 58"/>
          <p:cNvSpPr txBox="1"/>
          <p:nvPr/>
        </p:nvSpPr>
        <p:spPr>
          <a:xfrm>
            <a:off x="2880360" y="3401568"/>
            <a:ext cx="1874519" cy="685800"/>
          </a:xfrm>
          <a:prstGeom prst="rect">
            <a:avLst/>
          </a:prstGeom>
          <a:noFill/>
        </p:spPr>
        <p:txBody>
          <a:bodyPr wrap="square" lIns="36576" tIns="36576" rIns="36576" bIns="36576" anchor="t">
            <a:spAutoFit/>
          </a:bodyPr>
          <a:lstStyle/>
          <a:p>
            <a:pPr algn="l">
              <a:spcAft>
                <a:spcPts val="400"/>
              </a:spcAft>
            </a:pPr>
            <a:r>
              <a:rPr sz="1200">
                <a:solidFill>
                  <a:srgbClr val="262626"/>
                </a:solidFill>
                <a:latin typeface="Open Sans"/>
                <a:ea typeface="Open Sans"/>
                <a:cs typeface="Open Sans"/>
              </a:rPr>
              <a:t>máy 2 + Node 3 = 2/3</a:t>
            </a:r>
            <a:endParaRPr sz="1200">
              <a:solidFill>
                <a:srgbClr val="262626"/>
              </a:solidFill>
              <a:latin typeface="Open Sans"/>
              <a:ea typeface="Open Sans"/>
              <a:cs typeface="Open Sans"/>
            </a:endParaRPr>
          </a:p>
        </p:txBody>
      </p:sp>
      <p:cxnSp>
        <p:nvCxnSpPr>
          <p:cNvPr id="60" name="Connector 59"/>
          <p:cNvCxnSpPr/>
          <p:nvPr/>
        </p:nvCxnSpPr>
        <p:spPr>
          <a:xfrm>
            <a:off x="4864608" y="3456432"/>
            <a:ext cx="14630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5029200" y="2788920"/>
            <a:ext cx="2103120" cy="13258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62" name="Oval 61"/>
          <p:cNvSpPr/>
          <p:nvPr/>
        </p:nvSpPr>
        <p:spPr>
          <a:xfrm>
            <a:off x="5166360" y="2907792"/>
            <a:ext cx="411480" cy="41148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3</a:t>
            </a:r>
            <a:endParaRPr sz="1500" b="1">
              <a:solidFill>
                <a:srgbClr val="FFFFFF"/>
              </a:solidFill>
              <a:latin typeface="Open Sans"/>
              <a:ea typeface="Open Sans"/>
              <a:cs typeface="Open Sans"/>
            </a:endParaRPr>
          </a:p>
        </p:txBody>
      </p:sp>
      <p:sp>
        <p:nvSpPr>
          <p:cNvPr id="63" name="TextBox 62"/>
          <p:cNvSpPr txBox="1"/>
          <p:nvPr/>
        </p:nvSpPr>
        <p:spPr>
          <a:xfrm>
            <a:off x="5669280" y="2898648"/>
            <a:ext cx="1417320" cy="411480"/>
          </a:xfrm>
          <a:prstGeom prst="rect">
            <a:avLst/>
          </a:prstGeom>
          <a:noFill/>
        </p:spPr>
        <p:txBody>
          <a:bodyPr wrap="square" lIns="36576" tIns="36576" rIns="36576" bIns="36576" anchor="ctr">
            <a:spAutoFit/>
          </a:bodyPr>
          <a:lstStyle/>
          <a:p>
            <a:pPr algn="l">
              <a:spcAft>
                <a:spcPts val="400"/>
              </a:spcAft>
            </a:pPr>
            <a:r>
              <a:rPr sz="1400" b="1">
                <a:solidFill>
                  <a:srgbClr val="BB2019"/>
                </a:solidFill>
                <a:latin typeface="Open Sans"/>
                <a:ea typeface="Open Sans"/>
                <a:cs typeface="Open Sans"/>
              </a:rPr>
              <a:t>Thăng cấp</a:t>
            </a:r>
            <a:endParaRPr sz="1400" b="1">
              <a:solidFill>
                <a:srgbClr val="BB2019"/>
              </a:solidFill>
              <a:latin typeface="Open Sans"/>
              <a:ea typeface="Open Sans"/>
              <a:cs typeface="Open Sans"/>
            </a:endParaRPr>
          </a:p>
        </p:txBody>
      </p:sp>
      <p:sp>
        <p:nvSpPr>
          <p:cNvPr id="64" name="TextBox 63"/>
          <p:cNvSpPr txBox="1"/>
          <p:nvPr/>
        </p:nvSpPr>
        <p:spPr>
          <a:xfrm>
            <a:off x="5166360" y="3401568"/>
            <a:ext cx="1874519" cy="685800"/>
          </a:xfrm>
          <a:prstGeom prst="rect">
            <a:avLst/>
          </a:prstGeom>
          <a:noFill/>
        </p:spPr>
        <p:txBody>
          <a:bodyPr wrap="square" lIns="36576" tIns="36576" rIns="36576" bIns="36576" anchor="t">
            <a:spAutoFit/>
          </a:bodyPr>
          <a:lstStyle/>
          <a:p>
            <a:pPr algn="l">
              <a:spcAft>
                <a:spcPts val="400"/>
              </a:spcAft>
            </a:pPr>
            <a:r>
              <a:rPr sz="1200">
                <a:solidFill>
                  <a:srgbClr val="262626"/>
                </a:solidFill>
                <a:latin typeface="Open Sans"/>
                <a:ea typeface="Open Sans"/>
                <a:cs typeface="Open Sans"/>
              </a:rPr>
              <a:t>pg_promote() ~16 s</a:t>
            </a:r>
            <a:endParaRPr sz="1200">
              <a:solidFill>
                <a:srgbClr val="262626"/>
              </a:solidFill>
              <a:latin typeface="Open Sans"/>
              <a:ea typeface="Open Sans"/>
              <a:cs typeface="Open Sans"/>
            </a:endParaRPr>
          </a:p>
        </p:txBody>
      </p:sp>
      <p:cxnSp>
        <p:nvCxnSpPr>
          <p:cNvPr id="65" name="Connector 64"/>
          <p:cNvCxnSpPr/>
          <p:nvPr/>
        </p:nvCxnSpPr>
        <p:spPr>
          <a:xfrm>
            <a:off x="7150608" y="3456432"/>
            <a:ext cx="14630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7315200" y="2788920"/>
            <a:ext cx="2103120" cy="13258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67" name="Oval 66"/>
          <p:cNvSpPr/>
          <p:nvPr/>
        </p:nvSpPr>
        <p:spPr>
          <a:xfrm>
            <a:off x="7452360" y="2907792"/>
            <a:ext cx="411480" cy="41148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4</a:t>
            </a:r>
            <a:endParaRPr sz="1500" b="1">
              <a:solidFill>
                <a:srgbClr val="FFFFFF"/>
              </a:solidFill>
              <a:latin typeface="Open Sans"/>
              <a:ea typeface="Open Sans"/>
              <a:cs typeface="Open Sans"/>
            </a:endParaRPr>
          </a:p>
        </p:txBody>
      </p:sp>
      <p:sp>
        <p:nvSpPr>
          <p:cNvPr id="68" name="TextBox 67"/>
          <p:cNvSpPr txBox="1"/>
          <p:nvPr/>
        </p:nvSpPr>
        <p:spPr>
          <a:xfrm>
            <a:off x="7955279" y="2898648"/>
            <a:ext cx="1417320" cy="411480"/>
          </a:xfrm>
          <a:prstGeom prst="rect">
            <a:avLst/>
          </a:prstGeom>
          <a:noFill/>
        </p:spPr>
        <p:txBody>
          <a:bodyPr wrap="square" lIns="36576" tIns="36576" rIns="36576" bIns="36576" anchor="ctr">
            <a:spAutoFit/>
          </a:bodyPr>
          <a:lstStyle/>
          <a:p>
            <a:pPr algn="l">
              <a:spcAft>
                <a:spcPts val="400"/>
              </a:spcAft>
            </a:pPr>
            <a:r>
              <a:rPr sz="1400" b="1">
                <a:solidFill>
                  <a:srgbClr val="BB2019"/>
                </a:solidFill>
                <a:latin typeface="Open Sans"/>
                <a:ea typeface="Open Sans"/>
                <a:cs typeface="Open Sans"/>
              </a:rPr>
              <a:t>Định tuyến lại</a:t>
            </a:r>
            <a:endParaRPr sz="1400" b="1">
              <a:solidFill>
                <a:srgbClr val="BB2019"/>
              </a:solidFill>
              <a:latin typeface="Open Sans"/>
              <a:ea typeface="Open Sans"/>
              <a:cs typeface="Open Sans"/>
            </a:endParaRPr>
          </a:p>
        </p:txBody>
      </p:sp>
      <p:sp>
        <p:nvSpPr>
          <p:cNvPr id="69" name="TextBox 68"/>
          <p:cNvSpPr txBox="1"/>
          <p:nvPr/>
        </p:nvSpPr>
        <p:spPr>
          <a:xfrm>
            <a:off x="7452360" y="3401568"/>
            <a:ext cx="1874519" cy="685800"/>
          </a:xfrm>
          <a:prstGeom prst="rect">
            <a:avLst/>
          </a:prstGeom>
          <a:noFill/>
        </p:spPr>
        <p:txBody>
          <a:bodyPr wrap="square" lIns="36576" tIns="36576" rIns="36576" bIns="36576" anchor="t">
            <a:spAutoFit/>
          </a:bodyPr>
          <a:lstStyle/>
          <a:p>
            <a:pPr algn="l">
              <a:spcAft>
                <a:spcPts val="400"/>
              </a:spcAft>
            </a:pPr>
            <a:r>
              <a:rPr sz="1200">
                <a:solidFill>
                  <a:srgbClr val="262626"/>
                </a:solidFill>
                <a:latin typeface="Open Sans"/>
                <a:ea typeface="Open Sans"/>
                <a:cs typeface="Open Sans"/>
              </a:rPr>
              <a:t>pg-router 5501 → 5511</a:t>
            </a:r>
            <a:endParaRPr sz="1200">
              <a:solidFill>
                <a:srgbClr val="262626"/>
              </a:solidFill>
              <a:latin typeface="Open Sans"/>
              <a:ea typeface="Open Sans"/>
              <a:cs typeface="Open Sans"/>
            </a:endParaRPr>
          </a:p>
        </p:txBody>
      </p:sp>
      <p:cxnSp>
        <p:nvCxnSpPr>
          <p:cNvPr id="70" name="Connector 69"/>
          <p:cNvCxnSpPr/>
          <p:nvPr/>
        </p:nvCxnSpPr>
        <p:spPr>
          <a:xfrm>
            <a:off x="9436608" y="3456432"/>
            <a:ext cx="14630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9601200" y="2788920"/>
            <a:ext cx="2103120" cy="13258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72" name="Oval 71"/>
          <p:cNvSpPr/>
          <p:nvPr/>
        </p:nvSpPr>
        <p:spPr>
          <a:xfrm>
            <a:off x="9738360" y="2907792"/>
            <a:ext cx="411480" cy="411480"/>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5</a:t>
            </a:r>
            <a:endParaRPr sz="1500" b="1">
              <a:solidFill>
                <a:srgbClr val="FFFFFF"/>
              </a:solidFill>
              <a:latin typeface="Open Sans"/>
              <a:ea typeface="Open Sans"/>
              <a:cs typeface="Open Sans"/>
            </a:endParaRPr>
          </a:p>
        </p:txBody>
      </p:sp>
      <p:sp>
        <p:nvSpPr>
          <p:cNvPr id="73" name="TextBox 72"/>
          <p:cNvSpPr txBox="1"/>
          <p:nvPr/>
        </p:nvSpPr>
        <p:spPr>
          <a:xfrm>
            <a:off x="10241280" y="2898648"/>
            <a:ext cx="1417320" cy="411480"/>
          </a:xfrm>
          <a:prstGeom prst="rect">
            <a:avLst/>
          </a:prstGeom>
          <a:noFill/>
        </p:spPr>
        <p:txBody>
          <a:bodyPr wrap="square" lIns="36576" tIns="36576" rIns="36576" bIns="36576" anchor="ctr">
            <a:spAutoFit/>
          </a:bodyPr>
          <a:lstStyle/>
          <a:p>
            <a:pPr algn="l">
              <a:spcAft>
                <a:spcPts val="400"/>
              </a:spcAft>
            </a:pPr>
            <a:r>
              <a:rPr sz="1400" b="1">
                <a:solidFill>
                  <a:srgbClr val="BB2019"/>
                </a:solidFill>
                <a:latin typeface="Open Sans"/>
                <a:ea typeface="Open Sans"/>
                <a:cs typeface="Open Sans"/>
              </a:rPr>
              <a:t>Fencing</a:t>
            </a:r>
            <a:endParaRPr sz="1400" b="1">
              <a:solidFill>
                <a:srgbClr val="BB2019"/>
              </a:solidFill>
              <a:latin typeface="Open Sans"/>
              <a:ea typeface="Open Sans"/>
              <a:cs typeface="Open Sans"/>
            </a:endParaRPr>
          </a:p>
        </p:txBody>
      </p:sp>
      <p:sp>
        <p:nvSpPr>
          <p:cNvPr id="74" name="TextBox 73"/>
          <p:cNvSpPr txBox="1"/>
          <p:nvPr/>
        </p:nvSpPr>
        <p:spPr>
          <a:xfrm>
            <a:off x="9738360" y="3401568"/>
            <a:ext cx="1874519" cy="685800"/>
          </a:xfrm>
          <a:prstGeom prst="rect">
            <a:avLst/>
          </a:prstGeom>
          <a:noFill/>
        </p:spPr>
        <p:txBody>
          <a:bodyPr wrap="square" lIns="36576" tIns="36576" rIns="36576" bIns="36576" anchor="t">
            <a:spAutoFit/>
          </a:bodyPr>
          <a:lstStyle/>
          <a:p>
            <a:pPr algn="l">
              <a:spcAft>
                <a:spcPts val="400"/>
              </a:spcAft>
            </a:pPr>
            <a:r>
              <a:rPr sz="1200">
                <a:solidFill>
                  <a:srgbClr val="262626"/>
                </a:solidFill>
                <a:latin typeface="Open Sans"/>
                <a:ea typeface="Open Sans"/>
                <a:cs typeface="Open Sans"/>
              </a:rPr>
              <a:t>máy 1 bật lại → pg_rewind → Standby</a:t>
            </a:r>
            <a:endParaRPr sz="1200">
              <a:solidFill>
                <a:srgbClr val="262626"/>
              </a:solidFill>
              <a:latin typeface="Open Sans"/>
              <a:ea typeface="Open Sans"/>
              <a:cs typeface="Open Sans"/>
            </a:endParaRPr>
          </a:p>
        </p:txBody>
      </p:sp>
      <p:graphicFrame>
        <p:nvGraphicFramePr>
          <p:cNvPr id="75" name="Table 74"/>
          <p:cNvGraphicFramePr>
            <a:graphicFrameLocks noGrp="1"/>
          </p:cNvGraphicFramePr>
          <p:nvPr/>
        </p:nvGraphicFramePr>
        <p:xfrm>
          <a:off x="457200" y="4389120"/>
          <a:ext cx="6675119" cy="1828800"/>
        </p:xfrm>
        <a:graphic>
          <a:graphicData uri="http://schemas.openxmlformats.org/drawingml/2006/table">
            <a:tbl>
              <a:tblPr firstRow="1" bandRow="1">
                <a:tableStyleId>{C083E6E3-FA7D-4D7B-A595-EF9225AFEA82}</a:tableStyleId>
              </a:tblPr>
              <a:tblGrid>
                <a:gridCol w="2468879"/>
                <a:gridCol w="1097280"/>
                <a:gridCol w="1554480"/>
                <a:gridCol w="1554480"/>
              </a:tblGrid>
              <a:tr h="457200">
                <a:tc>
                  <a:txBody>
                    <a:bodyPr wrap="square"/>
                    <a:lstStyle/>
                    <a:p>
                      <a:r>
                        <a:rPr sz="1200" b="1">
                          <a:solidFill>
                            <a:srgbClr val="BB2019"/>
                          </a:solidFill>
                          <a:latin typeface="Open Sans"/>
                          <a:ea typeface="Open Sans"/>
                          <a:cs typeface="Open Sans"/>
                        </a:rPr>
                        <a:t>Nút (repmgr)</a:t>
                      </a:r>
                      <a:endParaRPr sz="1200" b="1">
                        <a:solidFill>
                          <a:srgbClr val="BB2019"/>
                        </a:solidFill>
                        <a:latin typeface="Open Sans"/>
                        <a:ea typeface="Open Sans"/>
                        <a:cs typeface="Open Sans"/>
                      </a:endParaRPr>
                    </a:p>
                  </a:txBody>
                  <a:tcPr marL="73152" marR="73152" marT="27432" marB="27432" anchor="ctr"/>
                </a:tc>
                <a:tc>
                  <a:txBody>
                    <a:bodyPr wrap="square"/>
                    <a:lstStyle/>
                    <a:p>
                      <a:r>
                        <a:rPr sz="1200" b="1">
                          <a:solidFill>
                            <a:srgbClr val="BB2019"/>
                          </a:solidFill>
                          <a:latin typeface="Open Sans"/>
                          <a:ea typeface="Open Sans"/>
                          <a:cs typeface="Open Sans"/>
                        </a:rPr>
                        <a:t>Trước</a:t>
                      </a:r>
                      <a:endParaRPr sz="1200" b="1">
                        <a:solidFill>
                          <a:srgbClr val="BB2019"/>
                        </a:solidFill>
                        <a:latin typeface="Open Sans"/>
                        <a:ea typeface="Open Sans"/>
                        <a:cs typeface="Open Sans"/>
                      </a:endParaRPr>
                    </a:p>
                  </a:txBody>
                  <a:tcPr marL="73152" marR="73152" marT="27432" marB="27432" anchor="ctr"/>
                </a:tc>
                <a:tc>
                  <a:txBody>
                    <a:bodyPr wrap="square"/>
                    <a:lstStyle/>
                    <a:p>
                      <a:r>
                        <a:rPr sz="1200" b="1">
                          <a:solidFill>
                            <a:srgbClr val="BB2019"/>
                          </a:solidFill>
                          <a:latin typeface="Open Sans"/>
                          <a:ea typeface="Open Sans"/>
                          <a:cs typeface="Open Sans"/>
                        </a:rPr>
                        <a:t>Sau failover</a:t>
                      </a:r>
                      <a:endParaRPr sz="1200" b="1">
                        <a:solidFill>
                          <a:srgbClr val="BB2019"/>
                        </a:solidFill>
                        <a:latin typeface="Open Sans"/>
                        <a:ea typeface="Open Sans"/>
                        <a:cs typeface="Open Sans"/>
                      </a:endParaRPr>
                    </a:p>
                  </a:txBody>
                  <a:tcPr marL="73152" marR="73152" marT="27432" marB="27432" anchor="ctr"/>
                </a:tc>
                <a:tc>
                  <a:txBody>
                    <a:bodyPr wrap="square"/>
                    <a:lstStyle/>
                    <a:p>
                      <a:r>
                        <a:rPr sz="1200" b="1">
                          <a:solidFill>
                            <a:srgbClr val="BB2019"/>
                          </a:solidFill>
                          <a:latin typeface="Open Sans"/>
                          <a:ea typeface="Open Sans"/>
                          <a:cs typeface="Open Sans"/>
                        </a:rPr>
                        <a:t>Máy 1 bật lại</a:t>
                      </a:r>
                      <a:endParaRPr sz="1200" b="1">
                        <a:solidFill>
                          <a:srgbClr val="BB2019"/>
                        </a:solidFill>
                        <a:latin typeface="Open Sans"/>
                        <a:ea typeface="Open Sans"/>
                        <a:cs typeface="Open Sans"/>
                      </a:endParaRPr>
                    </a:p>
                  </a:txBody>
                  <a:tcPr marL="73152" marR="73152" marT="27432" marB="27432" anchor="ctr"/>
                </a:tc>
              </a:tr>
              <a:tr h="457200">
                <a:tc>
                  <a:txBody>
                    <a:bodyPr wrap="square"/>
                    <a:lstStyle/>
                    <a:p>
                      <a:r>
                        <a:rPr sz="1200" b="0">
                          <a:solidFill>
                            <a:srgbClr val="262626"/>
                          </a:solidFill>
                          <a:latin typeface="Open Sans"/>
                          <a:ea typeface="Open Sans"/>
                          <a:cs typeface="Open Sans"/>
                        </a:rPr>
                        <a:t>inv-node1 / book-node1 (máy 1)</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PRIMARY</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mất kết nối</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standby</a:t>
                      </a:r>
                      <a:endParaRPr sz="1200" b="0">
                        <a:solidFill>
                          <a:srgbClr val="262626"/>
                        </a:solidFill>
                        <a:latin typeface="Open Sans"/>
                        <a:ea typeface="Open Sans"/>
                        <a:cs typeface="Open Sans"/>
                      </a:endParaRPr>
                    </a:p>
                  </a:txBody>
                  <a:tcPr marL="73152" marR="73152" marT="27432" marB="27432" anchor="ctr"/>
                </a:tc>
              </a:tr>
              <a:tr h="457200">
                <a:tc>
                  <a:txBody>
                    <a:bodyPr wrap="square"/>
                    <a:lstStyle/>
                    <a:p>
                      <a:r>
                        <a:rPr sz="1200" b="0">
                          <a:solidFill>
                            <a:srgbClr val="262626"/>
                          </a:solidFill>
                          <a:latin typeface="Open Sans"/>
                          <a:ea typeface="Open Sans"/>
                          <a:cs typeface="Open Sans"/>
                        </a:rPr>
                        <a:t>inv-node2 / book-node2 (máy 2)</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standby</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PRIMARY</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PRIMARY</a:t>
                      </a:r>
                      <a:endParaRPr sz="1200" b="0">
                        <a:solidFill>
                          <a:srgbClr val="262626"/>
                        </a:solidFill>
                        <a:latin typeface="Open Sans"/>
                        <a:ea typeface="Open Sans"/>
                        <a:cs typeface="Open Sans"/>
                      </a:endParaRPr>
                    </a:p>
                  </a:txBody>
                  <a:tcPr marL="73152" marR="73152" marT="27432" marB="27432" anchor="ctr"/>
                </a:tc>
              </a:tr>
              <a:tr h="457200">
                <a:tc>
                  <a:txBody>
                    <a:bodyPr wrap="square"/>
                    <a:lstStyle/>
                    <a:p>
                      <a:r>
                        <a:rPr sz="1200" b="0">
                          <a:solidFill>
                            <a:srgbClr val="262626"/>
                          </a:solidFill>
                          <a:latin typeface="Open Sans"/>
                          <a:ea typeface="Open Sans"/>
                          <a:cs typeface="Open Sans"/>
                        </a:rPr>
                        <a:t>witness ×2 (Node 3)</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witness</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witness</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witness</a:t>
                      </a:r>
                      <a:endParaRPr sz="1200" b="0">
                        <a:solidFill>
                          <a:srgbClr val="262626"/>
                        </a:solidFill>
                        <a:latin typeface="Open Sans"/>
                        <a:ea typeface="Open Sans"/>
                        <a:cs typeface="Open Sans"/>
                      </a:endParaRPr>
                    </a:p>
                  </a:txBody>
                  <a:tcPr marL="73152" marR="73152" marT="27432" marB="27432" anchor="ctr"/>
                </a:tc>
              </a:tr>
            </a:tbl>
          </a:graphicData>
        </a:graphic>
      </p:graphicFrame>
      <p:sp>
        <p:nvSpPr>
          <p:cNvPr id="76" name="Rectangle 75"/>
          <p:cNvSpPr/>
          <p:nvPr/>
        </p:nvSpPr>
        <p:spPr>
          <a:xfrm>
            <a:off x="7406640" y="4389120"/>
            <a:ext cx="434340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Không mất dữ liệu đã commit</a:t>
            </a:r>
            <a:endParaRPr sz="1400" b="1">
              <a:solidFill>
                <a:srgbClr val="FFFFFF"/>
              </a:solidFill>
              <a:latin typeface="Open Sans"/>
              <a:ea typeface="Open Sans"/>
              <a:cs typeface="Open Sans"/>
            </a:endParaRPr>
          </a:p>
        </p:txBody>
      </p:sp>
      <p:sp>
        <p:nvSpPr>
          <p:cNvPr id="77" name="Rectangle 76"/>
          <p:cNvSpPr/>
          <p:nvPr/>
        </p:nvSpPr>
        <p:spPr>
          <a:xfrm>
            <a:off x="7406640" y="4773168"/>
            <a:ext cx="4343400" cy="144475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Standby nhận WAL liên tục từ Primary</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Đưa Primary về máy 1: cluster.mjs failback</a:t>
            </a:r>
            <a:endParaRPr sz="1300">
              <a:solidFill>
                <a:srgbClr val="262626"/>
              </a:solidFill>
              <a:latin typeface="Open Sans"/>
              <a:ea typeface="Open Sans"/>
              <a:cs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10 · Tắt Wi-Fi máy 1 — Primary sống nhưng bị cô lập</a:t>
            </a:r>
          </a:p>
        </p:txBody>
      </p:sp>
      <p:sp>
        <p:nvSpPr>
          <p:cNvPr id="3" name="Text Placeholder 2"/>
          <p:cNvSpPr>
            <a:spLocks noGrp="1"/>
          </p:cNvSpPr>
          <p:nvPr>
            <p:ph type="body" sz="quarter" idx="13"/>
          </p:nvPr>
        </p:nvSpPr>
        <p:spPr/>
        <p:txBody>
          <a:bodyPr/>
          <a:lstStyle/>
          <a:p>
            <a:r>
              <a:t>Tình huống nguy hiểm nhất: hai máy cùng tưởng mình là chủ</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10</a:t>
            </a:r>
            <a:endParaRPr sz="1200">
              <a:solidFill>
                <a:srgbClr val="FFFFFF"/>
              </a:solidFill>
              <a:latin typeface="Consolas" panose="020B0609020204030204"/>
              <a:ea typeface="Consolas" panose="020B0609020204030204"/>
              <a:cs typeface="Consolas" panose="020B0609020204030204"/>
            </a:endParaRPr>
          </a:p>
        </p:txBody>
      </p:sp>
      <p:graphicFrame>
        <p:nvGraphicFramePr>
          <p:cNvPr id="8" name="Table 7"/>
          <p:cNvGraphicFramePr>
            <a:graphicFrameLocks noGrp="1"/>
          </p:cNvGraphicFramePr>
          <p:nvPr/>
        </p:nvGraphicFramePr>
        <p:xfrm>
          <a:off x="457200" y="1783080"/>
          <a:ext cx="6949439" cy="2377440"/>
        </p:xfrm>
        <a:graphic>
          <a:graphicData uri="http://schemas.openxmlformats.org/drawingml/2006/table">
            <a:tbl>
              <a:tblPr firstRow="1" bandRow="1">
                <a:tableStyleId>{C083E6E3-FA7D-4D7B-A595-EF9225AFEA82}</a:tableStyleId>
              </a:tblPr>
              <a:tblGrid>
                <a:gridCol w="2377439"/>
                <a:gridCol w="1280160"/>
                <a:gridCol w="1463040"/>
                <a:gridCol w="1828800"/>
              </a:tblGrid>
              <a:tr h="475488">
                <a:tc>
                  <a:txBody>
                    <a:bodyPr wrap="square"/>
                    <a:lstStyle/>
                    <a:p>
                      <a:r>
                        <a:rPr sz="1300" b="1">
                          <a:solidFill>
                            <a:srgbClr val="BB2019"/>
                          </a:solidFill>
                          <a:latin typeface="Open Sans"/>
                          <a:ea typeface="Open Sans"/>
                          <a:cs typeface="Open Sans"/>
                        </a:rPr>
                        <a:t>pg-router</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Thấy được</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Ghi</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Primary</a:t>
                      </a:r>
                      <a:endParaRPr sz="1300" b="1">
                        <a:solidFill>
                          <a:srgbClr val="BB2019"/>
                        </a:solidFill>
                        <a:latin typeface="Open Sans"/>
                        <a:ea typeface="Open Sans"/>
                        <a:cs typeface="Open Sans"/>
                      </a:endParaRPr>
                    </a:p>
                  </a:txBody>
                  <a:tcPr marL="73152" marR="73152" marT="27432" marB="27432" anchor="ctr"/>
                </a:tc>
              </a:tr>
              <a:tr h="475488">
                <a:tc>
                  <a:txBody>
                    <a:bodyPr wrap="square"/>
                    <a:lstStyle/>
                    <a:p>
                      <a:r>
                        <a:rPr sz="1300" b="0">
                          <a:solidFill>
                            <a:srgbClr val="262626"/>
                          </a:solidFill>
                          <a:latin typeface="Open Sans"/>
                          <a:ea typeface="Open Sans"/>
                          <a:cs typeface="Open Sans"/>
                        </a:rPr>
                        <a:t>máy 1 — trước</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3/3</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cho phép</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máy 1 (5501)</a:t>
                      </a:r>
                      <a:endParaRPr sz="1300" b="0">
                        <a:solidFill>
                          <a:srgbClr val="262626"/>
                        </a:solidFill>
                        <a:latin typeface="Open Sans"/>
                        <a:ea typeface="Open Sans"/>
                        <a:cs typeface="Open Sans"/>
                      </a:endParaRPr>
                    </a:p>
                  </a:txBody>
                  <a:tcPr marL="73152" marR="73152" marT="27432" marB="27432" anchor="ctr"/>
                </a:tc>
              </a:tr>
              <a:tr h="475488">
                <a:tc>
                  <a:txBody>
                    <a:bodyPr wrap="square"/>
                    <a:lstStyle/>
                    <a:p>
                      <a:r>
                        <a:rPr sz="1300" b="0">
                          <a:solidFill>
                            <a:srgbClr val="262626"/>
                          </a:solidFill>
                          <a:latin typeface="Open Sans"/>
                          <a:ea typeface="Open Sans"/>
                          <a:cs typeface="Open Sans"/>
                        </a:rPr>
                        <a:t>máy 1 — đang mất mạng</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1/3</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CHẶN GHI</a:t>
                      </a:r>
                      <a:endParaRPr sz="1300" b="0">
                        <a:solidFill>
                          <a:srgbClr val="262626"/>
                        </a:solidFill>
                        <a:latin typeface="Open Sans"/>
                        <a:ea typeface="Open Sans"/>
                        <a:cs typeface="Open Sans"/>
                      </a:endParaRPr>
                    </a:p>
                  </a:txBody>
                  <a:tcPr marL="73152" marR="73152" marT="27432" marB="27432" anchor="ctr">
                    <a:solidFill>
                      <a:srgbClr val="FDECEB"/>
                    </a:solidFill>
                  </a:tcPr>
                </a:tc>
                <a:tc>
                  <a:txBody>
                    <a:bodyPr wrap="square"/>
                    <a:lstStyle/>
                    <a:p>
                      <a:r>
                        <a:rPr sz="1300" b="0">
                          <a:solidFill>
                            <a:srgbClr val="262626"/>
                          </a:solidFill>
                          <a:latin typeface="Open Sans"/>
                          <a:ea typeface="Open Sans"/>
                          <a:cs typeface="Open Sans"/>
                        </a:rPr>
                        <a:t>—</a:t>
                      </a:r>
                      <a:endParaRPr sz="1300" b="0">
                        <a:solidFill>
                          <a:srgbClr val="262626"/>
                        </a:solidFill>
                        <a:latin typeface="Open Sans"/>
                        <a:ea typeface="Open Sans"/>
                        <a:cs typeface="Open Sans"/>
                      </a:endParaRPr>
                    </a:p>
                  </a:txBody>
                  <a:tcPr marL="73152" marR="73152" marT="27432" marB="27432" anchor="ctr"/>
                </a:tc>
              </a:tr>
              <a:tr h="475488">
                <a:tc>
                  <a:txBody>
                    <a:bodyPr wrap="square"/>
                    <a:lstStyle/>
                    <a:p>
                      <a:r>
                        <a:rPr sz="1300" b="0">
                          <a:solidFill>
                            <a:srgbClr val="262626"/>
                          </a:solidFill>
                          <a:latin typeface="Open Sans"/>
                          <a:ea typeface="Open Sans"/>
                          <a:cs typeface="Open Sans"/>
                        </a:rPr>
                        <a:t>máy 2 — đang mất mạng</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2/3</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cho phép</a:t>
                      </a:r>
                      <a:endParaRPr sz="1300" b="0">
                        <a:solidFill>
                          <a:srgbClr val="262626"/>
                        </a:solidFill>
                        <a:latin typeface="Open Sans"/>
                        <a:ea typeface="Open Sans"/>
                        <a:cs typeface="Open Sans"/>
                      </a:endParaRPr>
                    </a:p>
                  </a:txBody>
                  <a:tcPr marL="73152" marR="73152" marT="27432" marB="27432" anchor="ctr">
                    <a:solidFill>
                      <a:srgbClr val="E3F4E8"/>
                    </a:solidFill>
                  </a:tcPr>
                </a:tc>
                <a:tc>
                  <a:txBody>
                    <a:bodyPr wrap="square"/>
                    <a:lstStyle/>
                    <a:p>
                      <a:r>
                        <a:rPr sz="1300" b="0">
                          <a:solidFill>
                            <a:srgbClr val="262626"/>
                          </a:solidFill>
                          <a:latin typeface="Open Sans"/>
                          <a:ea typeface="Open Sans"/>
                          <a:cs typeface="Open Sans"/>
                        </a:rPr>
                        <a:t>máy 2 (5511)</a:t>
                      </a:r>
                      <a:endParaRPr sz="1300" b="0">
                        <a:solidFill>
                          <a:srgbClr val="262626"/>
                        </a:solidFill>
                        <a:latin typeface="Open Sans"/>
                        <a:ea typeface="Open Sans"/>
                        <a:cs typeface="Open Sans"/>
                      </a:endParaRPr>
                    </a:p>
                  </a:txBody>
                  <a:tcPr marL="73152" marR="73152" marT="27432" marB="27432" anchor="ctr"/>
                </a:tc>
              </a:tr>
              <a:tr h="475488">
                <a:tc>
                  <a:txBody>
                    <a:bodyPr wrap="square"/>
                    <a:lstStyle/>
                    <a:p>
                      <a:r>
                        <a:rPr sz="1300" b="0">
                          <a:solidFill>
                            <a:srgbClr val="262626"/>
                          </a:solidFill>
                          <a:latin typeface="Open Sans"/>
                          <a:ea typeface="Open Sans"/>
                          <a:cs typeface="Open Sans"/>
                        </a:rPr>
                        <a:t>máy 1 — bật Wi-Fi lại</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3/3</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cho phép</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máy 2 (5511)</a:t>
                      </a:r>
                      <a:endParaRPr sz="1300" b="0">
                        <a:solidFill>
                          <a:srgbClr val="262626"/>
                        </a:solidFill>
                        <a:latin typeface="Open Sans"/>
                        <a:ea typeface="Open Sans"/>
                        <a:cs typeface="Open Sans"/>
                      </a:endParaRPr>
                    </a:p>
                  </a:txBody>
                  <a:tcPr marL="73152" marR="73152" marT="27432" marB="27432" anchor="ctr"/>
                </a:tc>
              </a:tr>
            </a:tbl>
          </a:graphicData>
        </a:graphic>
      </p:graphicFrame>
      <p:sp>
        <p:nvSpPr>
          <p:cNvPr id="9" name="Rectangle 8"/>
          <p:cNvSpPr/>
          <p:nvPr/>
        </p:nvSpPr>
        <p:spPr>
          <a:xfrm>
            <a:off x="7680960" y="1783080"/>
            <a:ext cx="4069080" cy="80467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TextBox 9"/>
          <p:cNvSpPr txBox="1"/>
          <p:nvPr/>
        </p:nvSpPr>
        <p:spPr>
          <a:xfrm>
            <a:off x="7818120" y="1856231"/>
            <a:ext cx="1371600" cy="640080"/>
          </a:xfrm>
          <a:prstGeom prst="rect">
            <a:avLst/>
          </a:prstGeom>
          <a:noFill/>
        </p:spPr>
        <p:txBody>
          <a:bodyPr wrap="square" lIns="36576" tIns="36576" rIns="36576" bIns="36576" anchor="ctr">
            <a:spAutoFit/>
          </a:bodyPr>
          <a:lstStyle/>
          <a:p>
            <a:pPr algn="l">
              <a:spcAft>
                <a:spcPts val="400"/>
              </a:spcAft>
            </a:pPr>
            <a:r>
              <a:rPr sz="2400" b="1">
                <a:solidFill>
                  <a:srgbClr val="BB2019"/>
                </a:solidFill>
                <a:latin typeface="Open Sans"/>
                <a:ea typeface="Open Sans"/>
                <a:cs typeface="Open Sans"/>
              </a:rPr>
              <a:t>1/3</a:t>
            </a:r>
            <a:endParaRPr sz="2400" b="1">
              <a:solidFill>
                <a:srgbClr val="BB2019"/>
              </a:solidFill>
              <a:latin typeface="Open Sans"/>
              <a:ea typeface="Open Sans"/>
              <a:cs typeface="Open Sans"/>
            </a:endParaRPr>
          </a:p>
        </p:txBody>
      </p:sp>
      <p:sp>
        <p:nvSpPr>
          <p:cNvPr id="11" name="TextBox 10"/>
          <p:cNvSpPr txBox="1"/>
          <p:nvPr/>
        </p:nvSpPr>
        <p:spPr>
          <a:xfrm>
            <a:off x="9189720" y="1856231"/>
            <a:ext cx="2468880" cy="685800"/>
          </a:xfrm>
          <a:prstGeom prst="rect">
            <a:avLst/>
          </a:prstGeom>
          <a:noFill/>
        </p:spPr>
        <p:txBody>
          <a:bodyPr wrap="square" lIns="36576" tIns="36576" rIns="36576" bIns="36576" anchor="ctr">
            <a:spAutoFit/>
          </a:bodyPr>
          <a:lstStyle/>
          <a:p>
            <a:pPr algn="l">
              <a:spcAft>
                <a:spcPts val="400"/>
              </a:spcAft>
            </a:pPr>
            <a:r>
              <a:rPr sz="1250">
                <a:solidFill>
                  <a:srgbClr val="262626"/>
                </a:solidFill>
                <a:latin typeface="Open Sans"/>
                <a:ea typeface="Open Sans"/>
                <a:cs typeface="Open Sans"/>
              </a:rPr>
              <a:t>máy 1 tự chặn ghi (self-fencing)</a:t>
            </a:r>
            <a:endParaRPr sz="1250">
              <a:solidFill>
                <a:srgbClr val="262626"/>
              </a:solidFill>
              <a:latin typeface="Open Sans"/>
              <a:ea typeface="Open Sans"/>
              <a:cs typeface="Open Sans"/>
            </a:endParaRPr>
          </a:p>
        </p:txBody>
      </p:sp>
      <p:sp>
        <p:nvSpPr>
          <p:cNvPr id="12" name="Rectangle 11"/>
          <p:cNvSpPr/>
          <p:nvPr/>
        </p:nvSpPr>
        <p:spPr>
          <a:xfrm>
            <a:off x="7680960" y="2697480"/>
            <a:ext cx="4069080" cy="804672"/>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TextBox 12"/>
          <p:cNvSpPr txBox="1"/>
          <p:nvPr/>
        </p:nvSpPr>
        <p:spPr>
          <a:xfrm>
            <a:off x="7818120" y="2770632"/>
            <a:ext cx="1371600" cy="640080"/>
          </a:xfrm>
          <a:prstGeom prst="rect">
            <a:avLst/>
          </a:prstGeom>
          <a:noFill/>
        </p:spPr>
        <p:txBody>
          <a:bodyPr wrap="square" lIns="36576" tIns="36576" rIns="36576" bIns="36576" anchor="ctr">
            <a:spAutoFit/>
          </a:bodyPr>
          <a:lstStyle/>
          <a:p>
            <a:pPr algn="l">
              <a:spcAft>
                <a:spcPts val="400"/>
              </a:spcAft>
            </a:pPr>
            <a:r>
              <a:rPr sz="2400" b="1">
                <a:solidFill>
                  <a:srgbClr val="1B7F3B"/>
                </a:solidFill>
                <a:latin typeface="Open Sans"/>
                <a:ea typeface="Open Sans"/>
                <a:cs typeface="Open Sans"/>
              </a:rPr>
              <a:t>~16 s</a:t>
            </a:r>
            <a:endParaRPr sz="2400" b="1">
              <a:solidFill>
                <a:srgbClr val="1B7F3B"/>
              </a:solidFill>
              <a:latin typeface="Open Sans"/>
              <a:ea typeface="Open Sans"/>
              <a:cs typeface="Open Sans"/>
            </a:endParaRPr>
          </a:p>
        </p:txBody>
      </p:sp>
      <p:sp>
        <p:nvSpPr>
          <p:cNvPr id="14" name="TextBox 13"/>
          <p:cNvSpPr txBox="1"/>
          <p:nvPr/>
        </p:nvSpPr>
        <p:spPr>
          <a:xfrm>
            <a:off x="9189720" y="2770632"/>
            <a:ext cx="2468880" cy="685800"/>
          </a:xfrm>
          <a:prstGeom prst="rect">
            <a:avLst/>
          </a:prstGeom>
          <a:noFill/>
        </p:spPr>
        <p:txBody>
          <a:bodyPr wrap="square" lIns="36576" tIns="36576" rIns="36576" bIns="36576" anchor="ctr">
            <a:spAutoFit/>
          </a:bodyPr>
          <a:lstStyle/>
          <a:p>
            <a:pPr algn="l">
              <a:spcAft>
                <a:spcPts val="400"/>
              </a:spcAft>
            </a:pPr>
            <a:r>
              <a:rPr sz="1250">
                <a:solidFill>
                  <a:srgbClr val="262626"/>
                </a:solidFill>
                <a:latin typeface="Open Sans"/>
                <a:ea typeface="Open Sans"/>
                <a:cs typeface="Open Sans"/>
              </a:rPr>
              <a:t>máy 2 + Node 3 bầu máy 2 lên Primary</a:t>
            </a:r>
            <a:endParaRPr sz="1250">
              <a:solidFill>
                <a:srgbClr val="262626"/>
              </a:solidFill>
              <a:latin typeface="Open Sans"/>
              <a:ea typeface="Open Sans"/>
              <a:cs typeface="Open Sans"/>
            </a:endParaRPr>
          </a:p>
        </p:txBody>
      </p:sp>
      <p:sp>
        <p:nvSpPr>
          <p:cNvPr id="15" name="Rectangle 14"/>
          <p:cNvSpPr/>
          <p:nvPr/>
        </p:nvSpPr>
        <p:spPr>
          <a:xfrm>
            <a:off x="7680960" y="3611880"/>
            <a:ext cx="4069080" cy="804672"/>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6" name="TextBox 15"/>
          <p:cNvSpPr txBox="1"/>
          <p:nvPr/>
        </p:nvSpPr>
        <p:spPr>
          <a:xfrm>
            <a:off x="7818120" y="3685032"/>
            <a:ext cx="1371600" cy="640080"/>
          </a:xfrm>
          <a:prstGeom prst="rect">
            <a:avLst/>
          </a:prstGeom>
          <a:noFill/>
        </p:spPr>
        <p:txBody>
          <a:bodyPr wrap="square" lIns="36576" tIns="36576" rIns="36576" bIns="36576" anchor="ctr">
            <a:spAutoFit/>
          </a:bodyPr>
          <a:lstStyle/>
          <a:p>
            <a:pPr algn="l">
              <a:spcAft>
                <a:spcPts val="400"/>
              </a:spcAft>
            </a:pPr>
            <a:r>
              <a:rPr sz="2400" b="1">
                <a:solidFill>
                  <a:srgbClr val="1B7F3B"/>
                </a:solidFill>
                <a:latin typeface="Open Sans"/>
                <a:ea typeface="Open Sans"/>
                <a:cs typeface="Open Sans"/>
              </a:rPr>
              <a:t>~20 s</a:t>
            </a:r>
            <a:endParaRPr sz="2400" b="1">
              <a:solidFill>
                <a:srgbClr val="1B7F3B"/>
              </a:solidFill>
              <a:latin typeface="Open Sans"/>
              <a:ea typeface="Open Sans"/>
              <a:cs typeface="Open Sans"/>
            </a:endParaRPr>
          </a:p>
        </p:txBody>
      </p:sp>
      <p:sp>
        <p:nvSpPr>
          <p:cNvPr id="17" name="TextBox 16"/>
          <p:cNvSpPr txBox="1"/>
          <p:nvPr/>
        </p:nvSpPr>
        <p:spPr>
          <a:xfrm>
            <a:off x="9189720" y="3685032"/>
            <a:ext cx="2468880" cy="685800"/>
          </a:xfrm>
          <a:prstGeom prst="rect">
            <a:avLst/>
          </a:prstGeom>
          <a:noFill/>
        </p:spPr>
        <p:txBody>
          <a:bodyPr wrap="square" lIns="36576" tIns="36576" rIns="36576" bIns="36576" anchor="ctr">
            <a:spAutoFit/>
          </a:bodyPr>
          <a:lstStyle/>
          <a:p>
            <a:pPr algn="l">
              <a:spcAft>
                <a:spcPts val="400"/>
              </a:spcAft>
            </a:pPr>
            <a:r>
              <a:rPr sz="1250">
                <a:solidFill>
                  <a:srgbClr val="262626"/>
                </a:solidFill>
                <a:latin typeface="Open Sans"/>
                <a:ea typeface="Open Sans"/>
                <a:cs typeface="Open Sans"/>
              </a:rPr>
              <a:t>bật Wi-Fi → máy 1 tự hạ cấp về Standby</a:t>
            </a:r>
            <a:endParaRPr sz="1250">
              <a:solidFill>
                <a:srgbClr val="262626"/>
              </a:solidFill>
              <a:latin typeface="Open Sans"/>
              <a:ea typeface="Open Sans"/>
              <a:cs typeface="Open Sans"/>
            </a:endParaRPr>
          </a:p>
        </p:txBody>
      </p:sp>
      <p:sp>
        <p:nvSpPr>
          <p:cNvPr id="18" name="Rectangle 17"/>
          <p:cNvSpPr/>
          <p:nvPr/>
        </p:nvSpPr>
        <p:spPr>
          <a:xfrm>
            <a:off x="457200" y="4526280"/>
            <a:ext cx="5486400" cy="169164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9" name="TextBox 18"/>
          <p:cNvSpPr txBox="1"/>
          <p:nvPr/>
        </p:nvSpPr>
        <p:spPr>
          <a:xfrm>
            <a:off x="640080" y="4617720"/>
            <a:ext cx="5120640" cy="4572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Phía đa số tiếp tục</a:t>
            </a:r>
            <a:endParaRPr sz="1600" b="1">
              <a:solidFill>
                <a:srgbClr val="BB2019"/>
              </a:solidFill>
              <a:latin typeface="Open Sans"/>
              <a:ea typeface="Open Sans"/>
              <a:cs typeface="Open Sans"/>
            </a:endParaRPr>
          </a:p>
        </p:txBody>
      </p:sp>
      <p:sp>
        <p:nvSpPr>
          <p:cNvPr id="20" name="TextBox 19"/>
          <p:cNvSpPr txBox="1"/>
          <p:nvPr/>
        </p:nvSpPr>
        <p:spPr>
          <a:xfrm>
            <a:off x="640080" y="5074920"/>
            <a:ext cx="5120640" cy="109728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Máy 2 + Node 3 (2/3) bầu chủ mới; Frontend LB trên Node 3 chuyển khách sang máy 2.</a:t>
            </a:r>
            <a:endParaRPr sz="1400">
              <a:solidFill>
                <a:srgbClr val="262626"/>
              </a:solidFill>
              <a:latin typeface="Open Sans"/>
              <a:ea typeface="Open Sans"/>
              <a:cs typeface="Open Sans"/>
            </a:endParaRPr>
          </a:p>
        </p:txBody>
      </p:sp>
      <p:sp>
        <p:nvSpPr>
          <p:cNvPr id="21" name="Rectangle 20"/>
          <p:cNvSpPr/>
          <p:nvPr/>
        </p:nvSpPr>
        <p:spPr>
          <a:xfrm>
            <a:off x="6172200" y="4526280"/>
            <a:ext cx="5486400" cy="169164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2" name="TextBox 21"/>
          <p:cNvSpPr txBox="1"/>
          <p:nvPr/>
        </p:nvSpPr>
        <p:spPr>
          <a:xfrm>
            <a:off x="6355080" y="4617720"/>
            <a:ext cx="5120640" cy="4572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Phía thiểu số tự dừng</a:t>
            </a:r>
            <a:endParaRPr sz="1600" b="1">
              <a:solidFill>
                <a:srgbClr val="BB2019"/>
              </a:solidFill>
              <a:latin typeface="Open Sans"/>
              <a:ea typeface="Open Sans"/>
              <a:cs typeface="Open Sans"/>
            </a:endParaRPr>
          </a:p>
        </p:txBody>
      </p:sp>
      <p:sp>
        <p:nvSpPr>
          <p:cNvPr id="23" name="TextBox 22"/>
          <p:cNvSpPr txBox="1"/>
          <p:nvPr/>
        </p:nvSpPr>
        <p:spPr>
          <a:xfrm>
            <a:off x="6355080" y="5074920"/>
            <a:ext cx="5120640" cy="109728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Máy 1 chỉ thấy 1/3 → không chắc mình còn là chủ → chặn ghi. Quay lại thì theo chủ mới.</a:t>
            </a:r>
            <a:endParaRPr sz="1400">
              <a:solidFill>
                <a:srgbClr val="262626"/>
              </a:solidFill>
              <a:latin typeface="Open Sans"/>
              <a:ea typeface="Open Sans"/>
              <a:cs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06 · Bán ở máy 1 — máy 2 thấy ngay (chống “vé ma”)</a:t>
            </a:r>
          </a:p>
        </p:txBody>
      </p:sp>
      <p:sp>
        <p:nvSpPr>
          <p:cNvPr id="3" name="Text Placeholder 2"/>
          <p:cNvSpPr>
            <a:spLocks noGrp="1"/>
          </p:cNvSpPr>
          <p:nvPr>
            <p:ph type="body" sz="quarter" idx="13"/>
          </p:nvPr>
        </p:nvSpPr>
        <p:spPr/>
        <p:txBody>
          <a:bodyPr/>
          <a:lstStyle/>
          <a:p>
            <a:r>
              <a:t>Máy 2 đọc cache và CSDL tại chỗ; câu hỏi là bản sao có kịp cập nhật không</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6</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83080"/>
            <a:ext cx="2606040" cy="1554480"/>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9" name="TextBox 8"/>
          <p:cNvSpPr txBox="1"/>
          <p:nvPr/>
        </p:nvSpPr>
        <p:spPr>
          <a:xfrm>
            <a:off x="621792" y="1856231"/>
            <a:ext cx="2331720" cy="457200"/>
          </a:xfrm>
          <a:prstGeom prst="rect">
            <a:avLst/>
          </a:prstGeom>
          <a:noFill/>
        </p:spPr>
        <p:txBody>
          <a:bodyPr wrap="square" lIns="36576" tIns="36576" rIns="36576" bIns="36576" anchor="t">
            <a:spAutoFit/>
          </a:bodyPr>
          <a:lstStyle/>
          <a:p>
            <a:pPr algn="l">
              <a:spcAft>
                <a:spcPts val="400"/>
              </a:spcAft>
            </a:pPr>
            <a:r>
              <a:rPr sz="1400" b="1">
                <a:solidFill>
                  <a:srgbClr val="1B7F3B"/>
                </a:solidFill>
                <a:latin typeface="Open Sans"/>
                <a:ea typeface="Open Sans"/>
                <a:cs typeface="Open Sans"/>
              </a:rPr>
              <a:t>1 · Máy 2 xem sơ đồ</a:t>
            </a:r>
            <a:endParaRPr sz="1400" b="1">
              <a:solidFill>
                <a:srgbClr val="1B7F3B"/>
              </a:solidFill>
              <a:latin typeface="Open Sans"/>
              <a:ea typeface="Open Sans"/>
              <a:cs typeface="Open Sans"/>
            </a:endParaRPr>
          </a:p>
        </p:txBody>
      </p:sp>
      <p:sp>
        <p:nvSpPr>
          <p:cNvPr id="10" name="TextBox 9"/>
          <p:cNvSpPr txBox="1"/>
          <p:nvPr/>
        </p:nvSpPr>
        <p:spPr>
          <a:xfrm>
            <a:off x="621792" y="2377440"/>
            <a:ext cx="2331720" cy="91440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A20 = available, được nạp vào cache</a:t>
            </a:r>
            <a:endParaRPr sz="1250">
              <a:solidFill>
                <a:srgbClr val="262626"/>
              </a:solidFill>
              <a:latin typeface="Open Sans"/>
              <a:ea typeface="Open Sans"/>
              <a:cs typeface="Open Sans"/>
            </a:endParaRPr>
          </a:p>
        </p:txBody>
      </p:sp>
      <p:cxnSp>
        <p:nvCxnSpPr>
          <p:cNvPr id="11" name="Connector 10"/>
          <p:cNvCxnSpPr/>
          <p:nvPr/>
        </p:nvCxnSpPr>
        <p:spPr>
          <a:xfrm>
            <a:off x="3090672" y="256032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310128" y="1783080"/>
            <a:ext cx="2606040" cy="15544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TextBox 12"/>
          <p:cNvSpPr txBox="1"/>
          <p:nvPr/>
        </p:nvSpPr>
        <p:spPr>
          <a:xfrm>
            <a:off x="3474720" y="1856231"/>
            <a:ext cx="2331720" cy="457200"/>
          </a:xfrm>
          <a:prstGeom prst="rect">
            <a:avLst/>
          </a:prstGeom>
          <a:noFill/>
        </p:spPr>
        <p:txBody>
          <a:bodyPr wrap="square" lIns="36576" tIns="36576" rIns="36576" bIns="36576" anchor="t">
            <a:spAutoFit/>
          </a:bodyPr>
          <a:lstStyle/>
          <a:p>
            <a:pPr algn="l">
              <a:spcAft>
                <a:spcPts val="400"/>
              </a:spcAft>
            </a:pPr>
            <a:r>
              <a:rPr sz="1400" b="1">
                <a:solidFill>
                  <a:srgbClr val="BB2019"/>
                </a:solidFill>
                <a:latin typeface="Open Sans"/>
                <a:ea typeface="Open Sans"/>
                <a:cs typeface="Open Sans"/>
              </a:rPr>
              <a:t>2 · Máy 1 mua A20</a:t>
            </a:r>
            <a:endParaRPr sz="1400" b="1">
              <a:solidFill>
                <a:srgbClr val="BB2019"/>
              </a:solidFill>
              <a:latin typeface="Open Sans"/>
              <a:ea typeface="Open Sans"/>
              <a:cs typeface="Open Sans"/>
            </a:endParaRPr>
          </a:p>
        </p:txBody>
      </p:sp>
      <p:sp>
        <p:nvSpPr>
          <p:cNvPr id="14" name="TextBox 13"/>
          <p:cNvSpPr txBox="1"/>
          <p:nvPr/>
        </p:nvSpPr>
        <p:spPr>
          <a:xfrm>
            <a:off x="3474720" y="2377440"/>
            <a:ext cx="2331720" cy="91440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commit trên Primary + DEL seats:1 ở Redis Master</a:t>
            </a:r>
            <a:endParaRPr sz="1250">
              <a:solidFill>
                <a:srgbClr val="262626"/>
              </a:solidFill>
              <a:latin typeface="Open Sans"/>
              <a:ea typeface="Open Sans"/>
              <a:cs typeface="Open Sans"/>
            </a:endParaRPr>
          </a:p>
        </p:txBody>
      </p:sp>
      <p:cxnSp>
        <p:nvCxnSpPr>
          <p:cNvPr id="15" name="Connector 14"/>
          <p:cNvCxnSpPr/>
          <p:nvPr/>
        </p:nvCxnSpPr>
        <p:spPr>
          <a:xfrm>
            <a:off x="5943600" y="256032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163056" y="1783080"/>
            <a:ext cx="2606040" cy="1554480"/>
          </a:xfrm>
          <a:prstGeom prst="rect">
            <a:avLst/>
          </a:prstGeom>
          <a:solidFill>
            <a:srgbClr val="FDECE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7" name="TextBox 16"/>
          <p:cNvSpPr txBox="1"/>
          <p:nvPr/>
        </p:nvSpPr>
        <p:spPr>
          <a:xfrm>
            <a:off x="6327648" y="1856231"/>
            <a:ext cx="2331720" cy="457200"/>
          </a:xfrm>
          <a:prstGeom prst="rect">
            <a:avLst/>
          </a:prstGeom>
          <a:noFill/>
        </p:spPr>
        <p:txBody>
          <a:bodyPr wrap="square" lIns="36576" tIns="36576" rIns="36576" bIns="36576" anchor="t">
            <a:spAutoFit/>
          </a:bodyPr>
          <a:lstStyle/>
          <a:p>
            <a:pPr algn="l">
              <a:spcAft>
                <a:spcPts val="400"/>
              </a:spcAft>
            </a:pPr>
            <a:r>
              <a:rPr sz="1400" b="1">
                <a:solidFill>
                  <a:srgbClr val="BB2019"/>
                </a:solidFill>
                <a:latin typeface="Open Sans"/>
                <a:ea typeface="Open Sans"/>
                <a:cs typeface="Open Sans"/>
              </a:rPr>
              <a:t>3 · Replication</a:t>
            </a:r>
            <a:endParaRPr sz="1400" b="1">
              <a:solidFill>
                <a:srgbClr val="BB2019"/>
              </a:solidFill>
              <a:latin typeface="Open Sans"/>
              <a:ea typeface="Open Sans"/>
              <a:cs typeface="Open Sans"/>
            </a:endParaRPr>
          </a:p>
        </p:txBody>
      </p:sp>
      <p:sp>
        <p:nvSpPr>
          <p:cNvPr id="18" name="TextBox 17"/>
          <p:cNvSpPr txBox="1"/>
          <p:nvPr/>
        </p:nvSpPr>
        <p:spPr>
          <a:xfrm>
            <a:off x="6327648" y="2377440"/>
            <a:ext cx="2331720" cy="91440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DEL stream sang Replica, WAL sang Standby</a:t>
            </a:r>
            <a:endParaRPr sz="1250">
              <a:solidFill>
                <a:srgbClr val="262626"/>
              </a:solidFill>
              <a:latin typeface="Open Sans"/>
              <a:ea typeface="Open Sans"/>
              <a:cs typeface="Open Sans"/>
            </a:endParaRPr>
          </a:p>
        </p:txBody>
      </p:sp>
      <p:cxnSp>
        <p:nvCxnSpPr>
          <p:cNvPr id="19" name="Connector 18"/>
          <p:cNvCxnSpPr/>
          <p:nvPr/>
        </p:nvCxnSpPr>
        <p:spPr>
          <a:xfrm>
            <a:off x="8796528" y="2560320"/>
            <a:ext cx="201168"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015984" y="1783080"/>
            <a:ext cx="2606040" cy="15544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1" name="TextBox 20"/>
          <p:cNvSpPr txBox="1"/>
          <p:nvPr/>
        </p:nvSpPr>
        <p:spPr>
          <a:xfrm>
            <a:off x="9180576" y="1856231"/>
            <a:ext cx="2331720" cy="457200"/>
          </a:xfrm>
          <a:prstGeom prst="rect">
            <a:avLst/>
          </a:prstGeom>
          <a:noFill/>
        </p:spPr>
        <p:txBody>
          <a:bodyPr wrap="square" lIns="36576" tIns="36576" rIns="36576" bIns="36576" anchor="t">
            <a:spAutoFit/>
          </a:bodyPr>
          <a:lstStyle/>
          <a:p>
            <a:pPr algn="l">
              <a:spcAft>
                <a:spcPts val="400"/>
              </a:spcAft>
            </a:pPr>
            <a:r>
              <a:rPr sz="1400" b="1">
                <a:solidFill>
                  <a:srgbClr val="BB2019"/>
                </a:solidFill>
                <a:latin typeface="Open Sans"/>
                <a:ea typeface="Open Sans"/>
                <a:cs typeface="Open Sans"/>
              </a:rPr>
              <a:t>4 · Máy 2 hỏi lại</a:t>
            </a:r>
            <a:endParaRPr sz="1400" b="1">
              <a:solidFill>
                <a:srgbClr val="BB2019"/>
              </a:solidFill>
              <a:latin typeface="Open Sans"/>
              <a:ea typeface="Open Sans"/>
              <a:cs typeface="Open Sans"/>
            </a:endParaRPr>
          </a:p>
        </p:txBody>
      </p:sp>
      <p:sp>
        <p:nvSpPr>
          <p:cNvPr id="22" name="TextBox 21"/>
          <p:cNvSpPr txBox="1"/>
          <p:nvPr/>
        </p:nvSpPr>
        <p:spPr>
          <a:xfrm>
            <a:off x="9180576" y="2377440"/>
            <a:ext cx="2331720" cy="91440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A20 = booked · đặt lại → 409</a:t>
            </a:r>
            <a:endParaRPr sz="1250">
              <a:solidFill>
                <a:srgbClr val="262626"/>
              </a:solidFill>
              <a:latin typeface="Open Sans"/>
              <a:ea typeface="Open Sans"/>
              <a:cs typeface="Open Sans"/>
            </a:endParaRPr>
          </a:p>
        </p:txBody>
      </p:sp>
      <p:sp>
        <p:nvSpPr>
          <p:cNvPr id="23" name="Rectangle 22"/>
          <p:cNvSpPr/>
          <p:nvPr/>
        </p:nvSpPr>
        <p:spPr>
          <a:xfrm>
            <a:off x="457200" y="3611880"/>
            <a:ext cx="3931920" cy="260604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4" name="TextBox 23"/>
          <p:cNvSpPr txBox="1"/>
          <p:nvPr/>
        </p:nvSpPr>
        <p:spPr>
          <a:xfrm>
            <a:off x="640080" y="3703320"/>
            <a:ext cx="3566160" cy="1097280"/>
          </a:xfrm>
          <a:prstGeom prst="rect">
            <a:avLst/>
          </a:prstGeom>
          <a:noFill/>
        </p:spPr>
        <p:txBody>
          <a:bodyPr wrap="square" lIns="36576" tIns="36576" rIns="36576" bIns="36576" anchor="t">
            <a:spAutoFit/>
          </a:bodyPr>
          <a:lstStyle/>
          <a:p>
            <a:pPr algn="l">
              <a:spcAft>
                <a:spcPts val="400"/>
              </a:spcAft>
            </a:pPr>
            <a:r>
              <a:rPr sz="5400" b="1">
                <a:solidFill>
                  <a:srgbClr val="BB2019"/>
                </a:solidFill>
                <a:latin typeface="Open Sans"/>
                <a:ea typeface="Open Sans"/>
                <a:cs typeface="Open Sans"/>
              </a:rPr>
              <a:t>13 ms</a:t>
            </a:r>
            <a:endParaRPr sz="5400" b="1">
              <a:solidFill>
                <a:srgbClr val="BB2019"/>
              </a:solidFill>
              <a:latin typeface="Open Sans"/>
              <a:ea typeface="Open Sans"/>
              <a:cs typeface="Open Sans"/>
            </a:endParaRPr>
          </a:p>
        </p:txBody>
      </p:sp>
      <p:sp>
        <p:nvSpPr>
          <p:cNvPr id="25" name="TextBox 24"/>
          <p:cNvSpPr txBox="1"/>
          <p:nvPr/>
        </p:nvSpPr>
        <p:spPr>
          <a:xfrm>
            <a:off x="640080" y="4892040"/>
            <a:ext cx="3566160" cy="118872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từ lúc máy 1 bán xong tới lúc máy 2 thấy “booked” (1 lần hỏi)</a:t>
            </a:r>
            <a:endParaRPr sz="1400">
              <a:solidFill>
                <a:srgbClr val="6B5F5D"/>
              </a:solidFill>
              <a:latin typeface="Open Sans"/>
              <a:ea typeface="Open Sans"/>
              <a:cs typeface="Open Sans"/>
            </a:endParaRPr>
          </a:p>
        </p:txBody>
      </p:sp>
      <p:sp>
        <p:nvSpPr>
          <p:cNvPr id="26" name="Rectangle 25"/>
          <p:cNvSpPr/>
          <p:nvPr/>
        </p:nvSpPr>
        <p:spPr>
          <a:xfrm>
            <a:off x="4663440" y="3611880"/>
            <a:ext cx="342900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Nếu mỗi máy một Redis</a:t>
            </a:r>
            <a:endParaRPr sz="1400" b="1">
              <a:solidFill>
                <a:srgbClr val="FFFFFF"/>
              </a:solidFill>
              <a:latin typeface="Open Sans"/>
              <a:ea typeface="Open Sans"/>
              <a:cs typeface="Open Sans"/>
            </a:endParaRPr>
          </a:p>
        </p:txBody>
      </p:sp>
      <p:sp>
        <p:nvSpPr>
          <p:cNvPr id="27" name="Rectangle 26"/>
          <p:cNvSpPr/>
          <p:nvPr/>
        </p:nvSpPr>
        <p:spPr>
          <a:xfrm>
            <a:off x="4663440" y="3995928"/>
            <a:ext cx="3429000" cy="222199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Máy 1 xoá cache của riêng nó</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Máy 2 vẫn giữ “A20 trống” tới 15 s</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Khách máy 2 thấy ghế trống → vé ma</a:t>
            </a:r>
            <a:endParaRPr sz="1300">
              <a:solidFill>
                <a:srgbClr val="262626"/>
              </a:solidFill>
              <a:latin typeface="Open Sans"/>
              <a:ea typeface="Open Sans"/>
              <a:cs typeface="Open Sans"/>
            </a:endParaRPr>
          </a:p>
        </p:txBody>
      </p:sp>
      <p:sp>
        <p:nvSpPr>
          <p:cNvPr id="28" name="Rectangle 27"/>
          <p:cNvSpPr/>
          <p:nvPr/>
        </p:nvSpPr>
        <p:spPr>
          <a:xfrm>
            <a:off x="8321040" y="3611880"/>
            <a:ext cx="342900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Lớp an toàn cuối</a:t>
            </a:r>
            <a:endParaRPr sz="1400" b="1">
              <a:solidFill>
                <a:srgbClr val="FFFFFF"/>
              </a:solidFill>
              <a:latin typeface="Open Sans"/>
              <a:ea typeface="Open Sans"/>
              <a:cs typeface="Open Sans"/>
            </a:endParaRPr>
          </a:p>
        </p:txBody>
      </p:sp>
      <p:sp>
        <p:nvSpPr>
          <p:cNvPr id="29" name="Rectangle 28"/>
          <p:cNvSpPr/>
          <p:nvPr/>
        </p:nvSpPr>
        <p:spPr>
          <a:xfrm>
            <a:off x="8321040" y="3995928"/>
            <a:ext cx="3429000" cy="222199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Bản sao chỉ phục vụ việc xem</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Đặt vé luôn kiểm tra &amp; khoá trên Primary</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Cache trễ cũng không bán trùng</a:t>
            </a:r>
            <a:endParaRPr sz="1300">
              <a:solidFill>
                <a:srgbClr val="262626"/>
              </a:solidFill>
              <a:latin typeface="Open Sans"/>
              <a:ea typeface="Open Sans"/>
              <a:cs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07 · No global clock — mỗi máy một đồng hồ</a:t>
            </a:r>
          </a:p>
        </p:txBody>
      </p:sp>
      <p:sp>
        <p:nvSpPr>
          <p:cNvPr id="3" name="Text Placeholder 2"/>
          <p:cNvSpPr>
            <a:spLocks noGrp="1"/>
          </p:cNvSpPr>
          <p:nvPr>
            <p:ph type="body" sz="quarter" idx="13"/>
          </p:nvPr>
        </p:nvSpPr>
        <p:spPr/>
        <p:txBody>
          <a:bodyPr/>
          <a:lstStyle/>
          <a:p>
            <a:r>
              <a:t>Thuật toán Cristian đo độ lệch đồng hồ của từng máy; một giao dịch mang dấu thời gian của 3 đồng hồ</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7</a:t>
            </a:r>
            <a:endParaRPr sz="1200">
              <a:solidFill>
                <a:srgbClr val="FFFFFF"/>
              </a:solidFill>
              <a:latin typeface="Consolas" panose="020B0609020204030204"/>
              <a:ea typeface="Consolas" panose="020B0609020204030204"/>
              <a:cs typeface="Consolas" panose="020B0609020204030204"/>
            </a:endParaRPr>
          </a:p>
        </p:txBody>
      </p:sp>
      <p:sp>
        <p:nvSpPr>
          <p:cNvPr id="8" name="Rectangle 7"/>
          <p:cNvSpPr/>
          <p:nvPr/>
        </p:nvSpPr>
        <p:spPr>
          <a:xfrm>
            <a:off x="457200" y="1783080"/>
            <a:ext cx="4846320"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250">
                <a:solidFill>
                  <a:srgbClr val="BB2019"/>
                </a:solidFill>
                <a:latin typeface="Consolas" panose="020B0609020204030204"/>
                <a:ea typeface="Consolas" panose="020B0609020204030204"/>
                <a:cs typeface="Consolas" panose="020B0609020204030204"/>
              </a:rPr>
              <a:t>Thuật toán Cristian</a:t>
            </a:r>
            <a:endParaRPr sz="1250">
              <a:solidFill>
                <a:srgbClr val="BB2019"/>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t0 = now()</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T  = GET /health → timestamp của server</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t1 = now()</a:t>
            </a:r>
            <a:endParaRPr sz="1250">
              <a:solidFill>
                <a:srgbClr val="262626"/>
              </a:solidFill>
              <a:latin typeface="Consolas" panose="020B0609020204030204"/>
              <a:ea typeface="Consolas" panose="020B0609020204030204"/>
              <a:cs typeface="Consolas" panose="020B0609020204030204"/>
            </a:endParaRPr>
          </a:p>
          <a:p>
            <a:pPr algn="l">
              <a:spcAft>
                <a:spcPts val="0"/>
              </a:spcAft>
            </a:pPr>
          </a:p>
          <a:p>
            <a:pPr algn="l">
              <a:spcAft>
                <a:spcPts val="0"/>
              </a:spcAft>
            </a:pPr>
            <a:r>
              <a:rPr sz="1250">
                <a:solidFill>
                  <a:srgbClr val="BB2019"/>
                </a:solidFill>
                <a:latin typeface="Consolas" panose="020B0609020204030204"/>
                <a:ea typeface="Consolas" panose="020B0609020204030204"/>
                <a:cs typeface="Consolas" panose="020B0609020204030204"/>
              </a:rPr>
              <a:t>lệch ≈ T − (t0 + t1) / 2      sai số ± (t1 − t0) / 2</a:t>
            </a:r>
            <a:endParaRPr sz="1250">
              <a:solidFill>
                <a:srgbClr val="BB2019"/>
              </a:solidFill>
              <a:latin typeface="Consolas" panose="020B0609020204030204"/>
              <a:ea typeface="Consolas" panose="020B0609020204030204"/>
              <a:cs typeface="Consolas" panose="020B0609020204030204"/>
            </a:endParaRPr>
          </a:p>
        </p:txBody>
      </p:sp>
      <p:graphicFrame>
        <p:nvGraphicFramePr>
          <p:cNvPr id="9" name="Table 8"/>
          <p:cNvGraphicFramePr>
            <a:graphicFrameLocks noGrp="1"/>
          </p:cNvGraphicFramePr>
          <p:nvPr/>
        </p:nvGraphicFramePr>
        <p:xfrm>
          <a:off x="457200" y="3977639"/>
          <a:ext cx="4846316" cy="1234440"/>
        </p:xfrm>
        <a:graphic>
          <a:graphicData uri="http://schemas.openxmlformats.org/drawingml/2006/table">
            <a:tbl>
              <a:tblPr firstRow="1" bandRow="1">
                <a:tableStyleId>{C083E6E3-FA7D-4D7B-A595-EF9225AFEA82}</a:tableStyleId>
              </a:tblPr>
              <a:tblGrid>
                <a:gridCol w="1097279"/>
                <a:gridCol w="914399"/>
                <a:gridCol w="1371599"/>
                <a:gridCol w="1463039"/>
              </a:tblGrid>
              <a:tr h="411480">
                <a:tc>
                  <a:txBody>
                    <a:bodyPr wrap="square"/>
                    <a:lstStyle/>
                    <a:p>
                      <a:r>
                        <a:rPr sz="1250" b="1">
                          <a:solidFill>
                            <a:srgbClr val="BB2019"/>
                          </a:solidFill>
                          <a:latin typeface="Open Sans"/>
                          <a:ea typeface="Open Sans"/>
                          <a:cs typeface="Open Sans"/>
                        </a:rPr>
                        <a:t>Máy</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RTT</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Lệch</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Sai số</a:t>
                      </a:r>
                      <a:endParaRPr sz="1250" b="1">
                        <a:solidFill>
                          <a:srgbClr val="BB2019"/>
                        </a:solidFill>
                        <a:latin typeface="Open Sans"/>
                        <a:ea typeface="Open Sans"/>
                        <a:cs typeface="Open Sans"/>
                      </a:endParaRPr>
                    </a:p>
                  </a:txBody>
                  <a:tcPr marL="73152" marR="73152" marT="27432" marB="27432" anchor="ctr"/>
                </a:tc>
              </a:tr>
              <a:tr h="411480">
                <a:tc>
                  <a:txBody>
                    <a:bodyPr wrap="square"/>
                    <a:lstStyle/>
                    <a:p>
                      <a:r>
                        <a:rPr sz="1250" b="0">
                          <a:solidFill>
                            <a:srgbClr val="262626"/>
                          </a:solidFill>
                          <a:latin typeface="Open Sans"/>
                          <a:ea typeface="Open Sans"/>
                          <a:cs typeface="Open Sans"/>
                        </a:rPr>
                        <a:t>MÁY 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4 ms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+0,0 ms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 2,0 ms</a:t>
                      </a:r>
                      <a:endParaRPr sz="1250" b="0">
                        <a:solidFill>
                          <a:srgbClr val="262626"/>
                        </a:solidFill>
                        <a:latin typeface="Open Sans"/>
                        <a:ea typeface="Open Sans"/>
                        <a:cs typeface="Open Sans"/>
                      </a:endParaRPr>
                    </a:p>
                  </a:txBody>
                  <a:tcPr marL="73152" marR="73152" marT="27432" marB="27432" anchor="ctr"/>
                </a:tc>
              </a:tr>
              <a:tr h="411480">
                <a:tc>
                  <a:txBody>
                    <a:bodyPr wrap="square"/>
                    <a:lstStyle/>
                    <a:p>
                      <a:r>
                        <a:rPr sz="1250" b="0">
                          <a:solidFill>
                            <a:srgbClr val="262626"/>
                          </a:solidFill>
                          <a:latin typeface="Open Sans"/>
                          <a:ea typeface="Open Sans"/>
                          <a:cs typeface="Open Sans"/>
                        </a:rPr>
                        <a:t>MÁY 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3 ms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−0,5 ms</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 1,5 ms</a:t>
                      </a:r>
                      <a:endParaRPr sz="1250" b="0">
                        <a:solidFill>
                          <a:srgbClr val="262626"/>
                        </a:solidFill>
                        <a:latin typeface="Open Sans"/>
                        <a:ea typeface="Open Sans"/>
                        <a:cs typeface="Open Sans"/>
                      </a:endParaRPr>
                    </a:p>
                  </a:txBody>
                  <a:tcPr marL="73152" marR="73152" marT="27432" marB="27432" anchor="ctr"/>
                </a:tc>
              </a:tr>
            </a:tbl>
          </a:graphicData>
        </a:graphic>
      </p:graphicFrame>
      <p:sp>
        <p:nvSpPr>
          <p:cNvPr id="10" name="TextBox 9"/>
          <p:cNvSpPr txBox="1"/>
          <p:nvPr/>
        </p:nvSpPr>
        <p:spPr>
          <a:xfrm>
            <a:off x="457200" y="5257800"/>
            <a:ext cx="4846320" cy="914400"/>
          </a:xfrm>
          <a:prstGeom prst="rect">
            <a:avLst/>
          </a:prstGeom>
          <a:noFill/>
        </p:spPr>
        <p:txBody>
          <a:bodyPr wrap="square" lIns="36576" tIns="36576" rIns="36576" bIns="36576" anchor="t">
            <a:spAutoFit/>
          </a:bodyPr>
          <a:lstStyle/>
          <a:p>
            <a:pPr algn="l">
              <a:spcAft>
                <a:spcPts val="400"/>
              </a:spcAft>
            </a:pPr>
            <a:r>
              <a:rPr sz="1200">
                <a:solidFill>
                  <a:srgbClr val="6B5F5D"/>
                </a:solidFill>
                <a:latin typeface="Open Sans"/>
                <a:ea typeface="Open Sans"/>
                <a:cs typeface="Open Sans"/>
              </a:rPr>
              <a:t>Số đo khi tập dượt trên 1 laptop (chung đồng hồ). Trên 2 laptop thật đo trực tiếp tại buổi bảo vệ.</a:t>
            </a:r>
            <a:endParaRPr sz="1200">
              <a:solidFill>
                <a:srgbClr val="6B5F5D"/>
              </a:solidFill>
              <a:latin typeface="Open Sans"/>
              <a:ea typeface="Open Sans"/>
              <a:cs typeface="Open Sans"/>
            </a:endParaRPr>
          </a:p>
        </p:txBody>
      </p:sp>
      <p:graphicFrame>
        <p:nvGraphicFramePr>
          <p:cNvPr id="11" name="Table 10"/>
          <p:cNvGraphicFramePr>
            <a:graphicFrameLocks noGrp="1"/>
          </p:cNvGraphicFramePr>
          <p:nvPr/>
        </p:nvGraphicFramePr>
        <p:xfrm>
          <a:off x="5577840" y="1783080"/>
          <a:ext cx="6172200" cy="2286000"/>
        </p:xfrm>
        <a:graphic>
          <a:graphicData uri="http://schemas.openxmlformats.org/drawingml/2006/table">
            <a:tbl>
              <a:tblPr firstRow="1" bandRow="1">
                <a:tableStyleId>{C083E6E3-FA7D-4D7B-A595-EF9225AFEA82}</a:tableStyleId>
              </a:tblPr>
              <a:tblGrid>
                <a:gridCol w="2468880"/>
                <a:gridCol w="2240280"/>
                <a:gridCol w="1463040"/>
              </a:tblGrid>
              <a:tr h="457200">
                <a:tc>
                  <a:txBody>
                    <a:bodyPr wrap="square"/>
                    <a:lstStyle/>
                    <a:p>
                      <a:r>
                        <a:rPr sz="1250" b="1">
                          <a:solidFill>
                            <a:srgbClr val="BB2019"/>
                          </a:solidFill>
                          <a:latin typeface="Open Sans"/>
                          <a:ea typeface="Open Sans"/>
                          <a:cs typeface="Open Sans"/>
                        </a:rPr>
                        <a:t>Sự kiện (thứ tự nhân quả)</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Đồng hồ của</a:t>
                      </a:r>
                      <a:endParaRPr sz="1250" b="1">
                        <a:solidFill>
                          <a:srgbClr val="BB2019"/>
                        </a:solidFill>
                        <a:latin typeface="Open Sans"/>
                        <a:ea typeface="Open Sans"/>
                        <a:cs typeface="Open Sans"/>
                      </a:endParaRPr>
                    </a:p>
                  </a:txBody>
                  <a:tcPr marL="73152" marR="73152" marT="27432" marB="27432" anchor="ctr"/>
                </a:tc>
                <a:tc>
                  <a:txBody>
                    <a:bodyPr wrap="square"/>
                    <a:lstStyle/>
                    <a:p>
                      <a:r>
                        <a:rPr sz="1250" b="1">
                          <a:solidFill>
                            <a:srgbClr val="BB2019"/>
                          </a:solidFill>
                          <a:latin typeface="Open Sans"/>
                          <a:ea typeface="Open Sans"/>
                          <a:cs typeface="Open Sans"/>
                        </a:rPr>
                        <a:t>So với lúc gửi</a:t>
                      </a:r>
                      <a:endParaRPr sz="1250" b="1">
                        <a:solidFill>
                          <a:srgbClr val="BB2019"/>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Client gửi yêu cầu</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demo</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+0 ms</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Ghi vé vào CSDL (created_at)</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PostgreSQL Primary · máy 1</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+43 ms</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booking-service trả kết quả</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container booking · máy 2</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+50 ms</a:t>
                      </a:r>
                      <a:endParaRPr sz="1250" b="0">
                        <a:solidFill>
                          <a:srgbClr val="262626"/>
                        </a:solidFill>
                        <a:latin typeface="Open Sans"/>
                        <a:ea typeface="Open Sans"/>
                        <a:cs typeface="Open Sans"/>
                      </a:endParaRPr>
                    </a:p>
                  </a:txBody>
                  <a:tcPr marL="73152" marR="73152" marT="27432" marB="27432" anchor="ctr"/>
                </a:tc>
              </a:tr>
              <a:tr h="457200">
                <a:tc>
                  <a:txBody>
                    <a:bodyPr wrap="square"/>
                    <a:lstStyle/>
                    <a:p>
                      <a:r>
                        <a:rPr sz="1250" b="0">
                          <a:solidFill>
                            <a:srgbClr val="262626"/>
                          </a:solidFill>
                          <a:latin typeface="Open Sans"/>
                          <a:ea typeface="Open Sans"/>
                          <a:cs typeface="Open Sans"/>
                        </a:rPr>
                        <a:t>Client nhận phản hồi</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máy demo</a:t>
                      </a:r>
                      <a:endParaRPr sz="1250" b="0">
                        <a:solidFill>
                          <a:srgbClr val="262626"/>
                        </a:solidFill>
                        <a:latin typeface="Open Sans"/>
                        <a:ea typeface="Open Sans"/>
                        <a:cs typeface="Open Sans"/>
                      </a:endParaRPr>
                    </a:p>
                  </a:txBody>
                  <a:tcPr marL="73152" marR="73152" marT="27432" marB="27432" anchor="ctr"/>
                </a:tc>
                <a:tc>
                  <a:txBody>
                    <a:bodyPr wrap="square"/>
                    <a:lstStyle/>
                    <a:p>
                      <a:r>
                        <a:rPr sz="1250" b="0">
                          <a:solidFill>
                            <a:srgbClr val="262626"/>
                          </a:solidFill>
                          <a:latin typeface="Open Sans"/>
                          <a:ea typeface="Open Sans"/>
                          <a:cs typeface="Open Sans"/>
                        </a:rPr>
                        <a:t>+55 ms</a:t>
                      </a:r>
                      <a:endParaRPr sz="1250" b="0">
                        <a:solidFill>
                          <a:srgbClr val="262626"/>
                        </a:solidFill>
                        <a:latin typeface="Open Sans"/>
                        <a:ea typeface="Open Sans"/>
                        <a:cs typeface="Open Sans"/>
                      </a:endParaRPr>
                    </a:p>
                  </a:txBody>
                  <a:tcPr marL="73152" marR="73152" marT="27432" marB="27432" anchor="ctr"/>
                </a:tc>
              </a:tr>
            </a:tbl>
          </a:graphicData>
        </a:graphic>
      </p:graphicFrame>
      <p:sp>
        <p:nvSpPr>
          <p:cNvPr id="12" name="Rectangle 11"/>
          <p:cNvSpPr/>
          <p:nvPr/>
        </p:nvSpPr>
        <p:spPr>
          <a:xfrm>
            <a:off x="5577840" y="4343400"/>
            <a:ext cx="617220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Phân xử “ai đặt trước” bằng gì?</a:t>
            </a:r>
            <a:endParaRPr sz="1400" b="1">
              <a:solidFill>
                <a:srgbClr val="FFFFFF"/>
              </a:solidFill>
              <a:latin typeface="Open Sans"/>
              <a:ea typeface="Open Sans"/>
              <a:cs typeface="Open Sans"/>
            </a:endParaRPr>
          </a:p>
        </p:txBody>
      </p:sp>
      <p:sp>
        <p:nvSpPr>
          <p:cNvPr id="13" name="Rectangle 12"/>
          <p:cNvSpPr/>
          <p:nvPr/>
        </p:nvSpPr>
        <p:spPr>
          <a:xfrm>
            <a:off x="5577840" y="4727448"/>
            <a:ext cx="6172200" cy="149047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Không dùng timestamp: đồng hồ 2 máy lệch, đo lệch luôn có sai số</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Dùng một điểm phân xử chung (khoá trên Primary) + nhân quả (Lamport)</a:t>
            </a:r>
            <a:endParaRPr sz="1300">
              <a:solidFill>
                <a:srgbClr val="262626"/>
              </a:solidFill>
              <a:latin typeface="Open Sans"/>
              <a:ea typeface="Open Sans"/>
              <a:cs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Demo 08 &amp; 09 (bổ sung) · Mở rộng ngang và circuit breaker</a:t>
            </a:r>
          </a:p>
        </p:txBody>
      </p:sp>
      <p:sp>
        <p:nvSpPr>
          <p:cNvPr id="3" name="Text Placeholder 2"/>
          <p:cNvSpPr>
            <a:spLocks noGrp="1"/>
          </p:cNvSpPr>
          <p:nvPr>
            <p:ph type="body" sz="quarter" idx="13"/>
          </p:nvPr>
        </p:nvSpPr>
        <p:spPr/>
        <p:txBody>
          <a:bodyPr/>
          <a:lstStyle/>
          <a:p>
            <a:r>
              <a:t>Nhân bản dịch vụ phi trạng thái · ngắt mạch khi dịch vụ phụ thuộc chết</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ounded Rectangle 6"/>
          <p:cNvSpPr/>
          <p:nvPr/>
        </p:nvSpPr>
        <p:spPr>
          <a:xfrm>
            <a:off x="7635240" y="1170432"/>
            <a:ext cx="4160520" cy="347472"/>
          </a:xfrm>
          <a:prstGeom prst="roundRect">
            <a:avLst>
              <a:gd name="adj" fmla="val 20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200">
                <a:solidFill>
                  <a:srgbClr val="FFD5D5"/>
                </a:solidFill>
                <a:latin typeface="Consolas" panose="020B0609020204030204"/>
                <a:ea typeface="Consolas" panose="020B0609020204030204"/>
                <a:cs typeface="Consolas" panose="020B0609020204030204"/>
              </a:rPr>
              <a:t>$ </a:t>
            </a:r>
            <a:r>
              <a:rPr sz="1200">
                <a:solidFill>
                  <a:srgbClr val="FFFFFF"/>
                </a:solidFill>
                <a:latin typeface="Consolas" panose="020B0609020204030204"/>
                <a:ea typeface="Consolas" panose="020B0609020204030204"/>
                <a:cs typeface="Consolas" panose="020B0609020204030204"/>
              </a:rPr>
              <a:t>node demo/run.mjs 8  ·  9</a:t>
            </a:r>
            <a:endParaRPr sz="1200">
              <a:solidFill>
                <a:srgbClr val="FFFFFF"/>
              </a:solidFill>
              <a:latin typeface="Consolas" panose="020B0609020204030204"/>
              <a:ea typeface="Consolas" panose="020B0609020204030204"/>
              <a:cs typeface="Consolas" panose="020B0609020204030204"/>
            </a:endParaRPr>
          </a:p>
        </p:txBody>
      </p:sp>
      <p:graphicFrame>
        <p:nvGraphicFramePr>
          <p:cNvPr id="8" name="Table 7"/>
          <p:cNvGraphicFramePr>
            <a:graphicFrameLocks noGrp="1"/>
          </p:cNvGraphicFramePr>
          <p:nvPr/>
        </p:nvGraphicFramePr>
        <p:xfrm>
          <a:off x="457200" y="1783080"/>
          <a:ext cx="3931918" cy="2057400"/>
        </p:xfrm>
        <a:graphic>
          <a:graphicData uri="http://schemas.openxmlformats.org/drawingml/2006/table">
            <a:tbl>
              <a:tblPr firstRow="1" bandRow="1">
                <a:tableStyleId>{C083E6E3-FA7D-4D7B-A595-EF9225AFEA82}</a:tableStyleId>
              </a:tblPr>
              <a:tblGrid>
                <a:gridCol w="2468879"/>
                <a:gridCol w="1463039"/>
              </a:tblGrid>
              <a:tr h="411480">
                <a:tc>
                  <a:txBody>
                    <a:bodyPr wrap="square"/>
                    <a:lstStyle/>
                    <a:p>
                      <a:r>
                        <a:rPr sz="1200" b="1">
                          <a:solidFill>
                            <a:srgbClr val="BB2019"/>
                          </a:solidFill>
                          <a:latin typeface="Open Sans"/>
                          <a:ea typeface="Open Sans"/>
                          <a:cs typeface="Open Sans"/>
                        </a:rPr>
                        <a:t>Bản sao booking</a:t>
                      </a:r>
                      <a:endParaRPr sz="1200" b="1">
                        <a:solidFill>
                          <a:srgbClr val="BB2019"/>
                        </a:solidFill>
                        <a:latin typeface="Open Sans"/>
                        <a:ea typeface="Open Sans"/>
                        <a:cs typeface="Open Sans"/>
                      </a:endParaRPr>
                    </a:p>
                  </a:txBody>
                  <a:tcPr marL="73152" marR="73152" marT="27432" marB="27432" anchor="ctr"/>
                </a:tc>
                <a:tc>
                  <a:txBody>
                    <a:bodyPr wrap="square"/>
                    <a:lstStyle/>
                    <a:p>
                      <a:r>
                        <a:rPr sz="1200" b="1">
                          <a:solidFill>
                            <a:srgbClr val="BB2019"/>
                          </a:solidFill>
                          <a:latin typeface="Open Sans"/>
                          <a:ea typeface="Open Sans"/>
                          <a:cs typeface="Open Sans"/>
                        </a:rPr>
                        <a:t>Lượt xử lý</a:t>
                      </a:r>
                      <a:endParaRPr sz="1200" b="1">
                        <a:solidFill>
                          <a:srgbClr val="BB2019"/>
                        </a:solidFill>
                        <a:latin typeface="Open Sans"/>
                        <a:ea typeface="Open Sans"/>
                        <a:cs typeface="Open Sans"/>
                      </a:endParaRPr>
                    </a:p>
                  </a:txBody>
                  <a:tcPr marL="73152" marR="73152" marT="27432" marB="27432" anchor="ctr"/>
                </a:tc>
              </a:tr>
              <a:tr h="411480">
                <a:tc>
                  <a:txBody>
                    <a:bodyPr wrap="square"/>
                    <a:lstStyle/>
                    <a:p>
                      <a:r>
                        <a:rPr sz="1200" b="0">
                          <a:solidFill>
                            <a:srgbClr val="262626"/>
                          </a:solidFill>
                          <a:latin typeface="Open Sans"/>
                          <a:ea typeface="Open Sans"/>
                          <a:cs typeface="Open Sans"/>
                        </a:rPr>
                        <a:t>node1-booking-service-1</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4</a:t>
                      </a:r>
                      <a:endParaRPr sz="1200" b="0">
                        <a:solidFill>
                          <a:srgbClr val="262626"/>
                        </a:solidFill>
                        <a:latin typeface="Open Sans"/>
                        <a:ea typeface="Open Sans"/>
                        <a:cs typeface="Open Sans"/>
                      </a:endParaRPr>
                    </a:p>
                  </a:txBody>
                  <a:tcPr marL="73152" marR="73152" marT="27432" marB="27432" anchor="ctr"/>
                </a:tc>
              </a:tr>
              <a:tr h="411480">
                <a:tc>
                  <a:txBody>
                    <a:bodyPr wrap="square"/>
                    <a:lstStyle/>
                    <a:p>
                      <a:r>
                        <a:rPr sz="1200" b="0">
                          <a:solidFill>
                            <a:srgbClr val="262626"/>
                          </a:solidFill>
                          <a:latin typeface="Open Sans"/>
                          <a:ea typeface="Open Sans"/>
                          <a:cs typeface="Open Sans"/>
                        </a:rPr>
                        <a:t>node1-booking-service-2</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4</a:t>
                      </a:r>
                      <a:endParaRPr sz="1200" b="0">
                        <a:solidFill>
                          <a:srgbClr val="262626"/>
                        </a:solidFill>
                        <a:latin typeface="Open Sans"/>
                        <a:ea typeface="Open Sans"/>
                        <a:cs typeface="Open Sans"/>
                      </a:endParaRPr>
                    </a:p>
                  </a:txBody>
                  <a:tcPr marL="73152" marR="73152" marT="27432" marB="27432" anchor="ctr"/>
                </a:tc>
              </a:tr>
              <a:tr h="411480">
                <a:tc>
                  <a:txBody>
                    <a:bodyPr wrap="square"/>
                    <a:lstStyle/>
                    <a:p>
                      <a:r>
                        <a:rPr sz="1200" b="0">
                          <a:solidFill>
                            <a:srgbClr val="262626"/>
                          </a:solidFill>
                          <a:latin typeface="Open Sans"/>
                          <a:ea typeface="Open Sans"/>
                          <a:cs typeface="Open Sans"/>
                        </a:rPr>
                        <a:t>node1-booking-service-3</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4</a:t>
                      </a:r>
                      <a:endParaRPr sz="1200" b="0">
                        <a:solidFill>
                          <a:srgbClr val="262626"/>
                        </a:solidFill>
                        <a:latin typeface="Open Sans"/>
                        <a:ea typeface="Open Sans"/>
                        <a:cs typeface="Open Sans"/>
                      </a:endParaRPr>
                    </a:p>
                  </a:txBody>
                  <a:tcPr marL="73152" marR="73152" marT="27432" marB="27432" anchor="ctr"/>
                </a:tc>
              </a:tr>
              <a:tr h="411480">
                <a:tc>
                  <a:txBody>
                    <a:bodyPr wrap="square"/>
                    <a:lstStyle/>
                    <a:p>
                      <a:r>
                        <a:rPr sz="1200" b="0">
                          <a:solidFill>
                            <a:srgbClr val="262626"/>
                          </a:solidFill>
                          <a:latin typeface="Open Sans"/>
                          <a:ea typeface="Open Sans"/>
                          <a:cs typeface="Open Sans"/>
                        </a:rPr>
                        <a:t>12 lượt đặt vé</a:t>
                      </a:r>
                      <a:endParaRPr sz="1200" b="0">
                        <a:solidFill>
                          <a:srgbClr val="262626"/>
                        </a:solidFill>
                        <a:latin typeface="Open Sans"/>
                        <a:ea typeface="Open Sans"/>
                        <a:cs typeface="Open Sans"/>
                      </a:endParaRPr>
                    </a:p>
                  </a:txBody>
                  <a:tcPr marL="73152" marR="73152" marT="27432" marB="27432" anchor="ctr"/>
                </a:tc>
                <a:tc>
                  <a:txBody>
                    <a:bodyPr wrap="square"/>
                    <a:lstStyle/>
                    <a:p>
                      <a:r>
                        <a:rPr sz="1200" b="0">
                          <a:solidFill>
                            <a:srgbClr val="262626"/>
                          </a:solidFill>
                          <a:latin typeface="Open Sans"/>
                          <a:ea typeface="Open Sans"/>
                          <a:cs typeface="Open Sans"/>
                        </a:rPr>
                        <a:t>12/12 thành công</a:t>
                      </a:r>
                      <a:endParaRPr sz="1200" b="0">
                        <a:solidFill>
                          <a:srgbClr val="262626"/>
                        </a:solidFill>
                        <a:latin typeface="Open Sans"/>
                        <a:ea typeface="Open Sans"/>
                        <a:cs typeface="Open Sans"/>
                      </a:endParaRPr>
                    </a:p>
                  </a:txBody>
                  <a:tcPr marL="73152" marR="73152" marT="27432" marB="27432" anchor="ctr"/>
                </a:tc>
              </a:tr>
            </a:tbl>
          </a:graphicData>
        </a:graphic>
      </p:graphicFrame>
      <p:graphicFrame>
        <p:nvGraphicFramePr>
          <p:cNvPr id="9" name="Chart 8"/>
          <p:cNvGraphicFramePr>
            <a:graphicFrameLocks noGrp="1"/>
          </p:cNvGraphicFramePr>
          <p:nvPr/>
        </p:nvGraphicFramePr>
        <p:xfrm>
          <a:off x="457200" y="3931920"/>
          <a:ext cx="3931920" cy="2286000"/>
        </p:xfrm>
        <a:graphic>
          <a:graphicData uri="http://schemas.openxmlformats.org/drawingml/2006/chart">
            <c:chart xmlns:c="http://schemas.openxmlformats.org/drawingml/2006/chart" xmlns:r="http://schemas.openxmlformats.org/officeDocument/2006/relationships" r:id="rId1"/>
          </a:graphicData>
        </a:graphic>
      </p:graphicFrame>
      <p:sp>
        <p:nvSpPr>
          <p:cNvPr id="10" name="Rounded Rectangle 9"/>
          <p:cNvSpPr/>
          <p:nvPr/>
        </p:nvSpPr>
        <p:spPr>
          <a:xfrm>
            <a:off x="4709160" y="1783080"/>
            <a:ext cx="1554480" cy="548640"/>
          </a:xfrm>
          <a:prstGeom prst="roundRect">
            <a:avLst>
              <a:gd name="adj" fmla="val 3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1B7F3B"/>
                </a:solidFill>
                <a:latin typeface="Open Sans"/>
                <a:ea typeface="Open Sans"/>
                <a:cs typeface="Open Sans"/>
              </a:rPr>
              <a:t>CLOSED</a:t>
            </a:r>
            <a:endParaRPr sz="1300" b="1">
              <a:solidFill>
                <a:srgbClr val="1B7F3B"/>
              </a:solidFill>
              <a:latin typeface="Open Sans"/>
              <a:ea typeface="Open Sans"/>
              <a:cs typeface="Open Sans"/>
            </a:endParaRPr>
          </a:p>
        </p:txBody>
      </p:sp>
      <p:cxnSp>
        <p:nvCxnSpPr>
          <p:cNvPr id="11" name="Connector 10"/>
          <p:cNvCxnSpPr/>
          <p:nvPr/>
        </p:nvCxnSpPr>
        <p:spPr>
          <a:xfrm>
            <a:off x="6281928" y="2057400"/>
            <a:ext cx="19202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92240" y="1783080"/>
            <a:ext cx="1554480" cy="548640"/>
          </a:xfrm>
          <a:prstGeom prst="roundRect">
            <a:avLst>
              <a:gd name="adj" fmla="val 30000"/>
            </a:avLst>
          </a:prstGeom>
          <a:solidFill>
            <a:srgbClr val="FDECE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OPEN</a:t>
            </a:r>
            <a:endParaRPr sz="1300" b="1">
              <a:solidFill>
                <a:srgbClr val="BB2019"/>
              </a:solidFill>
              <a:latin typeface="Open Sans"/>
              <a:ea typeface="Open Sans"/>
              <a:cs typeface="Open Sans"/>
            </a:endParaRPr>
          </a:p>
        </p:txBody>
      </p:sp>
      <p:cxnSp>
        <p:nvCxnSpPr>
          <p:cNvPr id="13" name="Connector 12"/>
          <p:cNvCxnSpPr/>
          <p:nvPr/>
        </p:nvCxnSpPr>
        <p:spPr>
          <a:xfrm>
            <a:off x="8065008" y="2057400"/>
            <a:ext cx="19202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75320" y="1783080"/>
            <a:ext cx="1554480" cy="548640"/>
          </a:xfrm>
          <a:prstGeom prst="roundRect">
            <a:avLst>
              <a:gd name="adj" fmla="val 30000"/>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HALF_OPEN</a:t>
            </a:r>
            <a:endParaRPr sz="1300" b="1">
              <a:solidFill>
                <a:srgbClr val="BB2019"/>
              </a:solidFill>
              <a:latin typeface="Open Sans"/>
              <a:ea typeface="Open Sans"/>
              <a:cs typeface="Open Sans"/>
            </a:endParaRPr>
          </a:p>
        </p:txBody>
      </p:sp>
      <p:cxnSp>
        <p:nvCxnSpPr>
          <p:cNvPr id="15" name="Connector 14"/>
          <p:cNvCxnSpPr/>
          <p:nvPr/>
        </p:nvCxnSpPr>
        <p:spPr>
          <a:xfrm>
            <a:off x="9848088" y="2057400"/>
            <a:ext cx="19202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58400" y="1783080"/>
            <a:ext cx="1554480" cy="548640"/>
          </a:xfrm>
          <a:prstGeom prst="roundRect">
            <a:avLst>
              <a:gd name="adj" fmla="val 3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1B7F3B"/>
                </a:solidFill>
                <a:latin typeface="Open Sans"/>
                <a:ea typeface="Open Sans"/>
                <a:cs typeface="Open Sans"/>
              </a:rPr>
              <a:t>CLOSED</a:t>
            </a:r>
            <a:endParaRPr sz="1300" b="1">
              <a:solidFill>
                <a:srgbClr val="1B7F3B"/>
              </a:solidFill>
              <a:latin typeface="Open Sans"/>
              <a:ea typeface="Open Sans"/>
              <a:cs typeface="Open Sans"/>
            </a:endParaRPr>
          </a:p>
        </p:txBody>
      </p:sp>
      <p:sp>
        <p:nvSpPr>
          <p:cNvPr id="17" name="TextBox 16"/>
          <p:cNvSpPr txBox="1"/>
          <p:nvPr/>
        </p:nvSpPr>
        <p:spPr>
          <a:xfrm>
            <a:off x="5989320" y="2377440"/>
            <a:ext cx="1463040" cy="274320"/>
          </a:xfrm>
          <a:prstGeom prst="rect">
            <a:avLst/>
          </a:prstGeom>
          <a:noFill/>
        </p:spPr>
        <p:txBody>
          <a:bodyPr wrap="square" lIns="36576" tIns="36576" rIns="36576" bIns="36576" anchor="t">
            <a:spAutoFit/>
          </a:bodyPr>
          <a:lstStyle/>
          <a:p>
            <a:pPr algn="ctr">
              <a:spcAft>
                <a:spcPts val="400"/>
              </a:spcAft>
            </a:pPr>
            <a:r>
              <a:rPr sz="1050">
                <a:solidFill>
                  <a:srgbClr val="6B5F5D"/>
                </a:solidFill>
                <a:latin typeface="Open Sans"/>
                <a:ea typeface="Open Sans"/>
                <a:cs typeface="Open Sans"/>
              </a:rPr>
              <a:t>5 lỗi liên tiếp</a:t>
            </a:r>
            <a:endParaRPr sz="1050">
              <a:solidFill>
                <a:srgbClr val="6B5F5D"/>
              </a:solidFill>
              <a:latin typeface="Open Sans"/>
              <a:ea typeface="Open Sans"/>
              <a:cs typeface="Open Sans"/>
            </a:endParaRPr>
          </a:p>
        </p:txBody>
      </p:sp>
      <p:sp>
        <p:nvSpPr>
          <p:cNvPr id="18" name="TextBox 17"/>
          <p:cNvSpPr txBox="1"/>
          <p:nvPr/>
        </p:nvSpPr>
        <p:spPr>
          <a:xfrm>
            <a:off x="7772400" y="2377440"/>
            <a:ext cx="1463040" cy="274320"/>
          </a:xfrm>
          <a:prstGeom prst="rect">
            <a:avLst/>
          </a:prstGeom>
          <a:noFill/>
        </p:spPr>
        <p:txBody>
          <a:bodyPr wrap="square" lIns="36576" tIns="36576" rIns="36576" bIns="36576" anchor="t">
            <a:spAutoFit/>
          </a:bodyPr>
          <a:lstStyle/>
          <a:p>
            <a:pPr algn="ctr">
              <a:spcAft>
                <a:spcPts val="400"/>
              </a:spcAft>
            </a:pPr>
            <a:r>
              <a:rPr sz="1050">
                <a:solidFill>
                  <a:srgbClr val="6B5F5D"/>
                </a:solidFill>
                <a:latin typeface="Open Sans"/>
                <a:ea typeface="Open Sans"/>
                <a:cs typeface="Open Sans"/>
              </a:rPr>
              <a:t>sau 15 s</a:t>
            </a:r>
            <a:endParaRPr sz="1050">
              <a:solidFill>
                <a:srgbClr val="6B5F5D"/>
              </a:solidFill>
              <a:latin typeface="Open Sans"/>
              <a:ea typeface="Open Sans"/>
              <a:cs typeface="Open Sans"/>
            </a:endParaRPr>
          </a:p>
        </p:txBody>
      </p:sp>
      <p:sp>
        <p:nvSpPr>
          <p:cNvPr id="19" name="TextBox 18"/>
          <p:cNvSpPr txBox="1"/>
          <p:nvPr/>
        </p:nvSpPr>
        <p:spPr>
          <a:xfrm>
            <a:off x="9555480" y="2377440"/>
            <a:ext cx="1463040" cy="274320"/>
          </a:xfrm>
          <a:prstGeom prst="rect">
            <a:avLst/>
          </a:prstGeom>
          <a:noFill/>
        </p:spPr>
        <p:txBody>
          <a:bodyPr wrap="square" lIns="36576" tIns="36576" rIns="36576" bIns="36576" anchor="t">
            <a:spAutoFit/>
          </a:bodyPr>
          <a:lstStyle/>
          <a:p>
            <a:pPr algn="ctr">
              <a:spcAft>
                <a:spcPts val="400"/>
              </a:spcAft>
            </a:pPr>
            <a:r>
              <a:rPr sz="1050">
                <a:solidFill>
                  <a:srgbClr val="6B5F5D"/>
                </a:solidFill>
                <a:latin typeface="Open Sans"/>
                <a:ea typeface="Open Sans"/>
                <a:cs typeface="Open Sans"/>
              </a:rPr>
              <a:t>2 lượt OK</a:t>
            </a:r>
            <a:endParaRPr sz="1050">
              <a:solidFill>
                <a:srgbClr val="6B5F5D"/>
              </a:solidFill>
              <a:latin typeface="Open Sans"/>
              <a:ea typeface="Open Sans"/>
              <a:cs typeface="Open Sans"/>
            </a:endParaRPr>
          </a:p>
        </p:txBody>
      </p:sp>
      <p:graphicFrame>
        <p:nvGraphicFramePr>
          <p:cNvPr id="20" name="Chart 19"/>
          <p:cNvGraphicFramePr>
            <a:graphicFrameLocks noGrp="1"/>
          </p:cNvGraphicFramePr>
          <p:nvPr/>
        </p:nvGraphicFramePr>
        <p:xfrm>
          <a:off x="4709160" y="2788920"/>
          <a:ext cx="3749039"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21" name="Rectangle 20"/>
          <p:cNvSpPr/>
          <p:nvPr/>
        </p:nvSpPr>
        <p:spPr>
          <a:xfrm>
            <a:off x="8686800" y="2788920"/>
            <a:ext cx="306324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350" b="1">
                <a:solidFill>
                  <a:srgbClr val="FFFFFF"/>
                </a:solidFill>
                <a:latin typeface="Open Sans"/>
                <a:ea typeface="Open Sans"/>
                <a:cs typeface="Open Sans"/>
              </a:rPr>
              <a:t>Ý nghĩa</a:t>
            </a:r>
            <a:endParaRPr sz="1350" b="1">
              <a:solidFill>
                <a:srgbClr val="FFFFFF"/>
              </a:solidFill>
              <a:latin typeface="Open Sans"/>
              <a:ea typeface="Open Sans"/>
              <a:cs typeface="Open Sans"/>
            </a:endParaRPr>
          </a:p>
        </p:txBody>
      </p:sp>
      <p:sp>
        <p:nvSpPr>
          <p:cNvPr id="22" name="Rectangle 21"/>
          <p:cNvSpPr/>
          <p:nvPr/>
        </p:nvSpPr>
        <p:spPr>
          <a:xfrm>
            <a:off x="8686800" y="3172968"/>
            <a:ext cx="3063240" cy="3044952"/>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250">
                <a:solidFill>
                  <a:srgbClr val="262626"/>
                </a:solidFill>
                <a:latin typeface="Open Sans"/>
                <a:ea typeface="Open Sans"/>
                <a:cs typeface="Open Sans"/>
              </a:rPr>
              <a:t>Phi trạng thái + LB: scale bằng một lệnh</a:t>
            </a:r>
            <a:endParaRPr sz="12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250">
                <a:solidFill>
                  <a:srgbClr val="262626"/>
                </a:solidFill>
                <a:latin typeface="Open Sans"/>
                <a:ea typeface="Open Sans"/>
                <a:cs typeface="Open Sans"/>
              </a:rPr>
              <a:t>Cache chặn phần lớn lượt đọc</a:t>
            </a:r>
            <a:endParaRPr sz="12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250">
                <a:solidFill>
                  <a:srgbClr val="262626"/>
                </a:solidFill>
                <a:latin typeface="Open Sans"/>
                <a:ea typeface="Open Sans"/>
                <a:cs typeface="Open Sans"/>
              </a:rPr>
              <a:t>Ngắt mạch tránh sập dây chuyền</a:t>
            </a:r>
            <a:endParaRPr sz="12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250">
                <a:solidFill>
                  <a:srgbClr val="262626"/>
                </a:solidFill>
                <a:latin typeface="Open Sans"/>
                <a:ea typeface="Open Sans"/>
                <a:cs typeface="Open Sans"/>
              </a:rPr>
              <a:t>Lỗi 409 không làm mạch mở</a:t>
            </a:r>
            <a:endParaRPr sz="1250">
              <a:solidFill>
                <a:srgbClr val="262626"/>
              </a:solidFill>
              <a:latin typeface="Open Sans"/>
              <a:ea typeface="Open Sans"/>
              <a:cs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Tổng kết</a:t>
            </a:r>
          </a:p>
        </p:txBody>
      </p:sp>
      <p:sp>
        <p:nvSpPr>
          <p:cNvPr id="3" name="Text Placeholder 2"/>
          <p:cNvSpPr>
            <a:spLocks noGrp="1"/>
          </p:cNvSpPr>
          <p:nvPr>
            <p:ph type="body" sz="quarter" idx="13"/>
          </p:nvPr>
        </p:nvSpPr>
        <p:spPr/>
        <p:txBody>
          <a:bodyPr/>
          <a:lstStyle/>
          <a:p>
            <a:r>
              <a:t>Hệ thống chạy thật trên 2 máy + Node 3 cho thấy các đặc trưng phân tán vận hành ra sao</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Demo · Hệ thống đặt vé phân tán: 2 máy + Node 3</a:t>
            </a:r>
            <a:endParaRPr lang="en-US" dirty="0"/>
          </a:p>
        </p:txBody>
      </p:sp>
      <p:sp>
        <p:nvSpPr>
          <p:cNvPr id="7" name="Rectangle 6"/>
          <p:cNvSpPr/>
          <p:nvPr/>
        </p:nvSpPr>
        <p:spPr>
          <a:xfrm>
            <a:off x="457200" y="1325880"/>
            <a:ext cx="3642359" cy="6400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800" b="1">
                <a:solidFill>
                  <a:srgbClr val="FFFFFF"/>
                </a:solidFill>
                <a:latin typeface="Open Sans"/>
                <a:ea typeface="Open Sans"/>
                <a:cs typeface="Open Sans"/>
              </a:rPr>
              <a:t>Trong suốt &amp; đồng thời</a:t>
            </a:r>
            <a:endParaRPr sz="1800" b="1">
              <a:solidFill>
                <a:srgbClr val="FFFFFF"/>
              </a:solidFill>
              <a:latin typeface="Open Sans"/>
              <a:ea typeface="Open Sans"/>
              <a:cs typeface="Open Sans"/>
            </a:endParaRPr>
          </a:p>
        </p:txBody>
      </p:sp>
      <p:sp>
        <p:nvSpPr>
          <p:cNvPr id="8" name="Rectangle 7"/>
          <p:cNvSpPr/>
          <p:nvPr/>
        </p:nvSpPr>
        <p:spPr>
          <a:xfrm>
            <a:off x="457200" y="1965960"/>
            <a:ext cx="3642359" cy="3383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1 URL, 2 máy phía sau</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10 khách ở 2 máy: 1 × 201, 9 × 409</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Một Primary là điểm phân xử duy nhất</a:t>
            </a:r>
            <a:endParaRPr sz="1400">
              <a:solidFill>
                <a:srgbClr val="262626"/>
              </a:solidFill>
              <a:latin typeface="Open Sans"/>
              <a:ea typeface="Open Sans"/>
              <a:cs typeface="Open Sans"/>
            </a:endParaRPr>
          </a:p>
        </p:txBody>
      </p:sp>
      <p:sp>
        <p:nvSpPr>
          <p:cNvPr id="9" name="Rectangle 8"/>
          <p:cNvSpPr/>
          <p:nvPr/>
        </p:nvSpPr>
        <p:spPr>
          <a:xfrm>
            <a:off x="4282439" y="1325880"/>
            <a:ext cx="3642359" cy="6400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800" b="1">
                <a:solidFill>
                  <a:srgbClr val="FFFFFF"/>
                </a:solidFill>
                <a:latin typeface="Open Sans"/>
                <a:ea typeface="Open Sans"/>
                <a:cs typeface="Open Sans"/>
              </a:rPr>
              <a:t>Chịu lỗi</a:t>
            </a:r>
            <a:endParaRPr sz="1800" b="1">
              <a:solidFill>
                <a:srgbClr val="FFFFFF"/>
              </a:solidFill>
              <a:latin typeface="Open Sans"/>
              <a:ea typeface="Open Sans"/>
              <a:cs typeface="Open Sans"/>
            </a:endParaRPr>
          </a:p>
        </p:txBody>
      </p:sp>
      <p:sp>
        <p:nvSpPr>
          <p:cNvPr id="10" name="Rectangle 9"/>
          <p:cNvSpPr/>
          <p:nvPr/>
        </p:nvSpPr>
        <p:spPr>
          <a:xfrm>
            <a:off x="4282439" y="1965960"/>
            <a:ext cx="3642359" cy="3383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Email chết: vẫn bán vé, gửi bù</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Đứt mạng / cô lập: không sinh 2 Primary</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Primary sập: tự failover ~22 s</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Circuit breaker: fallback 3 ms</a:t>
            </a:r>
            <a:endParaRPr sz="1400">
              <a:solidFill>
                <a:srgbClr val="262626"/>
              </a:solidFill>
              <a:latin typeface="Open Sans"/>
              <a:ea typeface="Open Sans"/>
              <a:cs typeface="Open Sans"/>
            </a:endParaRPr>
          </a:p>
        </p:txBody>
      </p:sp>
      <p:sp>
        <p:nvSpPr>
          <p:cNvPr id="11" name="Rectangle 10"/>
          <p:cNvSpPr/>
          <p:nvPr/>
        </p:nvSpPr>
        <p:spPr>
          <a:xfrm>
            <a:off x="8107679" y="1325880"/>
            <a:ext cx="3642359" cy="6400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800" b="1">
                <a:solidFill>
                  <a:srgbClr val="FFFFFF"/>
                </a:solidFill>
                <a:latin typeface="Open Sans"/>
                <a:ea typeface="Open Sans"/>
                <a:cs typeface="Open Sans"/>
              </a:rPr>
              <a:t>Nhân bản &amp; đồng hồ</a:t>
            </a:r>
            <a:endParaRPr sz="1800" b="1">
              <a:solidFill>
                <a:srgbClr val="FFFFFF"/>
              </a:solidFill>
              <a:latin typeface="Open Sans"/>
              <a:ea typeface="Open Sans"/>
              <a:cs typeface="Open Sans"/>
            </a:endParaRPr>
          </a:p>
        </p:txBody>
      </p:sp>
      <p:sp>
        <p:nvSpPr>
          <p:cNvPr id="12" name="Rectangle 11"/>
          <p:cNvSpPr/>
          <p:nvPr/>
        </p:nvSpPr>
        <p:spPr>
          <a:xfrm>
            <a:off x="8107679" y="1965960"/>
            <a:ext cx="3642359" cy="3383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Máy 2 thấy vé đã bán sau 13 ms</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Cache chặn 99,5 % lượt đọc</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Đồng hồ 2 máy lệch: phân xử bằng nhân quả</a:t>
            </a:r>
            <a:endParaRPr sz="1400">
              <a:solidFill>
                <a:srgbClr val="262626"/>
              </a:solidFill>
              <a:latin typeface="Open Sans"/>
              <a:ea typeface="Open Sans"/>
              <a:cs typeface="Open Sans"/>
            </a:endParaRPr>
          </a:p>
        </p:txBody>
      </p:sp>
      <p:sp>
        <p:nvSpPr>
          <p:cNvPr id="13" name="Rectangle 12"/>
          <p:cNvSpPr/>
          <p:nvPr/>
        </p:nvSpPr>
        <p:spPr>
          <a:xfrm>
            <a:off x="457200" y="5532120"/>
            <a:ext cx="11292840" cy="68580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FFFFFF"/>
                </a:solidFill>
                <a:latin typeface="Open Sans"/>
                <a:ea typeface="Open Sans"/>
                <a:cs typeface="Open Sans"/>
              </a:rPr>
              <a:t>Mọi quyết định "ai là chủ" cần đa số 2/3 — thiếu đa số thì dừng ghi, không đoán.</a:t>
            </a:r>
            <a:endParaRPr sz="1600" b="1">
              <a:solidFill>
                <a:srgbClr val="FFFFFF"/>
              </a:solidFill>
              <a:latin typeface="Open Sans"/>
              <a:ea typeface="Open Sans"/>
              <a:cs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3"/>
          </p:nvPr>
        </p:nvSpPr>
        <p:spPr/>
        <p:txBody>
          <a:bodyPr/>
          <a:lstStyle/>
          <a:p>
            <a:r>
              <a:t>Chạy: node demo/run.mjs · Demo Console: http://&lt;IP máy 1&gt;:8090/</a:t>
            </a:r>
          </a:p>
        </p:txBody>
      </p:sp>
      <p:sp>
        <p:nvSpPr>
          <p:cNvPr id="3" name="Text Placeholder 2"/>
          <p:cNvSpPr>
            <a:spLocks noGrp="1"/>
          </p:cNvSpPr>
          <p:nvPr>
            <p:ph type="body" sz="quarter" idx="14"/>
          </p:nvPr>
        </p:nvSpPr>
        <p:spPr/>
        <p:txBody>
          <a:bodyPr/>
          <a:lstStyle/>
          <a:p>
            <a:r>
              <a:t>Mã nguồn &amp; kịch bản: thư mục demo/ · deploy/ · hướng dẫn: DEMO-GUIDE.md</a:t>
            </a:r>
          </a:p>
        </p:txBody>
      </p:sp>
      <p:sp>
        <p:nvSpPr>
          <p:cNvPr id="4" name="Title 3"/>
          <p:cNvSpPr>
            <a:spLocks noGrp="1"/>
          </p:cNvSpPr>
          <p:nvPr>
            <p:ph type="title"/>
          </p:nvPr>
        </p:nvSpPr>
        <p:spPr/>
        <p:txBody>
          <a:bodyPr/>
          <a:lstStyle/>
          <a:p>
            <a:r>
              <a:t>Cảm ơn đã lắng nghe!</a:t>
            </a:r>
          </a:p>
        </p:txBody>
      </p:sp>
      <p:sp>
        <p:nvSpPr>
          <p:cNvPr id="5" name="TextBox 4"/>
          <p:cNvSpPr txBox="1"/>
          <p:nvPr/>
        </p:nvSpPr>
        <p:spPr>
          <a:xfrm>
            <a:off x="539496" y="4114800"/>
            <a:ext cx="11064240" cy="548640"/>
          </a:xfrm>
          <a:prstGeom prst="rect">
            <a:avLst/>
          </a:prstGeom>
          <a:noFill/>
        </p:spPr>
        <p:txBody>
          <a:bodyPr wrap="square" lIns="36576" tIns="36576" rIns="36576" bIns="36576" anchor="t">
            <a:spAutoFit/>
          </a:bodyPr>
          <a:lstStyle/>
          <a:p>
            <a:pPr algn="l">
              <a:spcAft>
                <a:spcPts val="400"/>
              </a:spcAft>
            </a:pPr>
            <a:r>
              <a:rPr sz="2400">
                <a:solidFill>
                  <a:srgbClr val="BB2019"/>
                </a:solidFill>
                <a:latin typeface="Open Sans"/>
                <a:ea typeface="Open Sans"/>
                <a:cs typeface="Open Sans"/>
              </a:rPr>
              <a:t>Mời thầy cô và các bạn đặt câu hỏi</a:t>
            </a:r>
            <a:endParaRPr sz="2400">
              <a:solidFill>
                <a:srgbClr val="BB2019"/>
              </a:solidFill>
              <a:latin typeface="Open Sans"/>
              <a:ea typeface="Open Sans"/>
              <a:cs typeface="Open Sans"/>
            </a:endParaRP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C87D0E"/>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10673</Words>
  <Application>WPS Presentation</Application>
  <PresentationFormat>Widescreen</PresentationFormat>
  <Paragraphs>824</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SimSun</vt:lpstr>
      <vt:lpstr>Wingdings</vt:lpstr>
      <vt:lpstr>Open Sans</vt:lpstr>
      <vt:lpstr>Open Sans</vt:lpstr>
      <vt:lpstr>Consolas</vt:lpstr>
      <vt:lpstr>Arial</vt:lpstr>
      <vt:lpstr>Office Theme</vt:lpstr>
      <vt:lpstr>Hệ thống đặt vé xem phim phân tán</vt:lpstr>
      <vt:lpstr>Mục lục</vt:lpstr>
      <vt:lpstr>Demo: hệ thống đặt vé phân tán</vt:lpstr>
      <vt:lpstr>Kiến trúc: Active-Standby hai máy vật lý + Node 3</vt:lpstr>
      <vt:lpstr>Lần này khắc phục 3 tình huống kiến trúc cũ chưa xử lý</vt:lpstr>
      <vt:lpstr>Đặc trưng hệ phân tán → 10 kịch bản demo</vt:lpstr>
      <vt:lpstr>Demo 01 · Transparency — một địa chỉ, hai máy</vt:lpstr>
      <vt:lpstr>Demo 02 · Concurrency control — 10 khách, 2 máy, 1 ghế</vt:lpstr>
      <vt:lpstr>Demo 03 · Fault tolerance — email &amp; hàng đợi chết từng phần</vt:lpstr>
      <vt:lpstr>Demo 04 · Đứt mạng máy 1 ↔ máy 2 — Node 3 phủ quyết</vt:lpstr>
      <vt:lpstr>Demo 05 · Auto-failover — Primary sập, máy 2 tự lên thay</vt:lpstr>
      <vt:lpstr>Demo 10 · Tắt Wi-Fi máy 1 — Primary sống nhưng bị cô lập</vt:lpstr>
      <vt:lpstr>Demo 06 · Bán ở máy 1 — máy 2 thấy ngay (chống “vé ma”)</vt:lpstr>
      <vt:lpstr>Demo 07 · No global clock — mỗi máy một đồng hồ</vt:lpstr>
      <vt:lpstr>Demo 08 &amp; 09 (bổ sung) · Mở rộng ngang và circuit breaker</vt:lpstr>
      <vt:lpstr>Tổng kết</vt:lpstr>
      <vt:lpstr>Cảm ơn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Ong Minh</dc:creator>
  <cp:lastModifiedBy>lenovo</cp:lastModifiedBy>
  <cp:revision>2</cp:revision>
  <dcterms:created xsi:type="dcterms:W3CDTF">2026-10-07T17:29:00Z</dcterms:created>
  <dcterms:modified xsi:type="dcterms:W3CDTF">2026-10-27T21:24:40Z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F6CE97C0122B4C21A2464874AB76FA36_13</vt:lpwstr>
  </property>
  <property fmtid="{D5CDD505-2E9C-101B-9397-08002B2CF9AE}" pid="3" name="KSOProductBuildVer">
    <vt:lpwstr>1033-12.1.0.29162</vt:lpwstr>
  </property>
</Properties>
</file>