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0E8E6"/>
    <a:srgbClr val="FFD5D5"/>
    <a:srgbClr val="BB201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698443-ABAD-4C82-86F1-05B35E57A414}"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9C0D9C-DE6D-4EB8-B633-7EED17D94252}"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Giới thiệu: nhóm trình bày lý thuyết Chương 3 – Processes, gồm 3.1 Threads và 3.2 Virtualization. Phần demo hệ thống đặt vé phân tán được trình bày ở bộ slide riêng.</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Bố cục 3 phần: lý thuyết luồng (3.1), lý thuyết ảo hoá (3.2) bám sát giáo trình, cuối cùng là tổng kết.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Phần 1: luồng. Câu hỏi trung tâm: vì sao chia một tiến trình thành nhiều luồng lại giúp xây dựng hệ phân tán dễ hơn và nhanh hơn.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Tiến trình là chương trình đang thực thi trên một bộ xử lý ảo do hệ điều hành tạo. Hệ điều hành bảo đảm trong suốt đồng thời: các tiến trình không làm hỏng nhau, cái giá là tạo tiến trình và chuyển tiến trình rất tốn kém. Luồng chỉ giữ tối thiểu thông tin để chia sẻ CPU, nên nhẹ hơn nhiều, nhưng việc bảo vệ dữ liệu dùng chung giữa các luồng là trách nhiệm của lập trình viên.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Khi hai tiến trình giao tiếp qua pipe, hàng đợi thông điệp hay bộ nhớ chia sẻ, phải qua kernel: S1 chuyển từ user sang kernel, S2 chuyển ngữ cảnh từ A sang B, S3 trở lại user. Mỗi lần đổi bảng MMU và xoá TLB. Nếu thay bằng các luồng trong cùng tiến trình, giao tiếp chỉ là dữ liệu dùng chung. Ghi chú 3.1: chi phí trực tiếp chỉ 0,5–1 micro giây, nhưng chi phí gián tiếp do xáo trộn cache lên tới khoảng 80%.</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Bốn lý do: thứ nhất và quan trọng nhất, một lời gọi chặn chỉ chặn một luồng, ví dụ bảng tính có luồng nhập liệu, luồng tính lại công thức và luồng sao lưu. Thứ hai, khai thác song song trên đa lõi. Thứ ba, thay IPC đắt đỏ bằng dữ liệu chung. Thứ tư, cấu trúc phần mềm tự nhiên hơn. Cái giá là phải tự bảo vệ dữ liệu chung.</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Giáo trình dùng Python: tiến trình eve và bob, mỗi tiến trình 3 luồng cùng tăng biến shared_x. Kết quả: trong eve, shared_x tăng 72, 73, 74 – dùng chung; còn bob có bản riêng 85, 86, 87. Lời gọi sleep chỉ dừng luồng, không dừng tiến trình. Lưu ý: CPython gán mọi luồng của một tiến trình lên một lõi, nên vòng lặp bận sẽ bị tuần tự hoá trong tiến trình. Nhóm đã viết lại ví dụ này bằng Node.js – kịch bản demo 02.</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Hai cách cài đặt gói luồng. Mức người dùng: tạo, huỷ, chuyển luồng rất rẻ vì không cần kernel, nhưng là mô hình many-to-one nên một lời gọi chặn chặn cả tiến trình. Mức nhân: one-to-one, mỗi luồng là một thực thể kernel lập lịch, mọi thao tác cần system call. Vì chi phí chuyển ngữ cảnh chủ yếu do cache chứ không do mô hình, đa số hệ điều hành chọn one-to-one cho đơn giản. Many-to-many kết hợp cả hai, ví dụ ngôn ngữ Go. Linux NPTL mà Node.js dùng là one-to-one.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Độ trễ khứ hồi trên WAN có thể tới hàng trăm mili giây. Cách che giấu: bắt đầu giao tiếp rồi làm việc khác ngay. Trình duyệt web là ví dụ: tải HTML xong thì mỗi ảnh, mỗi tệp được một luồng riêng tải về bằng lời gọi chặn bình thường, người dùng vẫn cuộn trang được. Nếu server được nhân bản và cân bằng tải round-robin, các luồng còn kéo dữ liệu song song từ nhiều bản sao. Ghi chú 3.3: trình duyệt có TLP chỉ 1,5–2,5 – đa luồng chủ yếu để tổ chức chương trình.</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Ví dụ file server: luồng dispatcher đọc yêu cầu đến tại một end point quen thuộc, chọn một worker đang rảnh và giao việc. Worker đọc đĩa bằng lời gọi chặn; khi nó bị treo, CPU chuyển sang dispatcher hoặc worker khác. Nếu không có luồng, server đơn luồng phải xử lý trọn từng yêu cầu, trong lúc chờ đĩa thì CPU rảnh và mọi client khác phải đợi.</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Server đa luồng: song song và vẫn dùng lời gọi chặn – dễ lập trình. Đơn luồng: lời gọi chặn nhưng không song song – hiệu năng kém. Máy trạng thái hữu hạn: một luồng duy nhất nhưng lời gọi không chặn; mỗi khi cần I/O thì ghi lại trạng thái yêu cầu rồi xử lý việc khác – đạt song song nhưng khó lập trình vì mất mô hình tiến trình tuần tự. Node.js, nền tảng của hệ thống đặt vé, chính là mô hình máy trạng thái hữu hạn. Cũng có thể dùng nhiều tiến trình như Apache: bảo vệ tốt hơn nhưng giao tiếp đắt hơn.</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Phần 2: ảo hoá. Luồng và tiến trình tạo ảo giác nhiều CPU; ảo hoá mở rộng ảo giác đó sang mọi tài nguyên.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Mọi hệ thống cung cấp một giao diện cho phần mềm phía trên. Ảo hoá là mở rộng hoặc thay thế giao diện đó để mô phỏng một hệ thống khác: chương trình viết cho giao diện A chạy được trên hệ thống B. Ba lý do: phần mềm tầng cao ổn định hơn phần cứng nên cần chạy phần mềm cũ trên nền tảng mới; giảm sự đa dạng của máy chủ, tăng tính khả chuyển; cô lập lỗi và tấn công – đặc biệt quan trọng trong đám mây, dù ảo hoá cũng mang tới mối đe doạ bảo mật mới.</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Máy tính có bốn loại giao diện ở ba mức: tập lệnh ISA giữa phần cứng và phần mềm, chia thành lệnh đặc quyền chỉ hệ điều hành được chạy và lệnh thông thường; giao diện lời gọi hệ thống; và giao diện thư viện API, thường che giấu system call. Ảo hoá có thể chèn ở bất kỳ mức nào.</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Hai cách ảo hoá. Process VM: một runtime cung cấp tập lệnh trừu tượng cho một tiến trình, thông dịch như Java hoặc giả lập như chạy ứng dụng Windows trên Unix. VMM: một lớp che phần cứng nhưng cung cấp trọn tập lệnh, nên nhiều hệ điều hành khách chạy song song. Native VMM chạy trực tiếp trên phần cứng và phải tự viết driver; hosted VMM chạy trên hệ điều hành chủ đáng tin cậy và tận dụng dịch vụ của nó – phổ biến ở trung tâm dữ liệu và đám mây. Máy demo của nhóm chính là trường hợp này: Docker Desktop trên Windows.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Phần lớn mã của ứng dụng, hệ điều hành khách và VMM chạy trực tiếp trên phần cứng. Lệnh đặc quyền là lệnh gây bẫy khi chạy ở user mode. Lệnh nhạy cảm điều khiển là lệnh thay đổi cấu hình máy; lệnh nhạy cảm hành vi là lệnh có tác dụng phụ thuộc mode. Định lý: xây được VMM nếu tập lệnh nhạy cảm là tập con của tập lệnh đặc quyền. x86 có 17 lệnh nhạy cảm không đặc quyền, như POPF. Hai cách giải: full virtualization – VMware quét mã nhị phân và chèn lệnh chuyển quyền điều khiển; paravirtualization – sửa hệ điều hành khách, như Xen.</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Thường ứng dụng không cần đổi tập lệnh hay hệ điều hành, chỉ cần thư viện riêng. Container là tập các tệp nhị phân (image) tạo nên môi trường chạy. Cài đặt ngây thơ là chroot vào một thư mục chứa bản sao môi trường, nhưng chưa đủ: cần cô lập, cần chia sẻ hiệu quả và cần kiểm soát tài nguyên. Linux giải bằng ba cơ chế: namespaces cho mỗi nhóm tiến trình cái nhìn riêng về định danh; union file system xếp chồng các lớp chỉ đọc, chỉ lớp trên cùng ghi được; cgroups giới hạn RAM, CPU. Lệnh unshare trong giáo trình tạo PID namespace mới với tiến trình bash là PID 1.</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Hình 3.12: container là một kho tệp đặt ở đâu đó trong hệ thống tệp cùng một chồng thư mục dùng chung chỉ đọc; tiến trình bên trong thấy mình là duy nhất nhờ namespace và bị giới hạn bởi cgroups. PlanetLab là cụm diện rộng hàng trăm nút do nhiều tổ chức đóng góp, mỗi nút chạy VMM Linux với các Vserver – thực chất là container. Một slice là tập Vserver trên nhiều nút, tức một cụm server ảo qua WAN. Node manager cấp phát tài nguyên theo rspec. PlanetLab đóng cửa năm 2020, EdgeNet thay thế bằng Docker và Kubernetes.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Tranh luận VM hay container thường bị méo bởi thuật ngữ nặng nhẹ. Đo hiệu năng phải xét CPU, bộ nhớ, đĩa, mạng và khối lượng công việc. Sharma và cộng sự 2016 so sánh LXC với KVM: chênh lệch nhỏ trừ I/O, nơi VM kém hơn vì hệ điều hành phải chạy nhiều lệnh đặc quyền. Van Rijn và Rellermeyer 2021: chênh lệch nhiều khi gần như không đáng kể nhờ cache của hệ điều hành chủ; tổng thể VM vẫn tốn hơn. Nhưng khi nhiều ứng dụng chạy cạnh nhau, container cô lập kém hơn; lập lịch CPU và đĩa được VM xử lý tốt hơn.</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Đám mây có ba loại dịch vụ IaaS, PaaS, SaaS; ảo hoá đóng vai trò then chốt ở IaaS. Thay vì cho thuê máy vật lý, nhà cung cấp cho thuê máy ảo, có thể chung máy vật lý với khách khác; cô lập gần như hoàn toàn nhưng không tuyệt đối vì tài nguyên vật lý dùng chung. Amazon EC2: chọn một AMI – gói cài đặt gồm kernel và dịch vụ, ví dụ LAMP – rồi khởi chạy thành instance. Mỗi instance có IP riêng nội bộ và IP công khai ánh xạ qua NAT; chọn CPU, bộ nhớ, lưu trữ, nền tảng, băng thông. Ổ cục bộ là tạm thời; dữ liệu bền phải ở S3 hoặc EBS. Hệ thống đặt vé áp dụng y hệt: image là AMI, container là instance, volume là EBS.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Hai điều rút ra. Luồng cho phép giữ lời gọi chặn đơn giản mà vẫn song song, nhưng phải tự bảo vệ dữ liệu chung; server có thể là đa luồng, đơn luồng hoặc máy trạng thái hữu hạn. Ảo hoá tách phần mềm khỏi nền tảng; container dựa trên namespaces, union FS, cgroups và dùng chung kernel; máy ảo cô lập mạnh hơn; đám mây kết hợp cả hai.</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Cảm ơn hội đồng. Tiếp theo nhóm trình bày phần demo hệ thống đặt vé phân tán.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bg>
      <p:bgPr>
        <a:solidFill>
          <a:srgbClr val="FFD5D5">
            <a:alpha val="20000"/>
          </a:srgbClr>
        </a:solidFill>
        <a:effectLst/>
      </p:bgPr>
    </p:bg>
    <p:spTree>
      <p:nvGrpSpPr>
        <p:cNvPr id="1" name=""/>
        <p:cNvGrpSpPr/>
        <p:nvPr/>
      </p:nvGrpSpPr>
      <p:grpSpPr>
        <a:xfrm>
          <a:off x="0" y="0"/>
          <a:ext cx="0" cy="0"/>
          <a:chOff x="0" y="0"/>
          <a:chExt cx="0" cy="0"/>
        </a:xfrm>
      </p:grpSpPr>
      <p:sp>
        <p:nvSpPr>
          <p:cNvPr id="10" name="Text Placeholder 21"/>
          <p:cNvSpPr>
            <a:spLocks noGrp="1"/>
          </p:cNvSpPr>
          <p:nvPr>
            <p:ph type="body" sz="quarter" idx="13" hasCustomPrompt="1"/>
          </p:nvPr>
        </p:nvSpPr>
        <p:spPr>
          <a:xfrm>
            <a:off x="536498" y="5948218"/>
            <a:ext cx="11086541" cy="423292"/>
          </a:xfrm>
        </p:spPr>
        <p:txBody>
          <a:bodyPr anchor="ctr">
            <a:normAutofit/>
          </a:bodyPr>
          <a:lstStyle>
            <a:lvl1pPr marL="0" indent="0">
              <a:buNone/>
              <a:defRPr sz="1600">
                <a:solidFill>
                  <a:srgbClr val="BB2019"/>
                </a:solidFill>
                <a:latin typeface="Open Sans" pitchFamily="2" charset="0"/>
                <a:ea typeface="Open Sans" pitchFamily="2" charset="0"/>
                <a:cs typeface="Open Sans" pitchFamily="2" charset="0"/>
              </a:defRPr>
            </a:lvl1pPr>
          </a:lstStyle>
          <a:p>
            <a:pPr lvl="0"/>
            <a:r>
              <a:rPr lang="en-US" err="1"/>
              <a:t>Thời</a:t>
            </a:r>
            <a:r>
              <a:rPr lang="en-US"/>
              <a:t> </a:t>
            </a:r>
            <a:r>
              <a:rPr lang="en-US" err="1"/>
              <a:t>gian</a:t>
            </a:r>
            <a:r>
              <a:rPr lang="en-US"/>
              <a:t>:</a:t>
            </a:r>
            <a:endParaRPr lang="en-US"/>
          </a:p>
        </p:txBody>
      </p:sp>
      <p:sp>
        <p:nvSpPr>
          <p:cNvPr id="11" name="Text Placeholder 21"/>
          <p:cNvSpPr>
            <a:spLocks noGrp="1"/>
          </p:cNvSpPr>
          <p:nvPr>
            <p:ph type="body" sz="quarter" idx="14" hasCustomPrompt="1"/>
          </p:nvPr>
        </p:nvSpPr>
        <p:spPr>
          <a:xfrm>
            <a:off x="536498" y="5518724"/>
            <a:ext cx="11086541" cy="423292"/>
          </a:xfrm>
        </p:spPr>
        <p:txBody>
          <a:bodyPr anchor="ctr">
            <a:normAutofit/>
          </a:bodyPr>
          <a:lstStyle>
            <a:lvl1pPr marL="0" indent="0">
              <a:buNone/>
              <a:defRPr sz="1600">
                <a:solidFill>
                  <a:srgbClr val="BB2019"/>
                </a:solidFill>
                <a:latin typeface="Open Sans" pitchFamily="2" charset="0"/>
                <a:ea typeface="Open Sans" pitchFamily="2" charset="0"/>
                <a:cs typeface="Open Sans" pitchFamily="2" charset="0"/>
              </a:defRPr>
            </a:lvl1pPr>
          </a:lstStyle>
          <a:p>
            <a:pPr lvl="0"/>
            <a:r>
              <a:rPr lang="en-US" err="1"/>
              <a:t>Người</a:t>
            </a:r>
            <a:r>
              <a:rPr lang="en-US"/>
              <a:t> </a:t>
            </a:r>
            <a:r>
              <a:rPr lang="en-US" err="1"/>
              <a:t>thực</a:t>
            </a:r>
            <a:r>
              <a:rPr lang="en-US"/>
              <a:t> </a:t>
            </a:r>
            <a:r>
              <a:rPr lang="en-US" err="1"/>
              <a:t>hiện</a:t>
            </a:r>
            <a:r>
              <a:rPr lang="en-US"/>
              <a:t>:</a:t>
            </a:r>
            <a:endParaRPr lang="en-US"/>
          </a:p>
        </p:txBody>
      </p:sp>
      <p:sp>
        <p:nvSpPr>
          <p:cNvPr id="13" name="Title 12"/>
          <p:cNvSpPr>
            <a:spLocks noGrp="1"/>
          </p:cNvSpPr>
          <p:nvPr>
            <p:ph type="title"/>
          </p:nvPr>
        </p:nvSpPr>
        <p:spPr>
          <a:xfrm>
            <a:off x="536498" y="2694018"/>
            <a:ext cx="11086541" cy="1325563"/>
          </a:xfrm>
        </p:spPr>
        <p:txBody>
          <a:bodyPr/>
          <a:lstStyle>
            <a:lvl1pPr>
              <a:lnSpc>
                <a:spcPct val="130000"/>
              </a:lnSpc>
              <a:defRPr b="1">
                <a:solidFill>
                  <a:srgbClr val="BB2019"/>
                </a:solidFill>
                <a:latin typeface="Open Sans" pitchFamily="2" charset="0"/>
                <a:ea typeface="Open Sans" pitchFamily="2" charset="0"/>
                <a:cs typeface="Open Sans" pitchFamily="2" charset="0"/>
              </a:defRPr>
            </a:lvl1pPr>
          </a:lstStyle>
          <a:p>
            <a:r>
              <a:rPr lang="en-US"/>
              <a:t>Click to edit Master title style</a:t>
            </a:r>
            <a:endParaRPr lang="en-US" dirty="0"/>
          </a:p>
        </p:txBody>
      </p:sp>
      <p:grpSp>
        <p:nvGrpSpPr>
          <p:cNvPr id="12" name="Group 11"/>
          <p:cNvGrpSpPr/>
          <p:nvPr userDrawn="1"/>
        </p:nvGrpSpPr>
        <p:grpSpPr>
          <a:xfrm>
            <a:off x="628859" y="486490"/>
            <a:ext cx="5678927" cy="615553"/>
            <a:chOff x="628859" y="549938"/>
            <a:chExt cx="5678927" cy="615553"/>
          </a:xfrm>
        </p:grpSpPr>
        <p:pic>
          <p:nvPicPr>
            <p:cNvPr id="14" name="Picture 13" descr="A red and yellow logo&#10;&#10;Description automatically generated"/>
            <p:cNvPicPr>
              <a:picLocks noChangeAspect="1"/>
            </p:cNvPicPr>
            <p:nvPr/>
          </p:nvPicPr>
          <p:blipFill>
            <a:blip r:embed="rId2">
              <a:extLst>
                <a:ext uri="{BEBA8EAE-BF5A-486C-A8C5-ECC9F3942E4B}">
                  <a14:imgProps xmlns:a14="http://schemas.microsoft.com/office/drawing/2010/main">
                    <a14:imgLayer r:embed="rId3">
                      <a14:imgEffect>
                        <a14:saturation sat="66000"/>
                      </a14:imgEffect>
                    </a14:imgLayer>
                  </a14:imgProps>
                </a:ext>
                <a:ext uri="{28A0092B-C50C-407E-A947-70E740481C1C}">
                  <a14:useLocalDpi xmlns:a14="http://schemas.microsoft.com/office/drawing/2010/main" val="0"/>
                </a:ext>
              </a:extLst>
            </a:blip>
            <a:stretch>
              <a:fillRect/>
            </a:stretch>
          </p:blipFill>
          <p:spPr>
            <a:xfrm>
              <a:off x="628859" y="573245"/>
              <a:ext cx="455249" cy="563362"/>
            </a:xfrm>
            <a:prstGeom prst="rect">
              <a:avLst/>
            </a:prstGeom>
          </p:spPr>
        </p:pic>
        <p:sp>
          <p:nvSpPr>
            <p:cNvPr id="15" name="TextBox 14"/>
            <p:cNvSpPr txBox="1"/>
            <p:nvPr/>
          </p:nvSpPr>
          <p:spPr>
            <a:xfrm>
              <a:off x="1227549" y="549938"/>
              <a:ext cx="5080237" cy="615553"/>
            </a:xfrm>
            <a:prstGeom prst="rect">
              <a:avLst/>
            </a:prstGeom>
            <a:noFill/>
          </p:spPr>
          <p:txBody>
            <a:bodyPr wrap="none" rtlCol="0">
              <a:spAutoFit/>
            </a:bodyPr>
            <a:lstStyle/>
            <a:p>
              <a:pPr>
                <a:lnSpc>
                  <a:spcPct val="125000"/>
                </a:lnSpc>
              </a:pPr>
              <a:r>
                <a:rPr lang="en-US" sz="1600" b="1" dirty="0">
                  <a:solidFill>
                    <a:srgbClr val="BB2019"/>
                  </a:solidFill>
                  <a:latin typeface="Open Sans" pitchFamily="2" charset="0"/>
                  <a:ea typeface="Open Sans" pitchFamily="2" charset="0"/>
                  <a:cs typeface="Open Sans" pitchFamily="2" charset="0"/>
                </a:rPr>
                <a:t>HỌC VIỆN CÔNG NGHỆ BƯU CHÍNH VIỄN THÔNG</a:t>
              </a:r>
              <a:endParaRPr lang="en-US" sz="1600" b="1" dirty="0">
                <a:solidFill>
                  <a:srgbClr val="BB2019"/>
                </a:solidFill>
                <a:latin typeface="Open Sans" pitchFamily="2" charset="0"/>
                <a:ea typeface="Open Sans" pitchFamily="2" charset="0"/>
                <a:cs typeface="Open Sans" pitchFamily="2" charset="0"/>
              </a:endParaRPr>
            </a:p>
            <a:p>
              <a:pPr marL="0" algn="l" rtl="0" eaLnBrk="1" latinLnBrk="0" hangingPunct="1"/>
              <a:r>
                <a:rPr lang="en-US" sz="1400" kern="1200" dirty="0">
                  <a:solidFill>
                    <a:srgbClr val="BB2019"/>
                  </a:solidFill>
                  <a:effectLst/>
                  <a:latin typeface="Open Sans" pitchFamily="2" charset="0"/>
                  <a:ea typeface="Open Sans" pitchFamily="2" charset="0"/>
                  <a:cs typeface="Open Sans" pitchFamily="2" charset="0"/>
                </a:rPr>
                <a:t>Posts and Telecommunications Institute of Technology</a:t>
              </a:r>
              <a:endParaRPr lang="en-US" sz="1100" dirty="0">
                <a:solidFill>
                  <a:srgbClr val="BB2019"/>
                </a:solidFill>
                <a:effectLst/>
                <a:latin typeface="Open Sans" pitchFamily="2" charset="0"/>
                <a:ea typeface="Open Sans" pitchFamily="2" charset="0"/>
                <a:cs typeface="Open Sans" pitchFamily="2" charset="0"/>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p:bg>
      <p:bgPr>
        <a:solidFill>
          <a:schemeClr val="bg1">
            <a:alpha val="20000"/>
          </a:schemeClr>
        </a:solidFill>
        <a:effectLst/>
      </p:bgPr>
    </p:bg>
    <p:spTree>
      <p:nvGrpSpPr>
        <p:cNvPr id="1" name=""/>
        <p:cNvGrpSpPr/>
        <p:nvPr/>
      </p:nvGrpSpPr>
      <p:grpSpPr>
        <a:xfrm>
          <a:off x="0" y="0"/>
          <a:ext cx="0" cy="0"/>
          <a:chOff x="0" y="0"/>
          <a:chExt cx="0" cy="0"/>
        </a:xfrm>
      </p:grpSpPr>
      <p:sp>
        <p:nvSpPr>
          <p:cNvPr id="15" name="Rectangle 14"/>
          <p:cNvSpPr/>
          <p:nvPr userDrawn="1"/>
        </p:nvSpPr>
        <p:spPr>
          <a:xfrm>
            <a:off x="0" y="0"/>
            <a:ext cx="12192000" cy="2396402"/>
          </a:xfrm>
          <a:prstGeom prst="rect">
            <a:avLst/>
          </a:prstGeom>
          <a:solidFill>
            <a:srgbClr val="FFD5D5">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p:cNvSpPr>
            <a:spLocks noGrp="1"/>
          </p:cNvSpPr>
          <p:nvPr>
            <p:ph type="title"/>
          </p:nvPr>
        </p:nvSpPr>
        <p:spPr>
          <a:xfrm>
            <a:off x="538254" y="1028990"/>
            <a:ext cx="11123034" cy="743238"/>
          </a:xfrm>
        </p:spPr>
        <p:txBody>
          <a:bodyPr>
            <a:normAutofit/>
          </a:bodyPr>
          <a:lstStyle>
            <a:lvl1pPr>
              <a:defRPr sz="2500" b="1">
                <a:solidFill>
                  <a:srgbClr val="BB2019"/>
                </a:solidFill>
                <a:latin typeface="Open Sans" pitchFamily="2" charset="0"/>
                <a:ea typeface="Open Sans" pitchFamily="2" charset="0"/>
                <a:cs typeface="Open Sans" pitchFamily="2" charset="0"/>
              </a:defRPr>
            </a:lvl1pPr>
          </a:lstStyle>
          <a:p>
            <a:r>
              <a:rPr lang="en-US"/>
              <a:t>Click to edit Master title style</a:t>
            </a:r>
            <a:endParaRPr lang="en-US"/>
          </a:p>
        </p:txBody>
      </p:sp>
      <p:grpSp>
        <p:nvGrpSpPr>
          <p:cNvPr id="8" name="Group 7"/>
          <p:cNvGrpSpPr/>
          <p:nvPr userDrawn="1"/>
        </p:nvGrpSpPr>
        <p:grpSpPr>
          <a:xfrm>
            <a:off x="612370" y="698362"/>
            <a:ext cx="2018253" cy="292388"/>
            <a:chOff x="1747525" y="945517"/>
            <a:chExt cx="2018253" cy="292388"/>
          </a:xfrm>
        </p:grpSpPr>
        <p:pic>
          <p:nvPicPr>
            <p:cNvPr id="9" name="Graphic 8" descr="Chevron arrows outline"/>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47525" y="970280"/>
              <a:ext cx="386075" cy="242862"/>
            </a:xfrm>
            <a:prstGeom prst="rect">
              <a:avLst/>
            </a:prstGeom>
          </p:spPr>
        </p:pic>
        <p:sp>
          <p:nvSpPr>
            <p:cNvPr id="10" name="TextBox 9"/>
            <p:cNvSpPr txBox="1"/>
            <p:nvPr userDrawn="1"/>
          </p:nvSpPr>
          <p:spPr>
            <a:xfrm>
              <a:off x="2133600" y="945517"/>
              <a:ext cx="1632178" cy="292388"/>
            </a:xfrm>
            <a:prstGeom prst="rect">
              <a:avLst/>
            </a:prstGeom>
            <a:noFill/>
          </p:spPr>
          <p:txBody>
            <a:bodyPr wrap="none" rtlCol="0">
              <a:spAutoFit/>
            </a:bodyPr>
            <a:lstStyle/>
            <a:p>
              <a:r>
                <a:rPr lang="en-US" sz="1300" b="0" dirty="0" err="1">
                  <a:solidFill>
                    <a:srgbClr val="C00000"/>
                  </a:solidFill>
                  <a:latin typeface="Open Sans" pitchFamily="2" charset="0"/>
                  <a:ea typeface="Open Sans" pitchFamily="2" charset="0"/>
                  <a:cs typeface="Open Sans" pitchFamily="2" charset="0"/>
                </a:rPr>
                <a:t>Nội</a:t>
              </a:r>
              <a:r>
                <a:rPr lang="en-US" sz="1300" b="0" dirty="0">
                  <a:solidFill>
                    <a:srgbClr val="C00000"/>
                  </a:solidFill>
                  <a:latin typeface="Open Sans" pitchFamily="2" charset="0"/>
                  <a:ea typeface="Open Sans" pitchFamily="2" charset="0"/>
                  <a:cs typeface="Open Sans" pitchFamily="2" charset="0"/>
                </a:rPr>
                <a:t> dung </a:t>
              </a:r>
              <a:r>
                <a:rPr lang="en-US" sz="1300" b="0" dirty="0" err="1">
                  <a:solidFill>
                    <a:srgbClr val="C00000"/>
                  </a:solidFill>
                  <a:latin typeface="Open Sans" pitchFamily="2" charset="0"/>
                  <a:ea typeface="Open Sans" pitchFamily="2" charset="0"/>
                  <a:cs typeface="Open Sans" pitchFamily="2" charset="0"/>
                </a:rPr>
                <a:t>tiếp</a:t>
              </a:r>
              <a:r>
                <a:rPr lang="en-US" sz="1300" b="0" dirty="0">
                  <a:solidFill>
                    <a:srgbClr val="C00000"/>
                  </a:solidFill>
                  <a:latin typeface="Open Sans" pitchFamily="2" charset="0"/>
                  <a:ea typeface="Open Sans" pitchFamily="2" charset="0"/>
                  <a:cs typeface="Open Sans" pitchFamily="2" charset="0"/>
                </a:rPr>
                <a:t> </a:t>
              </a:r>
              <a:r>
                <a:rPr lang="en-US" sz="1300" b="0" dirty="0" err="1">
                  <a:solidFill>
                    <a:srgbClr val="C00000"/>
                  </a:solidFill>
                  <a:latin typeface="Open Sans" pitchFamily="2" charset="0"/>
                  <a:ea typeface="Open Sans" pitchFamily="2" charset="0"/>
                  <a:cs typeface="Open Sans" pitchFamily="2" charset="0"/>
                </a:rPr>
                <a:t>theo</a:t>
              </a:r>
              <a:endParaRPr lang="en-US" sz="1300" b="0" dirty="0">
                <a:solidFill>
                  <a:srgbClr val="C00000"/>
                </a:solidFill>
                <a:latin typeface="Open Sans" pitchFamily="2" charset="0"/>
                <a:ea typeface="Open Sans" pitchFamily="2" charset="0"/>
                <a:cs typeface="Open Sans" pitchFamily="2" charset="0"/>
              </a:endParaRPr>
            </a:p>
          </p:txBody>
        </p:sp>
      </p:grpSp>
      <p:sp>
        <p:nvSpPr>
          <p:cNvPr id="11" name="Text Placeholder 16"/>
          <p:cNvSpPr>
            <a:spLocks noGrp="1"/>
          </p:cNvSpPr>
          <p:nvPr>
            <p:ph type="body" sz="quarter" idx="13"/>
          </p:nvPr>
        </p:nvSpPr>
        <p:spPr>
          <a:xfrm>
            <a:off x="538255" y="2780145"/>
            <a:ext cx="11123033" cy="3479977"/>
          </a:xfrm>
        </p:spPr>
        <p:txBody>
          <a:bodyPr numCol="2" anchor="ctr">
            <a:normAutofit/>
          </a:bodyPr>
          <a:lstStyle>
            <a:lvl1pPr>
              <a:lnSpc>
                <a:spcPct val="150000"/>
              </a:lnSpc>
              <a:defRPr sz="1500">
                <a:latin typeface="Open Sans" pitchFamily="2" charset="0"/>
                <a:ea typeface="Open Sans" pitchFamily="2" charset="0"/>
                <a:cs typeface="Open Sans" pitchFamily="2" charset="0"/>
              </a:defRPr>
            </a:lvl1pPr>
            <a:lvl2pPr>
              <a:lnSpc>
                <a:spcPct val="150000"/>
              </a:lnSpc>
              <a:defRPr sz="1500">
                <a:latin typeface="Open Sans" pitchFamily="2" charset="0"/>
                <a:ea typeface="Open Sans" pitchFamily="2" charset="0"/>
                <a:cs typeface="Open Sans" pitchFamily="2" charset="0"/>
              </a:defRPr>
            </a:lvl2pPr>
            <a:lvl3pPr>
              <a:lnSpc>
                <a:spcPct val="150000"/>
              </a:lnSpc>
              <a:defRPr sz="1500">
                <a:latin typeface="Open Sans" pitchFamily="2" charset="0"/>
                <a:ea typeface="Open Sans" pitchFamily="2" charset="0"/>
                <a:cs typeface="Open Sans" pitchFamily="2" charset="0"/>
              </a:defRPr>
            </a:lvl3pPr>
            <a:lvl4pPr>
              <a:lnSpc>
                <a:spcPct val="150000"/>
              </a:lnSpc>
              <a:defRPr sz="1500">
                <a:latin typeface="Open Sans" pitchFamily="2" charset="0"/>
                <a:ea typeface="Open Sans" pitchFamily="2" charset="0"/>
                <a:cs typeface="Open Sans" pitchFamily="2" charset="0"/>
              </a:defRPr>
            </a:lvl4pPr>
            <a:lvl5pPr>
              <a:lnSpc>
                <a:spcPct val="150000"/>
              </a:lnSpc>
              <a:defRPr sz="1500">
                <a:latin typeface="Open Sans" pitchFamily="2" charset="0"/>
                <a:ea typeface="Open Sans" pitchFamily="2" charset="0"/>
                <a:cs typeface="Open Sans" pitchFamily="2" charset="0"/>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2" name="Slide Number Placeholder 18"/>
          <p:cNvSpPr>
            <a:spLocks noGrp="1"/>
          </p:cNvSpPr>
          <p:nvPr>
            <p:ph type="sldNum" sz="quarter" idx="12"/>
          </p:nvPr>
        </p:nvSpPr>
        <p:spPr>
          <a:xfrm>
            <a:off x="9448800" y="6643865"/>
            <a:ext cx="2743200" cy="214135"/>
          </a:xfrm>
          <a:solidFill>
            <a:srgbClr val="FFD5D5">
              <a:alpha val="20000"/>
            </a:srgbClr>
          </a:solidFill>
        </p:spPr>
        <p:txBody>
          <a:bodyPr/>
          <a:lstStyle>
            <a:lvl1pPr>
              <a:defRPr sz="900" b="0">
                <a:solidFill>
                  <a:srgbClr val="BB2019"/>
                </a:solidFill>
              </a:defRPr>
            </a:lvl1pPr>
          </a:lstStyle>
          <a:p>
            <a:fld id="{D92DDFE6-74DA-46A1-A171-CE3314B0D579}" type="slidenum">
              <a:rPr lang="en-US" smtClean="0"/>
            </a:fld>
            <a:endParaRPr lang="en-US" dirty="0"/>
          </a:p>
        </p:txBody>
      </p:sp>
      <p:sp>
        <p:nvSpPr>
          <p:cNvPr id="13" name="Date Placeholder 16"/>
          <p:cNvSpPr>
            <a:spLocks noGrp="1"/>
          </p:cNvSpPr>
          <p:nvPr>
            <p:ph type="dt" sz="half" idx="10"/>
          </p:nvPr>
        </p:nvSpPr>
        <p:spPr>
          <a:xfrm>
            <a:off x="0" y="6643862"/>
            <a:ext cx="2743198" cy="214137"/>
          </a:xfrm>
          <a:solidFill>
            <a:srgbClr val="FFD5D5">
              <a:alpha val="20000"/>
            </a:srgbClr>
          </a:solidFill>
        </p:spPr>
        <p:txBody>
          <a:bodyPr/>
          <a:lstStyle>
            <a:lvl1pPr algn="ctr">
              <a:defRPr sz="900" b="0">
                <a:solidFill>
                  <a:srgbClr val="BB2019"/>
                </a:solidFill>
              </a:defRPr>
            </a:lvl1pPr>
          </a:lstStyle>
          <a:p>
            <a:fld id="{AE6C4B74-7EEB-4BBA-8E33-2676B8B5E5CF}" type="datetime1">
              <a:rPr lang="vi-VN" smtClean="0"/>
            </a:fld>
            <a:endParaRPr lang="en-US"/>
          </a:p>
        </p:txBody>
      </p:sp>
      <p:sp>
        <p:nvSpPr>
          <p:cNvPr id="14" name="Footer Placeholder 17"/>
          <p:cNvSpPr>
            <a:spLocks noGrp="1"/>
          </p:cNvSpPr>
          <p:nvPr>
            <p:ph type="ftr" sz="quarter" idx="11"/>
          </p:nvPr>
        </p:nvSpPr>
        <p:spPr>
          <a:xfrm>
            <a:off x="2743198" y="6643863"/>
            <a:ext cx="6705596" cy="214137"/>
          </a:xfrm>
          <a:solidFill>
            <a:srgbClr val="FFD5D5">
              <a:alpha val="50000"/>
            </a:srgbClr>
          </a:solidFill>
        </p:spPr>
        <p:txBody>
          <a:bodyPr/>
          <a:lstStyle>
            <a:lvl1pPr>
              <a:defRPr sz="900">
                <a:solidFill>
                  <a:srgbClr val="BB2019"/>
                </a:solidFill>
              </a:defRPr>
            </a:lvl1pPr>
          </a:lstStyle>
          <a:p>
            <a:r>
              <a:rPr lang="en-US"/>
              <a:t>Tiêu đề</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bg1"/>
        </a:solidFill>
        <a:effectLst/>
      </p:bgPr>
    </p:bg>
    <p:spTree>
      <p:nvGrpSpPr>
        <p:cNvPr id="1" name=""/>
        <p:cNvGrpSpPr/>
        <p:nvPr/>
      </p:nvGrpSpPr>
      <p:grpSpPr>
        <a:xfrm>
          <a:off x="0" y="0"/>
          <a:ext cx="0" cy="0"/>
          <a:chOff x="0" y="0"/>
          <a:chExt cx="0" cy="0"/>
        </a:xfrm>
      </p:grpSpPr>
      <p:sp>
        <p:nvSpPr>
          <p:cNvPr id="14" name="Title 1"/>
          <p:cNvSpPr>
            <a:spLocks noGrp="1"/>
          </p:cNvSpPr>
          <p:nvPr>
            <p:ph type="title"/>
          </p:nvPr>
        </p:nvSpPr>
        <p:spPr>
          <a:xfrm>
            <a:off x="0" y="0"/>
            <a:ext cx="12191996" cy="743238"/>
          </a:xfrm>
          <a:solidFill>
            <a:srgbClr val="FFD5D5">
              <a:alpha val="20000"/>
            </a:srgbClr>
          </a:solidFill>
        </p:spPr>
        <p:txBody>
          <a:bodyPr>
            <a:normAutofit/>
          </a:bodyPr>
          <a:lstStyle>
            <a:lvl1pPr marL="107950">
              <a:defRPr sz="2500">
                <a:solidFill>
                  <a:srgbClr val="BB2019"/>
                </a:solidFill>
                <a:latin typeface="Open Sans" pitchFamily="2" charset="0"/>
                <a:ea typeface="Open Sans" pitchFamily="2" charset="0"/>
                <a:cs typeface="Open Sans" pitchFamily="2" charset="0"/>
              </a:defRPr>
            </a:lvl1pPr>
          </a:lstStyle>
          <a:p>
            <a:r>
              <a:rPr lang="en-US"/>
              <a:t>Click to edit Master title style</a:t>
            </a:r>
            <a:endParaRPr lang="en-US"/>
          </a:p>
        </p:txBody>
      </p:sp>
      <p:sp>
        <p:nvSpPr>
          <p:cNvPr id="25" name="Slide Number Placeholder 18"/>
          <p:cNvSpPr>
            <a:spLocks noGrp="1"/>
          </p:cNvSpPr>
          <p:nvPr>
            <p:ph type="sldNum" sz="quarter" idx="12"/>
          </p:nvPr>
        </p:nvSpPr>
        <p:spPr>
          <a:xfrm>
            <a:off x="9448800" y="6643865"/>
            <a:ext cx="2743200" cy="214135"/>
          </a:xfrm>
          <a:solidFill>
            <a:srgbClr val="FFD5D5">
              <a:alpha val="20000"/>
            </a:srgbClr>
          </a:solidFill>
        </p:spPr>
        <p:txBody>
          <a:bodyPr/>
          <a:lstStyle>
            <a:lvl1pPr>
              <a:defRPr sz="900" b="0">
                <a:solidFill>
                  <a:srgbClr val="BB2019"/>
                </a:solidFill>
              </a:defRPr>
            </a:lvl1pPr>
          </a:lstStyle>
          <a:p>
            <a:fld id="{D92DDFE6-74DA-46A1-A171-CE3314B0D579}" type="slidenum">
              <a:rPr lang="en-US" smtClean="0"/>
            </a:fld>
            <a:endParaRPr lang="en-US" dirty="0"/>
          </a:p>
        </p:txBody>
      </p:sp>
      <p:sp>
        <p:nvSpPr>
          <p:cNvPr id="26" name="Date Placeholder 16"/>
          <p:cNvSpPr>
            <a:spLocks noGrp="1"/>
          </p:cNvSpPr>
          <p:nvPr>
            <p:ph type="dt" sz="half" idx="10"/>
          </p:nvPr>
        </p:nvSpPr>
        <p:spPr>
          <a:xfrm>
            <a:off x="0" y="6643862"/>
            <a:ext cx="2743198" cy="214137"/>
          </a:xfrm>
          <a:solidFill>
            <a:srgbClr val="FFD5D5">
              <a:alpha val="20000"/>
            </a:srgbClr>
          </a:solidFill>
        </p:spPr>
        <p:txBody>
          <a:bodyPr/>
          <a:lstStyle>
            <a:lvl1pPr algn="ctr">
              <a:defRPr sz="900" b="0">
                <a:solidFill>
                  <a:srgbClr val="BB2019"/>
                </a:solidFill>
              </a:defRPr>
            </a:lvl1pPr>
          </a:lstStyle>
          <a:p>
            <a:fld id="{B782B6AE-7235-4653-AF33-CBD852AFF5B4}" type="datetime1">
              <a:rPr lang="vi-VN" smtClean="0"/>
            </a:fld>
            <a:endParaRPr lang="en-US"/>
          </a:p>
        </p:txBody>
      </p:sp>
      <p:sp>
        <p:nvSpPr>
          <p:cNvPr id="27" name="Footer Placeholder 17"/>
          <p:cNvSpPr>
            <a:spLocks noGrp="1"/>
          </p:cNvSpPr>
          <p:nvPr>
            <p:ph type="ftr" sz="quarter" idx="11"/>
          </p:nvPr>
        </p:nvSpPr>
        <p:spPr>
          <a:xfrm>
            <a:off x="2743198" y="6643863"/>
            <a:ext cx="6705596" cy="214137"/>
          </a:xfrm>
          <a:solidFill>
            <a:srgbClr val="FFD5D5">
              <a:alpha val="50000"/>
            </a:srgbClr>
          </a:solidFill>
        </p:spPr>
        <p:txBody>
          <a:bodyPr/>
          <a:lstStyle>
            <a:lvl1pPr>
              <a:defRPr sz="900">
                <a:solidFill>
                  <a:srgbClr val="BB2019"/>
                </a:solidFill>
              </a:defRPr>
            </a:lvl1pPr>
          </a:lstStyle>
          <a:p>
            <a:r>
              <a:rPr lang="en-US"/>
              <a:t>Tiêu đề</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ubtitle">
    <p:bg>
      <p:bgPr>
        <a:solidFill>
          <a:schemeClr val="bg1"/>
        </a:solidFill>
        <a:effectLst/>
      </p:bgPr>
    </p:bg>
    <p:spTree>
      <p:nvGrpSpPr>
        <p:cNvPr id="1" name=""/>
        <p:cNvGrpSpPr/>
        <p:nvPr/>
      </p:nvGrpSpPr>
      <p:grpSpPr>
        <a:xfrm>
          <a:off x="0" y="0"/>
          <a:ext cx="0" cy="0"/>
          <a:chOff x="0" y="0"/>
          <a:chExt cx="0" cy="0"/>
        </a:xfrm>
      </p:grpSpPr>
      <p:sp>
        <p:nvSpPr>
          <p:cNvPr id="9" name="Rectangle 8"/>
          <p:cNvSpPr/>
          <p:nvPr userDrawn="1"/>
        </p:nvSpPr>
        <p:spPr>
          <a:xfrm>
            <a:off x="0" y="0"/>
            <a:ext cx="12192000" cy="984748"/>
          </a:xfrm>
          <a:prstGeom prst="rect">
            <a:avLst/>
          </a:prstGeom>
          <a:solidFill>
            <a:srgbClr val="FFD5D5">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p:cNvSpPr>
            <a:spLocks noGrp="1"/>
          </p:cNvSpPr>
          <p:nvPr>
            <p:ph type="title"/>
          </p:nvPr>
        </p:nvSpPr>
        <p:spPr>
          <a:xfrm>
            <a:off x="0" y="0"/>
            <a:ext cx="12177772" cy="743238"/>
          </a:xfrm>
          <a:noFill/>
        </p:spPr>
        <p:txBody>
          <a:bodyPr>
            <a:normAutofit/>
          </a:bodyPr>
          <a:lstStyle>
            <a:lvl1pPr marL="107950">
              <a:defRPr sz="2500">
                <a:solidFill>
                  <a:srgbClr val="BB2019"/>
                </a:solidFill>
                <a:latin typeface="Open Sans" pitchFamily="2" charset="0"/>
                <a:ea typeface="Open Sans" pitchFamily="2" charset="0"/>
                <a:cs typeface="Open Sans" pitchFamily="2" charset="0"/>
              </a:defRPr>
            </a:lvl1pPr>
          </a:lstStyle>
          <a:p>
            <a:r>
              <a:rPr lang="en-US"/>
              <a:t>Click to edit Master title style</a:t>
            </a:r>
            <a:endParaRPr lang="en-US"/>
          </a:p>
        </p:txBody>
      </p:sp>
      <p:sp>
        <p:nvSpPr>
          <p:cNvPr id="2" name="Text Placeholder 10"/>
          <p:cNvSpPr>
            <a:spLocks noGrp="1"/>
          </p:cNvSpPr>
          <p:nvPr>
            <p:ph type="body" sz="quarter" idx="13"/>
          </p:nvPr>
        </p:nvSpPr>
        <p:spPr>
          <a:xfrm>
            <a:off x="10160" y="563608"/>
            <a:ext cx="12167612" cy="421140"/>
          </a:xfrm>
          <a:noFill/>
        </p:spPr>
        <p:txBody>
          <a:bodyPr anchor="t">
            <a:noAutofit/>
          </a:bodyPr>
          <a:lstStyle>
            <a:lvl1pPr marL="107950" indent="0">
              <a:buNone/>
              <a:defRPr sz="1500">
                <a:solidFill>
                  <a:srgbClr val="BB2019"/>
                </a:solidFill>
                <a:latin typeface="Open Sans" pitchFamily="2" charset="0"/>
                <a:ea typeface="Open Sans" pitchFamily="2" charset="0"/>
                <a:cs typeface="Open Sans" pitchFamily="2" charset="0"/>
              </a:defRPr>
            </a:lvl1pPr>
          </a:lstStyle>
          <a:p>
            <a:pPr lvl="0"/>
            <a:r>
              <a:rPr lang="en-US"/>
              <a:t>Click to edit Master text styles</a:t>
            </a:r>
            <a:endParaRPr lang="en-US"/>
          </a:p>
        </p:txBody>
      </p:sp>
      <p:sp>
        <p:nvSpPr>
          <p:cNvPr id="6" name="Slide Number Placeholder 18"/>
          <p:cNvSpPr>
            <a:spLocks noGrp="1"/>
          </p:cNvSpPr>
          <p:nvPr>
            <p:ph type="sldNum" sz="quarter" idx="12"/>
          </p:nvPr>
        </p:nvSpPr>
        <p:spPr>
          <a:xfrm>
            <a:off x="9448800" y="6643865"/>
            <a:ext cx="2743200" cy="214135"/>
          </a:xfrm>
          <a:solidFill>
            <a:srgbClr val="FFD5D5">
              <a:alpha val="20000"/>
            </a:srgbClr>
          </a:solidFill>
        </p:spPr>
        <p:txBody>
          <a:bodyPr/>
          <a:lstStyle>
            <a:lvl1pPr>
              <a:defRPr sz="900" b="0">
                <a:solidFill>
                  <a:srgbClr val="BB2019"/>
                </a:solidFill>
              </a:defRPr>
            </a:lvl1pPr>
          </a:lstStyle>
          <a:p>
            <a:fld id="{D92DDFE6-74DA-46A1-A171-CE3314B0D579}" type="slidenum">
              <a:rPr lang="en-US" smtClean="0"/>
            </a:fld>
            <a:endParaRPr lang="en-US" dirty="0"/>
          </a:p>
        </p:txBody>
      </p:sp>
      <p:sp>
        <p:nvSpPr>
          <p:cNvPr id="7" name="Date Placeholder 16"/>
          <p:cNvSpPr>
            <a:spLocks noGrp="1"/>
          </p:cNvSpPr>
          <p:nvPr>
            <p:ph type="dt" sz="half" idx="10"/>
          </p:nvPr>
        </p:nvSpPr>
        <p:spPr>
          <a:xfrm>
            <a:off x="0" y="6643862"/>
            <a:ext cx="2743198" cy="214137"/>
          </a:xfrm>
          <a:solidFill>
            <a:srgbClr val="FFD5D5">
              <a:alpha val="20000"/>
            </a:srgbClr>
          </a:solidFill>
        </p:spPr>
        <p:txBody>
          <a:bodyPr/>
          <a:lstStyle>
            <a:lvl1pPr algn="ctr">
              <a:defRPr sz="900" b="0">
                <a:solidFill>
                  <a:srgbClr val="BB2019"/>
                </a:solidFill>
              </a:defRPr>
            </a:lvl1pPr>
          </a:lstStyle>
          <a:p>
            <a:fld id="{2933FCAF-43A6-4F1B-B43D-A70C2A597932}" type="datetime1">
              <a:rPr lang="vi-VN" smtClean="0"/>
            </a:fld>
            <a:endParaRPr lang="en-US"/>
          </a:p>
        </p:txBody>
      </p:sp>
      <p:sp>
        <p:nvSpPr>
          <p:cNvPr id="8" name="Footer Placeholder 17"/>
          <p:cNvSpPr>
            <a:spLocks noGrp="1"/>
          </p:cNvSpPr>
          <p:nvPr>
            <p:ph type="ftr" sz="quarter" idx="11"/>
          </p:nvPr>
        </p:nvSpPr>
        <p:spPr>
          <a:xfrm>
            <a:off x="2743198" y="6643863"/>
            <a:ext cx="6705596" cy="214137"/>
          </a:xfrm>
          <a:solidFill>
            <a:srgbClr val="FFD5D5">
              <a:alpha val="50000"/>
            </a:srgbClr>
          </a:solidFill>
        </p:spPr>
        <p:txBody>
          <a:bodyPr/>
          <a:lstStyle>
            <a:lvl1pPr>
              <a:defRPr sz="900">
                <a:solidFill>
                  <a:srgbClr val="BB2019"/>
                </a:solidFill>
              </a:defRPr>
            </a:lvl1pPr>
          </a:lstStyle>
          <a:p>
            <a:r>
              <a:rPr lang="en-US"/>
              <a:t>Tiêu đề</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latin typeface="Open Sans" pitchFamily="2" charset="0"/>
                <a:ea typeface="Open Sans" pitchFamily="2" charset="0"/>
                <a:cs typeface="Open Sans" pitchFamily="2" charset="0"/>
              </a:defRPr>
            </a:lvl1pPr>
          </a:lstStyle>
          <a:p>
            <a:fld id="{3ABE6F9A-075A-405B-9000-D06D6DAA2713}" type="datetime1">
              <a:rPr lang="vi-VN"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latin typeface="Open Sans" pitchFamily="2" charset="0"/>
                <a:ea typeface="Open Sans" pitchFamily="2" charset="0"/>
                <a:cs typeface="Open Sans" pitchFamily="2" charset="0"/>
              </a:defRPr>
            </a:lvl1pPr>
          </a:lstStyle>
          <a:p>
            <a:r>
              <a:rPr lang="en-US"/>
              <a:t>Tiêu đề</a:t>
            </a: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Open Sans" pitchFamily="2" charset="0"/>
                <a:ea typeface="Open Sans" pitchFamily="2" charset="0"/>
                <a:cs typeface="Open Sans" pitchFamily="2" charset="0"/>
              </a:defRPr>
            </a:lvl1pPr>
          </a:lstStyle>
          <a:p>
            <a:fld id="{D92DDFE6-74DA-46A1-A171-CE3314B0D57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p:txStyles>
    <p:titleStyle>
      <a:lvl1pPr algn="l" defTabSz="914400" rtl="0" eaLnBrk="1" latinLnBrk="0" hangingPunct="1">
        <a:lnSpc>
          <a:spcPct val="90000"/>
        </a:lnSpc>
        <a:spcBef>
          <a:spcPct val="0"/>
        </a:spcBef>
        <a:buNone/>
        <a:defRPr sz="4400" kern="1200">
          <a:solidFill>
            <a:schemeClr val="tx1"/>
          </a:solidFill>
          <a:latin typeface="Open Sans" pitchFamily="2" charset="0"/>
          <a:ea typeface="Open Sans" pitchFamily="2" charset="0"/>
          <a:cs typeface="Open Sans"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en Sans" pitchFamily="2" charset="0"/>
          <a:ea typeface="Open Sans" pitchFamily="2" charset="0"/>
          <a:cs typeface="Open Sans"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itchFamily="2" charset="0"/>
          <a:ea typeface="Open Sans" pitchFamily="2" charset="0"/>
          <a:cs typeface="Open Sans"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itchFamily="2" charset="0"/>
          <a:ea typeface="Open Sans" pitchFamily="2" charset="0"/>
          <a:cs typeface="Open Sans"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Placeholder 1"/>
          <p:cNvSpPr>
            <a:spLocks noGrp="1"/>
          </p:cNvSpPr>
          <p:nvPr>
            <p:ph type="body" sz="quarter" idx="13"/>
          </p:nvPr>
        </p:nvSpPr>
        <p:spPr/>
        <p:txBody>
          <a:bodyPr/>
          <a:lstStyle/>
          <a:p>
            <a:r>
              <a:t>MSSV: B23DCCC130 · B23DCCC082 · B23DCCC106 · Thời gian: 10/2026</a:t>
            </a:r>
          </a:p>
        </p:txBody>
      </p:sp>
      <p:sp>
        <p:nvSpPr>
          <p:cNvPr id="3" name="Text Placeholder 2"/>
          <p:cNvSpPr>
            <a:spLocks noGrp="1"/>
          </p:cNvSpPr>
          <p:nvPr>
            <p:ph type="body" sz="quarter" idx="14"/>
          </p:nvPr>
        </p:nvSpPr>
        <p:spPr/>
        <p:txBody>
          <a:bodyPr/>
          <a:lstStyle/>
          <a:p>
            <a:r>
              <a:t>Người thực hiện: Phạm Tiến Phong · Phạm Vĩnh Hưng · Nguyễn Văn Luận</a:t>
            </a:r>
          </a:p>
        </p:txBody>
      </p:sp>
      <p:sp>
        <p:nvSpPr>
          <p:cNvPr id="4" name="Title 3"/>
          <p:cNvSpPr>
            <a:spLocks noGrp="1"/>
          </p:cNvSpPr>
          <p:nvPr>
            <p:ph type="title"/>
          </p:nvPr>
        </p:nvSpPr>
        <p:spPr/>
        <p:txBody>
          <a:bodyPr/>
          <a:lstStyle/>
          <a:p>
            <a:r>
              <a:t>Tiến trình: Luồng &amp; Ảo hoá</a:t>
            </a:r>
          </a:p>
        </p:txBody>
      </p:sp>
      <p:sp>
        <p:nvSpPr>
          <p:cNvPr id="5" name="TextBox 4"/>
          <p:cNvSpPr txBox="1"/>
          <p:nvPr/>
        </p:nvSpPr>
        <p:spPr>
          <a:xfrm>
            <a:off x="539496" y="2148840"/>
            <a:ext cx="11064240" cy="457200"/>
          </a:xfrm>
          <a:prstGeom prst="rect">
            <a:avLst/>
          </a:prstGeom>
          <a:noFill/>
        </p:spPr>
        <p:txBody>
          <a:bodyPr wrap="square" lIns="36576" tIns="36576" rIns="36576" bIns="36576" anchor="t">
            <a:spAutoFit/>
          </a:bodyPr>
          <a:lstStyle/>
          <a:p>
            <a:pPr algn="l">
              <a:spcAft>
                <a:spcPts val="400"/>
              </a:spcAft>
            </a:pPr>
            <a:r>
              <a:rPr sz="1500" b="1">
                <a:solidFill>
                  <a:srgbClr val="BB2019"/>
                </a:solidFill>
                <a:latin typeface="Open Sans"/>
                <a:ea typeface="Open Sans"/>
                <a:cs typeface="Open Sans"/>
              </a:rPr>
              <a:t>MÔN HỆ THỐNG PHÂN TÁN · CHƯƠNG 3 – PROCESSES (MỤC 3.1 &amp; 3.2)</a:t>
            </a:r>
            <a:endParaRPr sz="1500" b="1">
              <a:solidFill>
                <a:srgbClr val="BB2019"/>
              </a:solidFill>
              <a:latin typeface="Open Sans"/>
              <a:ea typeface="Open Sans"/>
              <a:cs typeface="Open Sans"/>
            </a:endParaRPr>
          </a:p>
        </p:txBody>
      </p:sp>
      <p:sp>
        <p:nvSpPr>
          <p:cNvPr id="6" name="TextBox 5"/>
          <p:cNvSpPr txBox="1"/>
          <p:nvPr/>
        </p:nvSpPr>
        <p:spPr>
          <a:xfrm>
            <a:off x="539496" y="4069080"/>
            <a:ext cx="11064240" cy="822960"/>
          </a:xfrm>
          <a:prstGeom prst="rect">
            <a:avLst/>
          </a:prstGeom>
          <a:noFill/>
        </p:spPr>
        <p:txBody>
          <a:bodyPr wrap="square" lIns="36576" tIns="36576" rIns="36576" bIns="36576" anchor="t">
            <a:spAutoFit/>
          </a:bodyPr>
          <a:lstStyle/>
          <a:p>
            <a:pPr algn="l">
              <a:spcAft>
                <a:spcPts val="400"/>
              </a:spcAft>
            </a:pPr>
            <a:r>
              <a:rPr sz="1700">
                <a:solidFill>
                  <a:srgbClr val="262626"/>
                </a:solidFill>
                <a:latin typeface="Open Sans"/>
                <a:ea typeface="Open Sans"/>
                <a:cs typeface="Open Sans"/>
              </a:rPr>
              <a:t>Lý thuyết theo giáo trình Distributed Systems, 4th ed. (M. van Steen &amp; A. S. Tanenbaum)</a:t>
            </a:r>
            <a:endParaRPr sz="1700">
              <a:solidFill>
                <a:srgbClr val="262626"/>
              </a:solidFill>
              <a:latin typeface="Open Sans"/>
              <a:ea typeface="Open Sans"/>
              <a:cs typeface="Open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Mục lục</a:t>
            </a:r>
          </a:p>
        </p:txBody>
      </p:sp>
      <p:sp>
        <p:nvSpPr>
          <p:cNvPr id="4" name="Slide Number Placeholder 3"/>
          <p:cNvSpPr>
            <a:spLocks noGrp="1"/>
          </p:cNvSpPr>
          <p:nvPr>
            <p:ph type="sldNum" sz="quarter" idx="12"/>
          </p:nvPr>
        </p:nvSpPr>
        <p:spPr/>
        <p:txBody>
          <a:bodyPr/>
          <a:lstStyle/>
          <a:p>
            <a:fld id="{D92DDFE6-74DA-46A1-A171-CE3314B0D579}" type="slidenum">
              <a:rPr lang="en-US" smtClean="0"/>
            </a:fld>
            <a:endParaRPr lang="en-US" dirty="0"/>
          </a:p>
        </p:txBody>
      </p:sp>
      <p:sp>
        <p:nvSpPr>
          <p:cNvPr id="5" name="Date Placeholder 4"/>
          <p:cNvSpPr>
            <a:spLocks noGrp="1"/>
          </p:cNvSpPr>
          <p:nvPr>
            <p:ph type="dt" sz="half" idx="10"/>
          </p:nvPr>
        </p:nvSpPr>
        <p:spPr/>
        <p:txBody>
          <a:bodyPr/>
          <a:lstStyle/>
          <a:p>
            <a:fld id="{2933FCAF-43A6-4F1B-B43D-A70C2A597932}" type="datetime1">
              <a:rPr lang="vi-VN" smtClean="0"/>
            </a:fld>
            <a:endParaRPr lang="en-US"/>
          </a:p>
        </p:txBody>
      </p:sp>
      <p:sp>
        <p:nvSpPr>
          <p:cNvPr id="6" name="Footer Placeholder 5"/>
          <p:cNvSpPr>
            <a:spLocks noGrp="1"/>
          </p:cNvSpPr>
          <p:nvPr>
            <p:ph type="ftr" sz="quarter" idx="11"/>
          </p:nvPr>
        </p:nvSpPr>
        <p:spPr/>
        <p:txBody>
          <a:bodyPr/>
          <a:lstStyle/>
          <a:p>
            <a:r>
              <a:rPr lang="en-US"/>
              <a:t>Chương 3 · Tiến trình: Luồng &amp; Ảo hoá</a:t>
            </a:r>
            <a:endParaRPr lang="en-US" dirty="0"/>
          </a:p>
        </p:txBody>
      </p:sp>
      <p:sp>
        <p:nvSpPr>
          <p:cNvPr id="7" name="Oval 6"/>
          <p:cNvSpPr/>
          <p:nvPr/>
        </p:nvSpPr>
        <p:spPr>
          <a:xfrm>
            <a:off x="548640" y="1417320"/>
            <a:ext cx="566928" cy="566928"/>
          </a:xfrm>
          <a:prstGeom prst="ellipse">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2200" b="1">
                <a:solidFill>
                  <a:srgbClr val="FFFFFF"/>
                </a:solidFill>
                <a:latin typeface="Open Sans"/>
                <a:ea typeface="Open Sans"/>
                <a:cs typeface="Open Sans"/>
              </a:rPr>
              <a:t>1</a:t>
            </a:r>
            <a:endParaRPr sz="2200" b="1">
              <a:solidFill>
                <a:srgbClr val="FFFFFF"/>
              </a:solidFill>
              <a:latin typeface="Open Sans"/>
              <a:ea typeface="Open Sans"/>
              <a:cs typeface="Open Sans"/>
            </a:endParaRPr>
          </a:p>
        </p:txBody>
      </p:sp>
      <p:sp>
        <p:nvSpPr>
          <p:cNvPr id="8" name="TextBox 7"/>
          <p:cNvSpPr txBox="1"/>
          <p:nvPr/>
        </p:nvSpPr>
        <p:spPr>
          <a:xfrm>
            <a:off x="1417320" y="1325880"/>
            <a:ext cx="9601200" cy="457200"/>
          </a:xfrm>
          <a:prstGeom prst="rect">
            <a:avLst/>
          </a:prstGeom>
          <a:noFill/>
        </p:spPr>
        <p:txBody>
          <a:bodyPr wrap="square" lIns="36576" tIns="36576" rIns="36576" bIns="36576" anchor="ctr">
            <a:spAutoFit/>
          </a:bodyPr>
          <a:lstStyle/>
          <a:p>
            <a:pPr algn="l">
              <a:spcAft>
                <a:spcPts val="400"/>
              </a:spcAft>
            </a:pPr>
            <a:r>
              <a:rPr sz="2400">
                <a:solidFill>
                  <a:srgbClr val="BB2019"/>
                </a:solidFill>
                <a:latin typeface="Open Sans"/>
                <a:ea typeface="Open Sans"/>
                <a:cs typeface="Open Sans"/>
              </a:rPr>
              <a:t>Luồng (Threads)</a:t>
            </a:r>
            <a:endParaRPr sz="2400">
              <a:solidFill>
                <a:srgbClr val="BB2019"/>
              </a:solidFill>
              <a:latin typeface="Open Sans"/>
              <a:ea typeface="Open Sans"/>
              <a:cs typeface="Open Sans"/>
            </a:endParaRPr>
          </a:p>
        </p:txBody>
      </p:sp>
      <p:sp>
        <p:nvSpPr>
          <p:cNvPr id="9" name="TextBox 8"/>
          <p:cNvSpPr txBox="1"/>
          <p:nvPr/>
        </p:nvSpPr>
        <p:spPr>
          <a:xfrm>
            <a:off x="1417320" y="1801368"/>
            <a:ext cx="9601200" cy="365760"/>
          </a:xfrm>
          <a:prstGeom prst="rect">
            <a:avLst/>
          </a:prstGeom>
          <a:noFill/>
        </p:spPr>
        <p:txBody>
          <a:bodyPr wrap="square" lIns="36576" tIns="36576" rIns="36576" bIns="36576" anchor="t">
            <a:spAutoFit/>
          </a:bodyPr>
          <a:lstStyle/>
          <a:p>
            <a:pPr algn="l">
              <a:spcAft>
                <a:spcPts val="400"/>
              </a:spcAft>
            </a:pPr>
            <a:r>
              <a:rPr sz="1400">
                <a:solidFill>
                  <a:srgbClr val="6B5F5D"/>
                </a:solidFill>
                <a:latin typeface="Open Sans"/>
                <a:ea typeface="Open Sans"/>
                <a:cs typeface="Open Sans"/>
              </a:rPr>
              <a:t>Mục 3.1 · tiến trình vs luồng, cài đặt luồng, client &amp; server đa luồng</a:t>
            </a:r>
            <a:endParaRPr sz="1400">
              <a:solidFill>
                <a:srgbClr val="6B5F5D"/>
              </a:solidFill>
              <a:latin typeface="Open Sans"/>
              <a:ea typeface="Open Sans"/>
              <a:cs typeface="Open Sans"/>
            </a:endParaRPr>
          </a:p>
        </p:txBody>
      </p:sp>
      <p:sp>
        <p:nvSpPr>
          <p:cNvPr id="10" name="Oval 9"/>
          <p:cNvSpPr/>
          <p:nvPr/>
        </p:nvSpPr>
        <p:spPr>
          <a:xfrm>
            <a:off x="548640" y="2624328"/>
            <a:ext cx="566928" cy="566928"/>
          </a:xfrm>
          <a:prstGeom prst="ellipse">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2200" b="1">
                <a:solidFill>
                  <a:srgbClr val="FFFFFF"/>
                </a:solidFill>
                <a:latin typeface="Open Sans"/>
                <a:ea typeface="Open Sans"/>
                <a:cs typeface="Open Sans"/>
              </a:rPr>
              <a:t>2</a:t>
            </a:r>
            <a:endParaRPr sz="2200" b="1">
              <a:solidFill>
                <a:srgbClr val="FFFFFF"/>
              </a:solidFill>
              <a:latin typeface="Open Sans"/>
              <a:ea typeface="Open Sans"/>
              <a:cs typeface="Open Sans"/>
            </a:endParaRPr>
          </a:p>
        </p:txBody>
      </p:sp>
      <p:sp>
        <p:nvSpPr>
          <p:cNvPr id="11" name="TextBox 10"/>
          <p:cNvSpPr txBox="1"/>
          <p:nvPr/>
        </p:nvSpPr>
        <p:spPr>
          <a:xfrm>
            <a:off x="1417320" y="2532888"/>
            <a:ext cx="9601200" cy="457200"/>
          </a:xfrm>
          <a:prstGeom prst="rect">
            <a:avLst/>
          </a:prstGeom>
          <a:noFill/>
        </p:spPr>
        <p:txBody>
          <a:bodyPr wrap="square" lIns="36576" tIns="36576" rIns="36576" bIns="36576" anchor="ctr">
            <a:spAutoFit/>
          </a:bodyPr>
          <a:lstStyle/>
          <a:p>
            <a:pPr algn="l">
              <a:spcAft>
                <a:spcPts val="400"/>
              </a:spcAft>
            </a:pPr>
            <a:r>
              <a:rPr sz="2400">
                <a:solidFill>
                  <a:srgbClr val="BB2019"/>
                </a:solidFill>
                <a:latin typeface="Open Sans"/>
                <a:ea typeface="Open Sans"/>
                <a:cs typeface="Open Sans"/>
              </a:rPr>
              <a:t>Ảo hoá (Virtualization)</a:t>
            </a:r>
            <a:endParaRPr sz="2400">
              <a:solidFill>
                <a:srgbClr val="BB2019"/>
              </a:solidFill>
              <a:latin typeface="Open Sans"/>
              <a:ea typeface="Open Sans"/>
              <a:cs typeface="Open Sans"/>
            </a:endParaRPr>
          </a:p>
        </p:txBody>
      </p:sp>
      <p:sp>
        <p:nvSpPr>
          <p:cNvPr id="12" name="TextBox 11"/>
          <p:cNvSpPr txBox="1"/>
          <p:nvPr/>
        </p:nvSpPr>
        <p:spPr>
          <a:xfrm>
            <a:off x="1417320" y="3008376"/>
            <a:ext cx="9601200" cy="365760"/>
          </a:xfrm>
          <a:prstGeom prst="rect">
            <a:avLst/>
          </a:prstGeom>
          <a:noFill/>
        </p:spPr>
        <p:txBody>
          <a:bodyPr wrap="square" lIns="36576" tIns="36576" rIns="36576" bIns="36576" anchor="t">
            <a:spAutoFit/>
          </a:bodyPr>
          <a:lstStyle/>
          <a:p>
            <a:pPr algn="l">
              <a:spcAft>
                <a:spcPts val="400"/>
              </a:spcAft>
            </a:pPr>
            <a:r>
              <a:rPr sz="1400">
                <a:solidFill>
                  <a:srgbClr val="6B5F5D"/>
                </a:solidFill>
                <a:latin typeface="Open Sans"/>
                <a:ea typeface="Open Sans"/>
                <a:cs typeface="Open Sans"/>
              </a:rPr>
              <a:t>Mục 3.2 · nguyên lý, VMM, container, so sánh VM – container, ứng dụng đám mây</a:t>
            </a:r>
            <a:endParaRPr sz="1400">
              <a:solidFill>
                <a:srgbClr val="6B5F5D"/>
              </a:solidFill>
              <a:latin typeface="Open Sans"/>
              <a:ea typeface="Open Sans"/>
              <a:cs typeface="Open Sans"/>
            </a:endParaRPr>
          </a:p>
        </p:txBody>
      </p:sp>
      <p:sp>
        <p:nvSpPr>
          <p:cNvPr id="13" name="Oval 12"/>
          <p:cNvSpPr/>
          <p:nvPr/>
        </p:nvSpPr>
        <p:spPr>
          <a:xfrm>
            <a:off x="548640" y="3831336"/>
            <a:ext cx="566928" cy="566928"/>
          </a:xfrm>
          <a:prstGeom prst="ellipse">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2200" b="1">
                <a:solidFill>
                  <a:srgbClr val="FFFFFF"/>
                </a:solidFill>
                <a:latin typeface="Open Sans"/>
                <a:ea typeface="Open Sans"/>
                <a:cs typeface="Open Sans"/>
              </a:rPr>
              <a:t>3</a:t>
            </a:r>
            <a:endParaRPr sz="2200" b="1">
              <a:solidFill>
                <a:srgbClr val="FFFFFF"/>
              </a:solidFill>
              <a:latin typeface="Open Sans"/>
              <a:ea typeface="Open Sans"/>
              <a:cs typeface="Open Sans"/>
            </a:endParaRPr>
          </a:p>
        </p:txBody>
      </p:sp>
      <p:sp>
        <p:nvSpPr>
          <p:cNvPr id="14" name="TextBox 13"/>
          <p:cNvSpPr txBox="1"/>
          <p:nvPr/>
        </p:nvSpPr>
        <p:spPr>
          <a:xfrm>
            <a:off x="1417320" y="3739896"/>
            <a:ext cx="9601200" cy="457200"/>
          </a:xfrm>
          <a:prstGeom prst="rect">
            <a:avLst/>
          </a:prstGeom>
          <a:noFill/>
        </p:spPr>
        <p:txBody>
          <a:bodyPr wrap="square" lIns="36576" tIns="36576" rIns="36576" bIns="36576" anchor="ctr">
            <a:spAutoFit/>
          </a:bodyPr>
          <a:lstStyle/>
          <a:p>
            <a:pPr algn="l">
              <a:spcAft>
                <a:spcPts val="400"/>
              </a:spcAft>
            </a:pPr>
            <a:r>
              <a:rPr sz="2400">
                <a:solidFill>
                  <a:srgbClr val="BB2019"/>
                </a:solidFill>
                <a:latin typeface="Open Sans"/>
                <a:ea typeface="Open Sans"/>
                <a:cs typeface="Open Sans"/>
              </a:rPr>
              <a:t>Tổng kết</a:t>
            </a:r>
            <a:endParaRPr sz="2400">
              <a:solidFill>
                <a:srgbClr val="BB2019"/>
              </a:solidFill>
              <a:latin typeface="Open Sans"/>
              <a:ea typeface="Open Sans"/>
              <a:cs typeface="Open Sans"/>
            </a:endParaRPr>
          </a:p>
        </p:txBody>
      </p:sp>
      <p:sp>
        <p:nvSpPr>
          <p:cNvPr id="15" name="TextBox 14"/>
          <p:cNvSpPr txBox="1"/>
          <p:nvPr/>
        </p:nvSpPr>
        <p:spPr>
          <a:xfrm>
            <a:off x="1417320" y="4215384"/>
            <a:ext cx="9601200" cy="365760"/>
          </a:xfrm>
          <a:prstGeom prst="rect">
            <a:avLst/>
          </a:prstGeom>
          <a:noFill/>
        </p:spPr>
        <p:txBody>
          <a:bodyPr wrap="square" lIns="36576" tIns="36576" rIns="36576" bIns="36576" anchor="t">
            <a:spAutoFit/>
          </a:bodyPr>
          <a:lstStyle/>
          <a:p>
            <a:pPr algn="l">
              <a:spcAft>
                <a:spcPts val="400"/>
              </a:spcAft>
            </a:pPr>
            <a:r>
              <a:rPr sz="1400">
                <a:solidFill>
                  <a:srgbClr val="6B5F5D"/>
                </a:solidFill>
                <a:latin typeface="Open Sans"/>
                <a:ea typeface="Open Sans"/>
                <a:cs typeface="Open Sans"/>
              </a:rPr>
              <a:t>Những điều rút ra cho thiết kế hệ phân tán</a:t>
            </a:r>
            <a:endParaRPr sz="1400">
              <a:solidFill>
                <a:srgbClr val="6B5F5D"/>
              </a:solidFill>
              <a:latin typeface="Open Sans"/>
              <a:ea typeface="Open Sans"/>
              <a:cs typeface="Open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3.1 Luồng (Threads)</a:t>
            </a:r>
          </a:p>
        </p:txBody>
      </p:sp>
      <p:sp>
        <p:nvSpPr>
          <p:cNvPr id="3" name="Text Placeholder 2"/>
          <p:cNvSpPr>
            <a:spLocks noGrp="1"/>
          </p:cNvSpPr>
          <p:nvPr>
            <p:ph type="body" sz="quarter" idx="13"/>
          </p:nvPr>
        </p:nvSpPr>
        <p:spPr/>
        <p:txBody>
          <a:bodyPr/>
          <a:lstStyle/>
          <a:p>
            <a:r>
              <a:t>Giới thiệu về luồng: tiến trình, ngữ cảnh, chi phí chuyển ngữ cảnh</a:t>
            </a:r>
          </a:p>
          <a:p>
            <a:r>
              <a:t>Cài đặt luồng: mức người dùng, mức nhân, many-to-many</a:t>
            </a:r>
          </a:p>
          <a:p>
            <a:r>
              <a:t>Luồng trong hệ phân tán: client đa luồng, server đa luồng</a:t>
            </a:r>
          </a:p>
          <a:p>
            <a:r>
              <a:t>Ba cách xây dựng server (Hình 3.7)</a:t>
            </a:r>
          </a:p>
        </p:txBody>
      </p:sp>
      <p:sp>
        <p:nvSpPr>
          <p:cNvPr id="4" name="Slide Number Placeholder 3"/>
          <p:cNvSpPr>
            <a:spLocks noGrp="1"/>
          </p:cNvSpPr>
          <p:nvPr>
            <p:ph type="sldNum" sz="quarter" idx="12"/>
          </p:nvPr>
        </p:nvSpPr>
        <p:spPr/>
        <p:txBody>
          <a:bodyPr/>
          <a:lstStyle/>
          <a:p>
            <a:fld id="{D92DDFE6-74DA-46A1-A171-CE3314B0D579}" type="slidenum">
              <a:rPr lang="en-US" smtClean="0"/>
            </a:fld>
            <a:endParaRPr lang="en-US" dirty="0"/>
          </a:p>
        </p:txBody>
      </p:sp>
      <p:sp>
        <p:nvSpPr>
          <p:cNvPr id="5" name="Date Placeholder 4"/>
          <p:cNvSpPr>
            <a:spLocks noGrp="1"/>
          </p:cNvSpPr>
          <p:nvPr>
            <p:ph type="dt" sz="half" idx="10"/>
          </p:nvPr>
        </p:nvSpPr>
        <p:spPr/>
        <p:txBody>
          <a:bodyPr/>
          <a:lstStyle/>
          <a:p>
            <a:fld id="{2933FCAF-43A6-4F1B-B43D-A70C2A597932}" type="datetime1">
              <a:rPr lang="vi-VN" smtClean="0"/>
            </a:fld>
            <a:endParaRPr lang="en-US"/>
          </a:p>
        </p:txBody>
      </p:sp>
      <p:sp>
        <p:nvSpPr>
          <p:cNvPr id="6" name="Footer Placeholder 5"/>
          <p:cNvSpPr>
            <a:spLocks noGrp="1"/>
          </p:cNvSpPr>
          <p:nvPr>
            <p:ph type="ftr" sz="quarter" idx="11"/>
          </p:nvPr>
        </p:nvSpPr>
        <p:spPr/>
        <p:txBody>
          <a:bodyPr/>
          <a:lstStyle/>
          <a:p>
            <a:r>
              <a:rPr lang="en-US"/>
              <a:t>Chương 3 · Tiến trình: Luồng &amp; Ảo hoá</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Tiến trình và luồng</a:t>
            </a:r>
          </a:p>
        </p:txBody>
      </p:sp>
      <p:sp>
        <p:nvSpPr>
          <p:cNvPr id="3" name="Text Placeholder 2"/>
          <p:cNvSpPr>
            <a:spLocks noGrp="1"/>
          </p:cNvSpPr>
          <p:nvPr>
            <p:ph type="body" sz="quarter" idx="13"/>
          </p:nvPr>
        </p:nvSpPr>
        <p:spPr/>
        <p:txBody>
          <a:bodyPr/>
          <a:lstStyle/>
          <a:p>
            <a:r>
              <a:t>Ngữ cảnh bộ xử lý ⊂ ngữ cảnh luồng ⊂ ngữ cảnh tiến trình</a:t>
            </a:r>
          </a:p>
        </p:txBody>
      </p:sp>
      <p:sp>
        <p:nvSpPr>
          <p:cNvPr id="4" name="Slide Number Placeholder 3"/>
          <p:cNvSpPr>
            <a:spLocks noGrp="1"/>
          </p:cNvSpPr>
          <p:nvPr>
            <p:ph type="sldNum" sz="quarter" idx="12"/>
          </p:nvPr>
        </p:nvSpPr>
        <p:spPr/>
        <p:txBody>
          <a:bodyPr/>
          <a:lstStyle/>
          <a:p>
            <a:fld id="{D92DDFE6-74DA-46A1-A171-CE3314B0D579}" type="slidenum">
              <a:rPr lang="en-US" smtClean="0"/>
            </a:fld>
            <a:endParaRPr lang="en-US" dirty="0"/>
          </a:p>
        </p:txBody>
      </p:sp>
      <p:sp>
        <p:nvSpPr>
          <p:cNvPr id="5" name="Date Placeholder 4"/>
          <p:cNvSpPr>
            <a:spLocks noGrp="1"/>
          </p:cNvSpPr>
          <p:nvPr>
            <p:ph type="dt" sz="half" idx="10"/>
          </p:nvPr>
        </p:nvSpPr>
        <p:spPr/>
        <p:txBody>
          <a:bodyPr/>
          <a:lstStyle/>
          <a:p>
            <a:fld id="{2933FCAF-43A6-4F1B-B43D-A70C2A597932}" type="datetime1">
              <a:rPr lang="vi-VN" smtClean="0"/>
            </a:fld>
            <a:endParaRPr lang="en-US"/>
          </a:p>
        </p:txBody>
      </p:sp>
      <p:sp>
        <p:nvSpPr>
          <p:cNvPr id="6" name="Footer Placeholder 5"/>
          <p:cNvSpPr>
            <a:spLocks noGrp="1"/>
          </p:cNvSpPr>
          <p:nvPr>
            <p:ph type="ftr" sz="quarter" idx="11"/>
          </p:nvPr>
        </p:nvSpPr>
        <p:spPr/>
        <p:txBody>
          <a:bodyPr/>
          <a:lstStyle/>
          <a:p>
            <a:r>
              <a:rPr lang="en-US"/>
              <a:t>Chương 3 · Tiến trình: Luồng &amp; Ảo hoá</a:t>
            </a:r>
            <a:endParaRPr lang="en-US" dirty="0"/>
          </a:p>
        </p:txBody>
      </p:sp>
      <p:sp>
        <p:nvSpPr>
          <p:cNvPr id="7" name="Rectangle 6"/>
          <p:cNvSpPr/>
          <p:nvPr/>
        </p:nvSpPr>
        <p:spPr>
          <a:xfrm>
            <a:off x="457200" y="1280160"/>
            <a:ext cx="5669280" cy="4983480"/>
          </a:xfrm>
          <a:prstGeom prst="rect">
            <a:avLst/>
          </a:prstGeom>
          <a:solidFill>
            <a:srgbClr val="FFF7F7"/>
          </a:solidFill>
          <a:ln w="15875">
            <a:solidFill>
              <a:srgbClr val="BB2019"/>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8" name="TextBox 7"/>
          <p:cNvSpPr txBox="1"/>
          <p:nvPr/>
        </p:nvSpPr>
        <p:spPr>
          <a:xfrm>
            <a:off x="640080" y="1371600"/>
            <a:ext cx="5303520" cy="914400"/>
          </a:xfrm>
          <a:prstGeom prst="rect">
            <a:avLst/>
          </a:prstGeom>
          <a:noFill/>
        </p:spPr>
        <p:txBody>
          <a:bodyPr wrap="square" lIns="36576" tIns="36576" rIns="36576" bIns="36576" anchor="t">
            <a:spAutoFit/>
          </a:bodyPr>
          <a:lstStyle/>
          <a:p>
            <a:pPr algn="l">
              <a:spcAft>
                <a:spcPts val="400"/>
              </a:spcAft>
            </a:pPr>
            <a:r>
              <a:rPr sz="1600" b="1">
                <a:solidFill>
                  <a:srgbClr val="BB2019"/>
                </a:solidFill>
                <a:latin typeface="Open Sans"/>
                <a:ea typeface="Open Sans"/>
                <a:cs typeface="Open Sans"/>
              </a:rPr>
              <a:t>Ngữ cảnh tiến trình</a:t>
            </a:r>
            <a:endParaRPr sz="1600" b="1">
              <a:solidFill>
                <a:srgbClr val="BB2019"/>
              </a:solidFill>
              <a:latin typeface="Open Sans"/>
              <a:ea typeface="Open Sans"/>
              <a:cs typeface="Open Sans"/>
            </a:endParaRPr>
          </a:p>
          <a:p>
            <a:pPr algn="l">
              <a:spcAft>
                <a:spcPts val="400"/>
              </a:spcAft>
            </a:pPr>
            <a:r>
              <a:rPr sz="1300">
                <a:solidFill>
                  <a:srgbClr val="262626"/>
                </a:solidFill>
                <a:latin typeface="Open Sans"/>
                <a:ea typeface="Open Sans"/>
                <a:cs typeface="Open Sans"/>
              </a:rPr>
              <a:t>Không gian địa chỉ riêng, bảng trang (MMU), tệp đang mở, quyền, thông tin kế toán</a:t>
            </a:r>
            <a:endParaRPr sz="1300">
              <a:solidFill>
                <a:srgbClr val="262626"/>
              </a:solidFill>
              <a:latin typeface="Open Sans"/>
              <a:ea typeface="Open Sans"/>
              <a:cs typeface="Open Sans"/>
            </a:endParaRPr>
          </a:p>
        </p:txBody>
      </p:sp>
      <p:sp>
        <p:nvSpPr>
          <p:cNvPr id="9" name="Rectangle 8"/>
          <p:cNvSpPr/>
          <p:nvPr/>
        </p:nvSpPr>
        <p:spPr>
          <a:xfrm>
            <a:off x="868680" y="2514600"/>
            <a:ext cx="4846320" cy="3474720"/>
          </a:xfrm>
          <a:prstGeom prst="rect">
            <a:avLst/>
          </a:prstGeom>
          <a:solidFill>
            <a:srgbClr val="FDECEB"/>
          </a:solidFill>
          <a:ln w="12700">
            <a:solidFill>
              <a:srgbClr val="BB2019"/>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10" name="TextBox 9"/>
          <p:cNvSpPr txBox="1"/>
          <p:nvPr/>
        </p:nvSpPr>
        <p:spPr>
          <a:xfrm>
            <a:off x="1051560" y="2606040"/>
            <a:ext cx="4480560" cy="914400"/>
          </a:xfrm>
          <a:prstGeom prst="rect">
            <a:avLst/>
          </a:prstGeom>
          <a:noFill/>
        </p:spPr>
        <p:txBody>
          <a:bodyPr wrap="square" lIns="36576" tIns="36576" rIns="36576" bIns="36576" anchor="t">
            <a:spAutoFit/>
          </a:bodyPr>
          <a:lstStyle/>
          <a:p>
            <a:pPr algn="l">
              <a:spcAft>
                <a:spcPts val="400"/>
              </a:spcAft>
            </a:pPr>
            <a:r>
              <a:rPr sz="1600" b="1">
                <a:solidFill>
                  <a:srgbClr val="BB2019"/>
                </a:solidFill>
                <a:latin typeface="Open Sans"/>
                <a:ea typeface="Open Sans"/>
                <a:cs typeface="Open Sans"/>
              </a:rPr>
              <a:t>Ngữ cảnh luồng</a:t>
            </a:r>
            <a:endParaRPr sz="1600" b="1">
              <a:solidFill>
                <a:srgbClr val="BB2019"/>
              </a:solidFill>
              <a:latin typeface="Open Sans"/>
              <a:ea typeface="Open Sans"/>
              <a:cs typeface="Open Sans"/>
            </a:endParaRPr>
          </a:p>
          <a:p>
            <a:pPr algn="l">
              <a:spcAft>
                <a:spcPts val="400"/>
              </a:spcAft>
            </a:pPr>
            <a:r>
              <a:rPr sz="1300">
                <a:solidFill>
                  <a:srgbClr val="262626"/>
                </a:solidFill>
                <a:latin typeface="Open Sans"/>
                <a:ea typeface="Open Sans"/>
                <a:cs typeface="Open Sans"/>
              </a:rPr>
              <a:t>Thêm thông tin quản lý luồng, vd. luồng đang bị chặn trên một mutex</a:t>
            </a:r>
            <a:endParaRPr sz="1300">
              <a:solidFill>
                <a:srgbClr val="262626"/>
              </a:solidFill>
              <a:latin typeface="Open Sans"/>
              <a:ea typeface="Open Sans"/>
              <a:cs typeface="Open Sans"/>
            </a:endParaRPr>
          </a:p>
        </p:txBody>
      </p:sp>
      <p:sp>
        <p:nvSpPr>
          <p:cNvPr id="11" name="Rectangle 10"/>
          <p:cNvSpPr/>
          <p:nvPr/>
        </p:nvSpPr>
        <p:spPr>
          <a:xfrm>
            <a:off x="1280160" y="3749039"/>
            <a:ext cx="4023360" cy="1920240"/>
          </a:xfrm>
          <a:prstGeom prst="rect">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200"/>
              </a:spcAft>
            </a:pPr>
            <a:r>
              <a:rPr sz="1600" b="1">
                <a:solidFill>
                  <a:srgbClr val="FFFFFF"/>
                </a:solidFill>
                <a:latin typeface="Open Sans"/>
                <a:ea typeface="Open Sans"/>
                <a:cs typeface="Open Sans"/>
              </a:rPr>
              <a:t>Ngữ cảnh bộ xử lý</a:t>
            </a:r>
            <a:endParaRPr sz="1600" b="1">
              <a:solidFill>
                <a:srgbClr val="FFFFFF"/>
              </a:solidFill>
              <a:latin typeface="Open Sans"/>
              <a:ea typeface="Open Sans"/>
              <a:cs typeface="Open Sans"/>
            </a:endParaRPr>
          </a:p>
          <a:p>
            <a:pPr algn="ctr">
              <a:spcAft>
                <a:spcPts val="200"/>
              </a:spcAft>
            </a:pPr>
            <a:r>
              <a:rPr sz="1300">
                <a:solidFill>
                  <a:srgbClr val="FFFFFF"/>
                </a:solidFill>
                <a:latin typeface="Open Sans"/>
                <a:ea typeface="Open Sans"/>
                <a:cs typeface="Open Sans"/>
              </a:rPr>
              <a:t>Bộ đếm chương trình (PC), con trỏ ngăn xếp (SP), các thanh ghi</a:t>
            </a:r>
            <a:endParaRPr sz="1300">
              <a:solidFill>
                <a:srgbClr val="FFFFFF"/>
              </a:solidFill>
              <a:latin typeface="Open Sans"/>
              <a:ea typeface="Open Sans"/>
              <a:cs typeface="Open Sans"/>
            </a:endParaRPr>
          </a:p>
        </p:txBody>
      </p:sp>
      <p:sp>
        <p:nvSpPr>
          <p:cNvPr id="12" name="Rectangle 11"/>
          <p:cNvSpPr/>
          <p:nvPr/>
        </p:nvSpPr>
        <p:spPr>
          <a:xfrm>
            <a:off x="6492240" y="1280160"/>
            <a:ext cx="5257800" cy="42062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28016" rIns="128016" bIns="128016" rtlCol="0" anchor="ctr"/>
          <a:lstStyle/>
          <a:p>
            <a:pPr algn="l">
              <a:spcAft>
                <a:spcPts val="200"/>
              </a:spcAft>
            </a:pPr>
            <a:r>
              <a:rPr sz="1450" b="1">
                <a:solidFill>
                  <a:srgbClr val="FFFFFF"/>
                </a:solidFill>
                <a:latin typeface="Open Sans"/>
                <a:ea typeface="Open Sans"/>
                <a:cs typeface="Open Sans"/>
              </a:rPr>
              <a:t>Tiến trình: an toàn nhưng đắt</a:t>
            </a:r>
            <a:endParaRPr sz="1450" b="1">
              <a:solidFill>
                <a:srgbClr val="FFFFFF"/>
              </a:solidFill>
              <a:latin typeface="Open Sans"/>
              <a:ea typeface="Open Sans"/>
              <a:cs typeface="Open Sans"/>
            </a:endParaRPr>
          </a:p>
        </p:txBody>
      </p:sp>
      <p:sp>
        <p:nvSpPr>
          <p:cNvPr id="13" name="Rectangle 12"/>
          <p:cNvSpPr/>
          <p:nvPr/>
        </p:nvSpPr>
        <p:spPr>
          <a:xfrm>
            <a:off x="6492240" y="1700784"/>
            <a:ext cx="5257800" cy="1911095"/>
          </a:xfrm>
          <a:prstGeom prst="rect">
            <a:avLst/>
          </a:prstGeom>
          <a:solidFill>
            <a:srgbClr val="FFF7F7"/>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28016" rIns="128016" bIns="128016" rtlCol="0" anchor="t"/>
          <a:lstStyle/>
          <a:p>
            <a:pPr marL="237490" indent="-201295" algn="l">
              <a:spcAft>
                <a:spcPts val="200"/>
              </a:spcAft>
              <a:buClr>
                <a:srgbClr val="BB2019"/>
              </a:buClr>
              <a:buFont typeface="Arial" panose="020B0604020202020204"/>
              <a:buChar char="•"/>
            </a:pPr>
            <a:r>
              <a:rPr sz="1350">
                <a:solidFill>
                  <a:srgbClr val="262626"/>
                </a:solidFill>
                <a:latin typeface="Open Sans"/>
                <a:ea typeface="Open Sans"/>
                <a:cs typeface="Open Sans"/>
              </a:rPr>
              <a:t>Tạo mới: cấp không gian địa chỉ, khởi tạo đoạn dữ liệu, nạp mã, dựng stack</a:t>
            </a:r>
            <a:endParaRPr sz="1350">
              <a:solidFill>
                <a:srgbClr val="262626"/>
              </a:solidFill>
              <a:latin typeface="Open Sans"/>
              <a:ea typeface="Open Sans"/>
              <a:cs typeface="Open Sans"/>
            </a:endParaRPr>
          </a:p>
          <a:p>
            <a:pPr marL="237490" indent="-201295" algn="l">
              <a:spcAft>
                <a:spcPts val="200"/>
              </a:spcAft>
              <a:buClr>
                <a:srgbClr val="BB2019"/>
              </a:buClr>
              <a:buFont typeface="Arial" panose="020B0604020202020204"/>
              <a:buChar char="•"/>
            </a:pPr>
            <a:r>
              <a:rPr sz="1350">
                <a:solidFill>
                  <a:srgbClr val="262626"/>
                </a:solidFill>
                <a:latin typeface="Open Sans"/>
                <a:ea typeface="Open Sans"/>
                <a:cs typeface="Open Sans"/>
              </a:rPr>
              <a:t>Chuyển tiến trình: lưu thanh ghi, đổi bảng MMU, xoá TLB, có thể phải swap ra đĩa</a:t>
            </a:r>
            <a:endParaRPr sz="1350">
              <a:solidFill>
                <a:srgbClr val="262626"/>
              </a:solidFill>
              <a:latin typeface="Open Sans"/>
              <a:ea typeface="Open Sans"/>
              <a:cs typeface="Open Sans"/>
            </a:endParaRPr>
          </a:p>
        </p:txBody>
      </p:sp>
      <p:sp>
        <p:nvSpPr>
          <p:cNvPr id="14" name="Rectangle 13"/>
          <p:cNvSpPr/>
          <p:nvPr/>
        </p:nvSpPr>
        <p:spPr>
          <a:xfrm>
            <a:off x="6492240" y="3794760"/>
            <a:ext cx="5257800" cy="42062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28016" rIns="128016" bIns="128016" rtlCol="0" anchor="ctr"/>
          <a:lstStyle/>
          <a:p>
            <a:pPr algn="l">
              <a:spcAft>
                <a:spcPts val="200"/>
              </a:spcAft>
            </a:pPr>
            <a:r>
              <a:rPr sz="1450" b="1">
                <a:solidFill>
                  <a:srgbClr val="FFFFFF"/>
                </a:solidFill>
                <a:latin typeface="Open Sans"/>
                <a:ea typeface="Open Sans"/>
                <a:cs typeface="Open Sans"/>
              </a:rPr>
              <a:t>Luồng: nhẹ nhưng phải tự bảo vệ</a:t>
            </a:r>
            <a:endParaRPr sz="1450" b="1">
              <a:solidFill>
                <a:srgbClr val="FFFFFF"/>
              </a:solidFill>
              <a:latin typeface="Open Sans"/>
              <a:ea typeface="Open Sans"/>
              <a:cs typeface="Open Sans"/>
            </a:endParaRPr>
          </a:p>
        </p:txBody>
      </p:sp>
      <p:sp>
        <p:nvSpPr>
          <p:cNvPr id="15" name="Rectangle 14"/>
          <p:cNvSpPr/>
          <p:nvPr/>
        </p:nvSpPr>
        <p:spPr>
          <a:xfrm>
            <a:off x="6492240" y="4215384"/>
            <a:ext cx="5257800" cy="2048256"/>
          </a:xfrm>
          <a:prstGeom prst="rect">
            <a:avLst/>
          </a:prstGeom>
          <a:solidFill>
            <a:srgbClr val="FFF7F7"/>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28016" rIns="128016" bIns="128016" rtlCol="0" anchor="t"/>
          <a:lstStyle/>
          <a:p>
            <a:pPr marL="237490" indent="-201295" algn="l">
              <a:spcAft>
                <a:spcPts val="200"/>
              </a:spcAft>
              <a:buClr>
                <a:srgbClr val="BB2019"/>
              </a:buClr>
              <a:buFont typeface="Arial" panose="020B0604020202020204"/>
              <a:buChar char="•"/>
            </a:pPr>
            <a:r>
              <a:rPr sz="1350">
                <a:solidFill>
                  <a:srgbClr val="262626"/>
                </a:solidFill>
                <a:latin typeface="Open Sans"/>
                <a:ea typeface="Open Sans"/>
                <a:cs typeface="Open Sans"/>
              </a:rPr>
              <a:t>Chỉ giữ thông tin tối thiểu để chia sẻ CPU → tạo và chuyển nhanh</a:t>
            </a:r>
            <a:endParaRPr sz="1350">
              <a:solidFill>
                <a:srgbClr val="262626"/>
              </a:solidFill>
              <a:latin typeface="Open Sans"/>
              <a:ea typeface="Open Sans"/>
              <a:cs typeface="Open Sans"/>
            </a:endParaRPr>
          </a:p>
          <a:p>
            <a:pPr marL="237490" indent="-201295" algn="l">
              <a:spcAft>
                <a:spcPts val="200"/>
              </a:spcAft>
              <a:buClr>
                <a:srgbClr val="BB2019"/>
              </a:buClr>
              <a:buFont typeface="Arial" panose="020B0604020202020204"/>
              <a:buChar char="•"/>
            </a:pPr>
            <a:r>
              <a:rPr sz="1350">
                <a:solidFill>
                  <a:srgbClr val="262626"/>
                </a:solidFill>
                <a:latin typeface="Open Sans"/>
                <a:ea typeface="Open Sans"/>
                <a:cs typeface="Open Sans"/>
              </a:rPr>
              <a:t>Không có bảo vệ tự động giữa các luồng cùng tiến trình → lập trình viên tự đồng bộ</a:t>
            </a:r>
            <a:endParaRPr sz="1350">
              <a:solidFill>
                <a:srgbClr val="262626"/>
              </a:solidFill>
              <a:latin typeface="Open Sans"/>
              <a:ea typeface="Open Sans"/>
              <a:cs typeface="Open Sans"/>
            </a:endParaRPr>
          </a:p>
          <a:p>
            <a:pPr marL="237490" indent="-201295" algn="l">
              <a:spcAft>
                <a:spcPts val="200"/>
              </a:spcAft>
              <a:buClr>
                <a:srgbClr val="BB2019"/>
              </a:buClr>
              <a:buFont typeface="Arial" panose="020B0604020202020204"/>
              <a:buChar char="•"/>
            </a:pPr>
            <a:r>
              <a:rPr sz="1350">
                <a:solidFill>
                  <a:srgbClr val="262626"/>
                </a:solidFill>
                <a:latin typeface="Open Sans"/>
                <a:ea typeface="Open Sans"/>
                <a:cs typeface="Open Sans"/>
              </a:rPr>
              <a:t>Hiệu năng đa luồng gần như không bao giờ kém hơn đơn luồng</a:t>
            </a:r>
            <a:endParaRPr sz="1350">
              <a:solidFill>
                <a:srgbClr val="262626"/>
              </a:solidFill>
              <a:latin typeface="Open Sans"/>
              <a:ea typeface="Open Sans"/>
              <a:cs typeface="Open Sa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Chuyển ngữ cảnh khi giao tiếp giữa tiến trình</a:t>
            </a:r>
          </a:p>
        </p:txBody>
      </p:sp>
      <p:sp>
        <p:nvSpPr>
          <p:cNvPr id="3" name="Text Placeholder 2"/>
          <p:cNvSpPr>
            <a:spLocks noGrp="1"/>
          </p:cNvSpPr>
          <p:nvPr>
            <p:ph type="body" sz="quarter" idx="13"/>
          </p:nvPr>
        </p:nvSpPr>
        <p:spPr/>
        <p:txBody>
          <a:bodyPr/>
          <a:lstStyle/>
          <a:p>
            <a:r>
              <a:t>Hình 3.1 · IPC cần sự can thiệp của nhân hệ điều hành</a:t>
            </a:r>
          </a:p>
        </p:txBody>
      </p:sp>
      <p:sp>
        <p:nvSpPr>
          <p:cNvPr id="4" name="Slide Number Placeholder 3"/>
          <p:cNvSpPr>
            <a:spLocks noGrp="1"/>
          </p:cNvSpPr>
          <p:nvPr>
            <p:ph type="sldNum" sz="quarter" idx="12"/>
          </p:nvPr>
        </p:nvSpPr>
        <p:spPr/>
        <p:txBody>
          <a:bodyPr/>
          <a:lstStyle/>
          <a:p>
            <a:fld id="{D92DDFE6-74DA-46A1-A171-CE3314B0D579}" type="slidenum">
              <a:rPr lang="en-US" smtClean="0"/>
            </a:fld>
            <a:endParaRPr lang="en-US" dirty="0"/>
          </a:p>
        </p:txBody>
      </p:sp>
      <p:sp>
        <p:nvSpPr>
          <p:cNvPr id="5" name="Date Placeholder 4"/>
          <p:cNvSpPr>
            <a:spLocks noGrp="1"/>
          </p:cNvSpPr>
          <p:nvPr>
            <p:ph type="dt" sz="half" idx="10"/>
          </p:nvPr>
        </p:nvSpPr>
        <p:spPr/>
        <p:txBody>
          <a:bodyPr/>
          <a:lstStyle/>
          <a:p>
            <a:fld id="{2933FCAF-43A6-4F1B-B43D-A70C2A597932}" type="datetime1">
              <a:rPr lang="vi-VN" smtClean="0"/>
            </a:fld>
            <a:endParaRPr lang="en-US"/>
          </a:p>
        </p:txBody>
      </p:sp>
      <p:sp>
        <p:nvSpPr>
          <p:cNvPr id="6" name="Footer Placeholder 5"/>
          <p:cNvSpPr>
            <a:spLocks noGrp="1"/>
          </p:cNvSpPr>
          <p:nvPr>
            <p:ph type="ftr" sz="quarter" idx="11"/>
          </p:nvPr>
        </p:nvSpPr>
        <p:spPr/>
        <p:txBody>
          <a:bodyPr/>
          <a:lstStyle/>
          <a:p>
            <a:r>
              <a:rPr lang="en-US"/>
              <a:t>Chương 3 · Tiến trình: Luồng &amp; Ảo hoá</a:t>
            </a:r>
            <a:endParaRPr lang="en-US" dirty="0"/>
          </a:p>
        </p:txBody>
      </p:sp>
      <p:sp>
        <p:nvSpPr>
          <p:cNvPr id="7" name="Rectangle 6"/>
          <p:cNvSpPr/>
          <p:nvPr/>
        </p:nvSpPr>
        <p:spPr>
          <a:xfrm>
            <a:off x="640080" y="1554480"/>
            <a:ext cx="2377440" cy="914400"/>
          </a:xfrm>
          <a:prstGeom prst="rect">
            <a:avLst/>
          </a:prstGeom>
          <a:solidFill>
            <a:srgbClr val="FDECEB"/>
          </a:solidFill>
          <a:ln w="12700">
            <a:solidFill>
              <a:srgbClr val="BB2019"/>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200"/>
              </a:spcAft>
            </a:pPr>
            <a:r>
              <a:rPr sz="1600" b="1">
                <a:solidFill>
                  <a:srgbClr val="BB2019"/>
                </a:solidFill>
                <a:latin typeface="Open Sans"/>
                <a:ea typeface="Open Sans"/>
                <a:cs typeface="Open Sans"/>
              </a:rPr>
              <a:t>Tiến trình A</a:t>
            </a:r>
            <a:endParaRPr sz="1600" b="1">
              <a:solidFill>
                <a:srgbClr val="BB2019"/>
              </a:solidFill>
              <a:latin typeface="Open Sans"/>
              <a:ea typeface="Open Sans"/>
              <a:cs typeface="Open Sans"/>
            </a:endParaRPr>
          </a:p>
        </p:txBody>
      </p:sp>
      <p:sp>
        <p:nvSpPr>
          <p:cNvPr id="8" name="Rectangle 7"/>
          <p:cNvSpPr/>
          <p:nvPr/>
        </p:nvSpPr>
        <p:spPr>
          <a:xfrm>
            <a:off x="4297680" y="1554480"/>
            <a:ext cx="2377440" cy="914400"/>
          </a:xfrm>
          <a:prstGeom prst="rect">
            <a:avLst/>
          </a:prstGeom>
          <a:solidFill>
            <a:srgbClr val="FDECEB"/>
          </a:solidFill>
          <a:ln w="12700">
            <a:solidFill>
              <a:srgbClr val="BB2019"/>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200"/>
              </a:spcAft>
            </a:pPr>
            <a:r>
              <a:rPr sz="1600" b="1">
                <a:solidFill>
                  <a:srgbClr val="BB2019"/>
                </a:solidFill>
                <a:latin typeface="Open Sans"/>
                <a:ea typeface="Open Sans"/>
                <a:cs typeface="Open Sans"/>
              </a:rPr>
              <a:t>Tiến trình B</a:t>
            </a:r>
            <a:endParaRPr sz="1600" b="1">
              <a:solidFill>
                <a:srgbClr val="BB2019"/>
              </a:solidFill>
              <a:latin typeface="Open Sans"/>
              <a:ea typeface="Open Sans"/>
              <a:cs typeface="Open Sans"/>
            </a:endParaRPr>
          </a:p>
        </p:txBody>
      </p:sp>
      <p:sp>
        <p:nvSpPr>
          <p:cNvPr id="9" name="Rectangle 8"/>
          <p:cNvSpPr/>
          <p:nvPr/>
        </p:nvSpPr>
        <p:spPr>
          <a:xfrm>
            <a:off x="640080" y="3931920"/>
            <a:ext cx="6035040" cy="1143000"/>
          </a:xfrm>
          <a:prstGeom prst="rect">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tIns="91440" bIns="91440" rtlCol="0" anchor="b"/>
          <a:lstStyle/>
          <a:p>
            <a:pPr algn="ctr">
              <a:spcAft>
                <a:spcPts val="200"/>
              </a:spcAft>
            </a:pPr>
            <a:r>
              <a:rPr sz="1600" b="1">
                <a:solidFill>
                  <a:srgbClr val="FFFFFF"/>
                </a:solidFill>
                <a:latin typeface="Open Sans"/>
                <a:ea typeface="Open Sans"/>
                <a:cs typeface="Open Sans"/>
              </a:rPr>
              <a:t>Nhân hệ điều hành</a:t>
            </a:r>
            <a:endParaRPr sz="1600" b="1">
              <a:solidFill>
                <a:srgbClr val="FFFFFF"/>
              </a:solidFill>
              <a:latin typeface="Open Sans"/>
              <a:ea typeface="Open Sans"/>
              <a:cs typeface="Open Sans"/>
            </a:endParaRPr>
          </a:p>
        </p:txBody>
      </p:sp>
      <p:sp>
        <p:nvSpPr>
          <p:cNvPr id="10" name="TextBox 9"/>
          <p:cNvSpPr txBox="1"/>
          <p:nvPr/>
        </p:nvSpPr>
        <p:spPr>
          <a:xfrm>
            <a:off x="640080" y="2788920"/>
            <a:ext cx="6035040" cy="365760"/>
          </a:xfrm>
          <a:prstGeom prst="rect">
            <a:avLst/>
          </a:prstGeom>
          <a:noFill/>
        </p:spPr>
        <p:txBody>
          <a:bodyPr wrap="square" lIns="36576" tIns="36576" rIns="36576" bIns="36576" anchor="t">
            <a:spAutoFit/>
          </a:bodyPr>
          <a:lstStyle/>
          <a:p>
            <a:pPr algn="ctr">
              <a:spcAft>
                <a:spcPts val="400"/>
              </a:spcAft>
            </a:pPr>
            <a:r>
              <a:rPr sz="1200">
                <a:solidFill>
                  <a:srgbClr val="6B5F5D"/>
                </a:solidFill>
                <a:latin typeface="Open Sans"/>
                <a:ea typeface="Open Sans"/>
                <a:cs typeface="Open Sans"/>
              </a:rPr>
              <a:t>Không gian người dùng</a:t>
            </a:r>
            <a:endParaRPr sz="1200">
              <a:solidFill>
                <a:srgbClr val="6B5F5D"/>
              </a:solidFill>
              <a:latin typeface="Open Sans"/>
              <a:ea typeface="Open Sans"/>
              <a:cs typeface="Open Sans"/>
            </a:endParaRPr>
          </a:p>
        </p:txBody>
      </p:sp>
      <p:cxnSp>
        <p:nvCxnSpPr>
          <p:cNvPr id="11" name="Connector 10"/>
          <p:cNvCxnSpPr/>
          <p:nvPr/>
        </p:nvCxnSpPr>
        <p:spPr>
          <a:xfrm>
            <a:off x="1828800" y="2514600"/>
            <a:ext cx="0" cy="1371600"/>
          </a:xfrm>
          <a:prstGeom prst="line">
            <a:avLst/>
          </a:prstGeom>
          <a:ln w="22225">
            <a:solidFill>
              <a:srgbClr val="BB2019"/>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103120" y="4160520"/>
            <a:ext cx="3108960" cy="0"/>
          </a:xfrm>
          <a:prstGeom prst="line">
            <a:avLst/>
          </a:prstGeom>
          <a:ln w="28575">
            <a:solidFill>
              <a:srgbClr val="FFFFFF"/>
            </a:solidFill>
            <a:tailEnd type="triangle"/>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5486400" y="2514600"/>
            <a:ext cx="0" cy="1371600"/>
          </a:xfrm>
          <a:prstGeom prst="line">
            <a:avLst/>
          </a:prstGeom>
          <a:ln w="22225">
            <a:solidFill>
              <a:srgbClr val="BB2019"/>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1143000" y="3017520"/>
            <a:ext cx="548640" cy="292608"/>
          </a:xfrm>
          <a:prstGeom prst="roundRect">
            <a:avLst>
              <a:gd name="adj" fmla="val 50000"/>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spcAft>
                <a:spcPts val="200"/>
              </a:spcAft>
            </a:pPr>
            <a:r>
              <a:rPr sz="1150" b="1">
                <a:solidFill>
                  <a:srgbClr val="FFFFFF"/>
                </a:solidFill>
                <a:latin typeface="Open Sans"/>
                <a:ea typeface="Open Sans"/>
                <a:cs typeface="Open Sans"/>
              </a:rPr>
              <a:t>S1</a:t>
            </a:r>
            <a:endParaRPr sz="1150" b="1">
              <a:solidFill>
                <a:srgbClr val="FFFFFF"/>
              </a:solidFill>
              <a:latin typeface="Open Sans"/>
              <a:ea typeface="Open Sans"/>
              <a:cs typeface="Open Sans"/>
            </a:endParaRPr>
          </a:p>
        </p:txBody>
      </p:sp>
      <p:sp>
        <p:nvSpPr>
          <p:cNvPr id="15" name="Rounded Rectangle 14"/>
          <p:cNvSpPr/>
          <p:nvPr/>
        </p:nvSpPr>
        <p:spPr>
          <a:xfrm>
            <a:off x="3383280" y="4005072"/>
            <a:ext cx="548640" cy="292608"/>
          </a:xfrm>
          <a:prstGeom prst="roundRect">
            <a:avLst>
              <a:gd name="adj" fmla="val 50000"/>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spcAft>
                <a:spcPts val="200"/>
              </a:spcAft>
            </a:pPr>
            <a:r>
              <a:rPr sz="1150" b="1">
                <a:solidFill>
                  <a:srgbClr val="FFFFFF"/>
                </a:solidFill>
                <a:latin typeface="Open Sans"/>
                <a:ea typeface="Open Sans"/>
                <a:cs typeface="Open Sans"/>
              </a:rPr>
              <a:t>S2</a:t>
            </a:r>
            <a:endParaRPr sz="1150" b="1">
              <a:solidFill>
                <a:srgbClr val="FFFFFF"/>
              </a:solidFill>
              <a:latin typeface="Open Sans"/>
              <a:ea typeface="Open Sans"/>
              <a:cs typeface="Open Sans"/>
            </a:endParaRPr>
          </a:p>
        </p:txBody>
      </p:sp>
      <p:sp>
        <p:nvSpPr>
          <p:cNvPr id="16" name="Rounded Rectangle 15"/>
          <p:cNvSpPr/>
          <p:nvPr/>
        </p:nvSpPr>
        <p:spPr>
          <a:xfrm>
            <a:off x="5623560" y="3017520"/>
            <a:ext cx="548640" cy="292608"/>
          </a:xfrm>
          <a:prstGeom prst="roundRect">
            <a:avLst>
              <a:gd name="adj" fmla="val 50000"/>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spcAft>
                <a:spcPts val="200"/>
              </a:spcAft>
            </a:pPr>
            <a:r>
              <a:rPr sz="1150" b="1">
                <a:solidFill>
                  <a:srgbClr val="FFFFFF"/>
                </a:solidFill>
                <a:latin typeface="Open Sans"/>
                <a:ea typeface="Open Sans"/>
                <a:cs typeface="Open Sans"/>
              </a:rPr>
              <a:t>S3</a:t>
            </a:r>
            <a:endParaRPr sz="1150" b="1">
              <a:solidFill>
                <a:srgbClr val="FFFFFF"/>
              </a:solidFill>
              <a:latin typeface="Open Sans"/>
              <a:ea typeface="Open Sans"/>
              <a:cs typeface="Open Sans"/>
            </a:endParaRPr>
          </a:p>
        </p:txBody>
      </p:sp>
      <p:sp>
        <p:nvSpPr>
          <p:cNvPr id="17" name="TextBox 16"/>
          <p:cNvSpPr txBox="1"/>
          <p:nvPr/>
        </p:nvSpPr>
        <p:spPr>
          <a:xfrm>
            <a:off x="640080" y="5230368"/>
            <a:ext cx="6035040" cy="1097280"/>
          </a:xfrm>
          <a:prstGeom prst="rect">
            <a:avLst/>
          </a:prstGeom>
          <a:noFill/>
        </p:spPr>
        <p:txBody>
          <a:bodyPr wrap="square" lIns="36576" tIns="36576" rIns="36576" bIns="36576" anchor="t">
            <a:spAutoFit/>
          </a:bodyPr>
          <a:lstStyle/>
          <a:p>
            <a:pPr algn="l">
              <a:spcAft>
                <a:spcPts val="400"/>
              </a:spcAft>
            </a:pPr>
            <a:r>
              <a:rPr sz="1300" b="1">
                <a:solidFill>
                  <a:srgbClr val="BB2019"/>
                </a:solidFill>
                <a:latin typeface="Open Sans"/>
                <a:ea typeface="Open Sans"/>
                <a:cs typeface="Open Sans"/>
              </a:rPr>
              <a:t>S1 </a:t>
            </a:r>
            <a:r>
              <a:rPr sz="1300">
                <a:solidFill>
                  <a:srgbClr val="262626"/>
                </a:solidFill>
                <a:latin typeface="Open Sans"/>
                <a:ea typeface="Open Sans"/>
                <a:cs typeface="Open Sans"/>
              </a:rPr>
              <a:t>user → kernel: đổi bản đồ MMU, xoá TLB</a:t>
            </a:r>
            <a:endParaRPr sz="1300">
              <a:solidFill>
                <a:srgbClr val="262626"/>
              </a:solidFill>
              <a:latin typeface="Open Sans"/>
              <a:ea typeface="Open Sans"/>
              <a:cs typeface="Open Sans"/>
            </a:endParaRPr>
          </a:p>
          <a:p>
            <a:pPr algn="l">
              <a:spcAft>
                <a:spcPts val="400"/>
              </a:spcAft>
            </a:pPr>
            <a:r>
              <a:rPr sz="1300" b="1">
                <a:solidFill>
                  <a:srgbClr val="BB2019"/>
                </a:solidFill>
                <a:latin typeface="Open Sans"/>
                <a:ea typeface="Open Sans"/>
                <a:cs typeface="Open Sans"/>
              </a:rPr>
              <a:t>S2 </a:t>
            </a:r>
            <a:r>
              <a:rPr sz="1300">
                <a:solidFill>
                  <a:srgbClr val="262626"/>
                </a:solidFill>
                <a:latin typeface="Open Sans"/>
                <a:ea typeface="Open Sans"/>
                <a:cs typeface="Open Sans"/>
              </a:rPr>
              <a:t>chuyển ngữ cảnh tiến trình A → B trong nhân</a:t>
            </a:r>
            <a:endParaRPr sz="1300">
              <a:solidFill>
                <a:srgbClr val="262626"/>
              </a:solidFill>
              <a:latin typeface="Open Sans"/>
              <a:ea typeface="Open Sans"/>
              <a:cs typeface="Open Sans"/>
            </a:endParaRPr>
          </a:p>
          <a:p>
            <a:pPr algn="l">
              <a:spcAft>
                <a:spcPts val="400"/>
              </a:spcAft>
            </a:pPr>
            <a:r>
              <a:rPr sz="1300" b="1">
                <a:solidFill>
                  <a:srgbClr val="BB2019"/>
                </a:solidFill>
                <a:latin typeface="Open Sans"/>
                <a:ea typeface="Open Sans"/>
                <a:cs typeface="Open Sans"/>
              </a:rPr>
              <a:t>S3 </a:t>
            </a:r>
            <a:r>
              <a:rPr sz="1300">
                <a:solidFill>
                  <a:srgbClr val="262626"/>
                </a:solidFill>
                <a:latin typeface="Open Sans"/>
                <a:ea typeface="Open Sans"/>
                <a:cs typeface="Open Sans"/>
              </a:rPr>
              <a:t>kernel → user: lại đổi MMU, xoá TLB</a:t>
            </a:r>
            <a:endParaRPr sz="1300">
              <a:solidFill>
                <a:srgbClr val="262626"/>
              </a:solidFill>
              <a:latin typeface="Open Sans"/>
              <a:ea typeface="Open Sans"/>
              <a:cs typeface="Open Sans"/>
            </a:endParaRPr>
          </a:p>
        </p:txBody>
      </p:sp>
      <p:sp>
        <p:nvSpPr>
          <p:cNvPr id="18" name="Rectangle 17"/>
          <p:cNvSpPr/>
          <p:nvPr/>
        </p:nvSpPr>
        <p:spPr>
          <a:xfrm>
            <a:off x="7223760" y="1463040"/>
            <a:ext cx="4526280" cy="1508760"/>
          </a:xfrm>
          <a:prstGeom prst="rect">
            <a:avLst/>
          </a:prstGeom>
          <a:solidFill>
            <a:srgbClr val="FFF7F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19" name="TextBox 18"/>
          <p:cNvSpPr txBox="1"/>
          <p:nvPr/>
        </p:nvSpPr>
        <p:spPr>
          <a:xfrm>
            <a:off x="7406640" y="1536192"/>
            <a:ext cx="4206240" cy="822960"/>
          </a:xfrm>
          <a:prstGeom prst="rect">
            <a:avLst/>
          </a:prstGeom>
          <a:noFill/>
        </p:spPr>
        <p:txBody>
          <a:bodyPr wrap="square" lIns="36576" tIns="36576" rIns="36576" bIns="36576" anchor="t">
            <a:spAutoFit/>
          </a:bodyPr>
          <a:lstStyle/>
          <a:p>
            <a:pPr algn="l">
              <a:spcAft>
                <a:spcPts val="400"/>
              </a:spcAft>
            </a:pPr>
            <a:r>
              <a:rPr sz="3600" b="1">
                <a:solidFill>
                  <a:srgbClr val="BB2019"/>
                </a:solidFill>
                <a:latin typeface="Open Sans"/>
                <a:ea typeface="Open Sans"/>
                <a:cs typeface="Open Sans"/>
              </a:rPr>
              <a:t>0,5 – 1 µs</a:t>
            </a:r>
            <a:endParaRPr sz="3600" b="1">
              <a:solidFill>
                <a:srgbClr val="BB2019"/>
              </a:solidFill>
              <a:latin typeface="Open Sans"/>
              <a:ea typeface="Open Sans"/>
              <a:cs typeface="Open Sans"/>
            </a:endParaRPr>
          </a:p>
        </p:txBody>
      </p:sp>
      <p:sp>
        <p:nvSpPr>
          <p:cNvPr id="20" name="TextBox 19"/>
          <p:cNvSpPr txBox="1"/>
          <p:nvPr/>
        </p:nvSpPr>
        <p:spPr>
          <a:xfrm>
            <a:off x="7406640" y="2377440"/>
            <a:ext cx="4206240" cy="548640"/>
          </a:xfrm>
          <a:prstGeom prst="rect">
            <a:avLst/>
          </a:prstGeom>
          <a:noFill/>
        </p:spPr>
        <p:txBody>
          <a:bodyPr wrap="square" lIns="36576" tIns="36576" rIns="36576" bIns="36576" anchor="t">
            <a:spAutoFit/>
          </a:bodyPr>
          <a:lstStyle/>
          <a:p>
            <a:pPr algn="l">
              <a:spcAft>
                <a:spcPts val="400"/>
              </a:spcAft>
            </a:pPr>
            <a:r>
              <a:rPr sz="1300">
                <a:solidFill>
                  <a:srgbClr val="6B5F5D"/>
                </a:solidFill>
                <a:latin typeface="Open Sans"/>
                <a:ea typeface="Open Sans"/>
                <a:cs typeface="Open Sans"/>
              </a:rPr>
              <a:t>chi phí trực tiếp của một lần chuyển ngữ cảnh (Tsafrir, 2007)</a:t>
            </a:r>
            <a:endParaRPr sz="1300">
              <a:solidFill>
                <a:srgbClr val="6B5F5D"/>
              </a:solidFill>
              <a:latin typeface="Open Sans"/>
              <a:ea typeface="Open Sans"/>
              <a:cs typeface="Open Sans"/>
            </a:endParaRPr>
          </a:p>
        </p:txBody>
      </p:sp>
      <p:sp>
        <p:nvSpPr>
          <p:cNvPr id="21" name="Rectangle 20"/>
          <p:cNvSpPr/>
          <p:nvPr/>
        </p:nvSpPr>
        <p:spPr>
          <a:xfrm>
            <a:off x="7223760" y="3154680"/>
            <a:ext cx="4526280" cy="1508760"/>
          </a:xfrm>
          <a:prstGeom prst="rect">
            <a:avLst/>
          </a:prstGeom>
          <a:solidFill>
            <a:srgbClr val="FFF7F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22" name="TextBox 21"/>
          <p:cNvSpPr txBox="1"/>
          <p:nvPr/>
        </p:nvSpPr>
        <p:spPr>
          <a:xfrm>
            <a:off x="7406640" y="3227832"/>
            <a:ext cx="4206240" cy="822960"/>
          </a:xfrm>
          <a:prstGeom prst="rect">
            <a:avLst/>
          </a:prstGeom>
          <a:noFill/>
        </p:spPr>
        <p:txBody>
          <a:bodyPr wrap="square" lIns="36576" tIns="36576" rIns="36576" bIns="36576" anchor="t">
            <a:spAutoFit/>
          </a:bodyPr>
          <a:lstStyle/>
          <a:p>
            <a:pPr algn="l">
              <a:spcAft>
                <a:spcPts val="400"/>
              </a:spcAft>
            </a:pPr>
            <a:r>
              <a:rPr sz="3600" b="1">
                <a:solidFill>
                  <a:srgbClr val="BB2019"/>
                </a:solidFill>
                <a:latin typeface="Open Sans"/>
                <a:ea typeface="Open Sans"/>
                <a:cs typeface="Open Sans"/>
              </a:rPr>
              <a:t>≈ 80 %</a:t>
            </a:r>
            <a:endParaRPr sz="3600" b="1">
              <a:solidFill>
                <a:srgbClr val="BB2019"/>
              </a:solidFill>
              <a:latin typeface="Open Sans"/>
              <a:ea typeface="Open Sans"/>
              <a:cs typeface="Open Sans"/>
            </a:endParaRPr>
          </a:p>
        </p:txBody>
      </p:sp>
      <p:sp>
        <p:nvSpPr>
          <p:cNvPr id="23" name="TextBox 22"/>
          <p:cNvSpPr txBox="1"/>
          <p:nvPr/>
        </p:nvSpPr>
        <p:spPr>
          <a:xfrm>
            <a:off x="7406640" y="4069080"/>
            <a:ext cx="4206240" cy="548640"/>
          </a:xfrm>
          <a:prstGeom prst="rect">
            <a:avLst/>
          </a:prstGeom>
          <a:noFill/>
        </p:spPr>
        <p:txBody>
          <a:bodyPr wrap="square" lIns="36576" tIns="36576" rIns="36576" bIns="36576" anchor="t">
            <a:spAutoFit/>
          </a:bodyPr>
          <a:lstStyle/>
          <a:p>
            <a:pPr algn="l">
              <a:spcAft>
                <a:spcPts val="400"/>
              </a:spcAft>
            </a:pPr>
            <a:r>
              <a:rPr sz="1300">
                <a:solidFill>
                  <a:srgbClr val="6B5F5D"/>
                </a:solidFill>
                <a:latin typeface="Open Sans"/>
                <a:ea typeface="Open Sans"/>
                <a:cs typeface="Open Sans"/>
              </a:rPr>
              <a:t>chi phí gián tiếp do xáo trộn bộ nhớ cache sau ngắt</a:t>
            </a:r>
            <a:endParaRPr sz="1300">
              <a:solidFill>
                <a:srgbClr val="6B5F5D"/>
              </a:solidFill>
              <a:latin typeface="Open Sans"/>
              <a:ea typeface="Open Sans"/>
              <a:cs typeface="Open Sans"/>
            </a:endParaRPr>
          </a:p>
        </p:txBody>
      </p:sp>
      <p:sp>
        <p:nvSpPr>
          <p:cNvPr id="24" name="Rectangle 23"/>
          <p:cNvSpPr/>
          <p:nvPr/>
        </p:nvSpPr>
        <p:spPr>
          <a:xfrm>
            <a:off x="7223760" y="4846320"/>
            <a:ext cx="4526280" cy="42062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28016" rIns="128016" bIns="128016" rtlCol="0" anchor="ctr"/>
          <a:lstStyle/>
          <a:p>
            <a:pPr algn="l">
              <a:spcAft>
                <a:spcPts val="200"/>
              </a:spcAft>
            </a:pPr>
            <a:r>
              <a:rPr sz="1400" b="1">
                <a:solidFill>
                  <a:srgbClr val="FFFFFF"/>
                </a:solidFill>
                <a:latin typeface="Open Sans"/>
                <a:ea typeface="Open Sans"/>
                <a:cs typeface="Open Sans"/>
              </a:rPr>
              <a:t>Lựa chọn thay thế</a:t>
            </a:r>
            <a:endParaRPr sz="1400" b="1">
              <a:solidFill>
                <a:srgbClr val="FFFFFF"/>
              </a:solidFill>
              <a:latin typeface="Open Sans"/>
              <a:ea typeface="Open Sans"/>
              <a:cs typeface="Open Sans"/>
            </a:endParaRPr>
          </a:p>
        </p:txBody>
      </p:sp>
      <p:sp>
        <p:nvSpPr>
          <p:cNvPr id="25" name="Rectangle 24"/>
          <p:cNvSpPr/>
          <p:nvPr/>
        </p:nvSpPr>
        <p:spPr>
          <a:xfrm>
            <a:off x="7223760" y="5266944"/>
            <a:ext cx="4526280" cy="996696"/>
          </a:xfrm>
          <a:prstGeom prst="rect">
            <a:avLst/>
          </a:prstGeom>
          <a:solidFill>
            <a:srgbClr val="FFF7F7"/>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28016" rIns="128016" bIns="128016" rtlCol="0" anchor="t"/>
          <a:lstStyle/>
          <a:p>
            <a:pPr marL="237490" indent="-201295" algn="l">
              <a:spcAft>
                <a:spcPts val="200"/>
              </a:spcAft>
              <a:buClr>
                <a:srgbClr val="BB2019"/>
              </a:buClr>
              <a:buFont typeface="Arial" panose="020B0604020202020204"/>
              <a:buChar char="•"/>
            </a:pPr>
            <a:r>
              <a:rPr sz="1300">
                <a:solidFill>
                  <a:srgbClr val="262626"/>
                </a:solidFill>
                <a:latin typeface="Open Sans"/>
                <a:ea typeface="Open Sans"/>
                <a:cs typeface="Open Sans"/>
              </a:rPr>
              <a:t>Các phần của ứng dụng chạy thành nhiều luồng, giao tiếp qua dữ liệu dùng chung, chuyển luồng có thể hoàn toàn ở user space</a:t>
            </a:r>
            <a:endParaRPr sz="1300">
              <a:solidFill>
                <a:srgbClr val="262626"/>
              </a:solidFill>
              <a:latin typeface="Open Sans"/>
              <a:ea typeface="Open Sans"/>
              <a:cs typeface="Open Sa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Vì sao dùng đa luồng?</a:t>
            </a:r>
          </a:p>
        </p:txBody>
      </p:sp>
      <p:sp>
        <p:nvSpPr>
          <p:cNvPr id="3" name="Text Placeholder 2"/>
          <p:cNvSpPr>
            <a:spLocks noGrp="1"/>
          </p:cNvSpPr>
          <p:nvPr>
            <p:ph type="body" sz="quarter" idx="13"/>
          </p:nvPr>
        </p:nvSpPr>
        <p:spPr/>
        <p:txBody>
          <a:bodyPr/>
          <a:lstStyle/>
          <a:p>
            <a:r>
              <a:t>Lợi ích trong hệ không phân tán</a:t>
            </a:r>
          </a:p>
        </p:txBody>
      </p:sp>
      <p:sp>
        <p:nvSpPr>
          <p:cNvPr id="4" name="Slide Number Placeholder 3"/>
          <p:cNvSpPr>
            <a:spLocks noGrp="1"/>
          </p:cNvSpPr>
          <p:nvPr>
            <p:ph type="sldNum" sz="quarter" idx="12"/>
          </p:nvPr>
        </p:nvSpPr>
        <p:spPr/>
        <p:txBody>
          <a:bodyPr/>
          <a:lstStyle/>
          <a:p>
            <a:fld id="{D92DDFE6-74DA-46A1-A171-CE3314B0D579}" type="slidenum">
              <a:rPr lang="en-US" smtClean="0"/>
            </a:fld>
            <a:endParaRPr lang="en-US" dirty="0"/>
          </a:p>
        </p:txBody>
      </p:sp>
      <p:sp>
        <p:nvSpPr>
          <p:cNvPr id="5" name="Date Placeholder 4"/>
          <p:cNvSpPr>
            <a:spLocks noGrp="1"/>
          </p:cNvSpPr>
          <p:nvPr>
            <p:ph type="dt" sz="half" idx="10"/>
          </p:nvPr>
        </p:nvSpPr>
        <p:spPr/>
        <p:txBody>
          <a:bodyPr/>
          <a:lstStyle/>
          <a:p>
            <a:fld id="{2933FCAF-43A6-4F1B-B43D-A70C2A597932}" type="datetime1">
              <a:rPr lang="vi-VN" smtClean="0"/>
            </a:fld>
            <a:endParaRPr lang="en-US"/>
          </a:p>
        </p:txBody>
      </p:sp>
      <p:sp>
        <p:nvSpPr>
          <p:cNvPr id="6" name="Footer Placeholder 5"/>
          <p:cNvSpPr>
            <a:spLocks noGrp="1"/>
          </p:cNvSpPr>
          <p:nvPr>
            <p:ph type="ftr" sz="quarter" idx="11"/>
          </p:nvPr>
        </p:nvSpPr>
        <p:spPr/>
        <p:txBody>
          <a:bodyPr/>
          <a:lstStyle/>
          <a:p>
            <a:r>
              <a:rPr lang="en-US"/>
              <a:t>Chương 3 · Tiến trình: Luồng &amp; Ảo hoá</a:t>
            </a:r>
            <a:endParaRPr lang="en-US" dirty="0"/>
          </a:p>
        </p:txBody>
      </p:sp>
      <p:sp>
        <p:nvSpPr>
          <p:cNvPr id="7" name="Rectangle 6"/>
          <p:cNvSpPr/>
          <p:nvPr/>
        </p:nvSpPr>
        <p:spPr>
          <a:xfrm>
            <a:off x="457200" y="1280160"/>
            <a:ext cx="5486400" cy="1965960"/>
          </a:xfrm>
          <a:prstGeom prst="rect">
            <a:avLst/>
          </a:prstGeom>
          <a:solidFill>
            <a:srgbClr val="FFF7F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8" name="Oval 7"/>
          <p:cNvSpPr/>
          <p:nvPr/>
        </p:nvSpPr>
        <p:spPr>
          <a:xfrm>
            <a:off x="640080" y="1463039"/>
            <a:ext cx="420624" cy="420624"/>
          </a:xfrm>
          <a:prstGeom prst="ellipse">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600" b="1">
                <a:solidFill>
                  <a:srgbClr val="FFFFFF"/>
                </a:solidFill>
                <a:latin typeface="Open Sans"/>
                <a:ea typeface="Open Sans"/>
                <a:cs typeface="Open Sans"/>
              </a:rPr>
              <a:t>1</a:t>
            </a:r>
            <a:endParaRPr sz="1600" b="1">
              <a:solidFill>
                <a:srgbClr val="FFFFFF"/>
              </a:solidFill>
              <a:latin typeface="Open Sans"/>
              <a:ea typeface="Open Sans"/>
              <a:cs typeface="Open Sans"/>
            </a:endParaRPr>
          </a:p>
        </p:txBody>
      </p:sp>
      <p:sp>
        <p:nvSpPr>
          <p:cNvPr id="9" name="TextBox 8"/>
          <p:cNvSpPr txBox="1"/>
          <p:nvPr/>
        </p:nvSpPr>
        <p:spPr>
          <a:xfrm>
            <a:off x="1188720" y="1444751"/>
            <a:ext cx="4617720" cy="502920"/>
          </a:xfrm>
          <a:prstGeom prst="rect">
            <a:avLst/>
          </a:prstGeom>
          <a:noFill/>
        </p:spPr>
        <p:txBody>
          <a:bodyPr wrap="square" lIns="36576" tIns="36576" rIns="36576" bIns="36576" anchor="ctr">
            <a:spAutoFit/>
          </a:bodyPr>
          <a:lstStyle/>
          <a:p>
            <a:pPr algn="l">
              <a:spcAft>
                <a:spcPts val="400"/>
              </a:spcAft>
            </a:pPr>
            <a:r>
              <a:rPr sz="1650" b="1">
                <a:solidFill>
                  <a:srgbClr val="BB2019"/>
                </a:solidFill>
                <a:latin typeface="Open Sans"/>
                <a:ea typeface="Open Sans"/>
                <a:cs typeface="Open Sans"/>
              </a:rPr>
              <a:t>Không chặn cả tiến trình</a:t>
            </a:r>
            <a:endParaRPr sz="1650" b="1">
              <a:solidFill>
                <a:srgbClr val="BB2019"/>
              </a:solidFill>
              <a:latin typeface="Open Sans"/>
              <a:ea typeface="Open Sans"/>
              <a:cs typeface="Open Sans"/>
            </a:endParaRPr>
          </a:p>
        </p:txBody>
      </p:sp>
      <p:sp>
        <p:nvSpPr>
          <p:cNvPr id="10" name="TextBox 9"/>
          <p:cNvSpPr txBox="1"/>
          <p:nvPr/>
        </p:nvSpPr>
        <p:spPr>
          <a:xfrm>
            <a:off x="640080" y="2029967"/>
            <a:ext cx="5120640" cy="1097280"/>
          </a:xfrm>
          <a:prstGeom prst="rect">
            <a:avLst/>
          </a:prstGeom>
          <a:noFill/>
        </p:spPr>
        <p:txBody>
          <a:bodyPr wrap="square" lIns="36576" tIns="36576" rIns="36576" bIns="36576" anchor="t">
            <a:spAutoFit/>
          </a:bodyPr>
          <a:lstStyle/>
          <a:p>
            <a:pPr algn="l">
              <a:spcAft>
                <a:spcPts val="300"/>
              </a:spcAft>
            </a:pPr>
            <a:r>
              <a:rPr sz="1400">
                <a:solidFill>
                  <a:srgbClr val="262626"/>
                </a:solidFill>
                <a:latin typeface="Open Sans"/>
                <a:ea typeface="Open Sans"/>
                <a:cs typeface="Open Sans"/>
              </a:rPr>
              <a:t>Lời gọi hệ thống chặn chỉ dừng một luồng. Ví dụ bảng tính: luồng nhập liệu, luồng tính lại ô phụ thuộc, luồng sao lưu ra đĩa.</a:t>
            </a:r>
            <a:endParaRPr sz="1400">
              <a:solidFill>
                <a:srgbClr val="262626"/>
              </a:solidFill>
              <a:latin typeface="Open Sans"/>
              <a:ea typeface="Open Sans"/>
              <a:cs typeface="Open Sans"/>
            </a:endParaRPr>
          </a:p>
        </p:txBody>
      </p:sp>
      <p:sp>
        <p:nvSpPr>
          <p:cNvPr id="11" name="Rectangle 10"/>
          <p:cNvSpPr/>
          <p:nvPr/>
        </p:nvSpPr>
        <p:spPr>
          <a:xfrm>
            <a:off x="6172200" y="1280160"/>
            <a:ext cx="5486400" cy="1965960"/>
          </a:xfrm>
          <a:prstGeom prst="rect">
            <a:avLst/>
          </a:prstGeom>
          <a:solidFill>
            <a:srgbClr val="FFF7F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12" name="Oval 11"/>
          <p:cNvSpPr/>
          <p:nvPr/>
        </p:nvSpPr>
        <p:spPr>
          <a:xfrm>
            <a:off x="6355080" y="1463039"/>
            <a:ext cx="420624" cy="420624"/>
          </a:xfrm>
          <a:prstGeom prst="ellipse">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600" b="1">
                <a:solidFill>
                  <a:srgbClr val="FFFFFF"/>
                </a:solidFill>
                <a:latin typeface="Open Sans"/>
                <a:ea typeface="Open Sans"/>
                <a:cs typeface="Open Sans"/>
              </a:rPr>
              <a:t>2</a:t>
            </a:r>
            <a:endParaRPr sz="1600" b="1">
              <a:solidFill>
                <a:srgbClr val="FFFFFF"/>
              </a:solidFill>
              <a:latin typeface="Open Sans"/>
              <a:ea typeface="Open Sans"/>
              <a:cs typeface="Open Sans"/>
            </a:endParaRPr>
          </a:p>
        </p:txBody>
      </p:sp>
      <p:sp>
        <p:nvSpPr>
          <p:cNvPr id="13" name="TextBox 12"/>
          <p:cNvSpPr txBox="1"/>
          <p:nvPr/>
        </p:nvSpPr>
        <p:spPr>
          <a:xfrm>
            <a:off x="6903720" y="1444751"/>
            <a:ext cx="4617720" cy="502920"/>
          </a:xfrm>
          <a:prstGeom prst="rect">
            <a:avLst/>
          </a:prstGeom>
          <a:noFill/>
        </p:spPr>
        <p:txBody>
          <a:bodyPr wrap="square" lIns="36576" tIns="36576" rIns="36576" bIns="36576" anchor="ctr">
            <a:spAutoFit/>
          </a:bodyPr>
          <a:lstStyle/>
          <a:p>
            <a:pPr algn="l">
              <a:spcAft>
                <a:spcPts val="400"/>
              </a:spcAft>
            </a:pPr>
            <a:r>
              <a:rPr sz="1650" b="1">
                <a:solidFill>
                  <a:srgbClr val="BB2019"/>
                </a:solidFill>
                <a:latin typeface="Open Sans"/>
                <a:ea typeface="Open Sans"/>
                <a:cs typeface="Open Sans"/>
              </a:rPr>
              <a:t>Song song trên đa lõi</a:t>
            </a:r>
            <a:endParaRPr sz="1650" b="1">
              <a:solidFill>
                <a:srgbClr val="BB2019"/>
              </a:solidFill>
              <a:latin typeface="Open Sans"/>
              <a:ea typeface="Open Sans"/>
              <a:cs typeface="Open Sans"/>
            </a:endParaRPr>
          </a:p>
        </p:txBody>
      </p:sp>
      <p:sp>
        <p:nvSpPr>
          <p:cNvPr id="14" name="TextBox 13"/>
          <p:cNvSpPr txBox="1"/>
          <p:nvPr/>
        </p:nvSpPr>
        <p:spPr>
          <a:xfrm>
            <a:off x="6355080" y="2029967"/>
            <a:ext cx="5120640" cy="1097280"/>
          </a:xfrm>
          <a:prstGeom prst="rect">
            <a:avLst/>
          </a:prstGeom>
          <a:noFill/>
        </p:spPr>
        <p:txBody>
          <a:bodyPr wrap="square" lIns="36576" tIns="36576" rIns="36576" bIns="36576" anchor="t">
            <a:spAutoFit/>
          </a:bodyPr>
          <a:lstStyle/>
          <a:p>
            <a:pPr algn="l">
              <a:spcAft>
                <a:spcPts val="300"/>
              </a:spcAft>
            </a:pPr>
            <a:r>
              <a:rPr sz="1400">
                <a:solidFill>
                  <a:srgbClr val="262626"/>
                </a:solidFill>
                <a:latin typeface="Open Sans"/>
                <a:ea typeface="Open Sans"/>
                <a:cs typeface="Open Sans"/>
              </a:rPr>
              <a:t>Mỗi luồng chạy trên một lõi, dữ liệu chung ở bộ nhớ chính. Thiết kế tốt thì vẫn chạy đúng trên máy một lõi, chỉ chậm hơn.</a:t>
            </a:r>
            <a:endParaRPr sz="1400">
              <a:solidFill>
                <a:srgbClr val="262626"/>
              </a:solidFill>
              <a:latin typeface="Open Sans"/>
              <a:ea typeface="Open Sans"/>
              <a:cs typeface="Open Sans"/>
            </a:endParaRPr>
          </a:p>
        </p:txBody>
      </p:sp>
      <p:sp>
        <p:nvSpPr>
          <p:cNvPr id="15" name="Rectangle 14"/>
          <p:cNvSpPr/>
          <p:nvPr/>
        </p:nvSpPr>
        <p:spPr>
          <a:xfrm>
            <a:off x="457200" y="3429000"/>
            <a:ext cx="5486400" cy="1965960"/>
          </a:xfrm>
          <a:prstGeom prst="rect">
            <a:avLst/>
          </a:prstGeom>
          <a:solidFill>
            <a:srgbClr val="FFF7F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16" name="Oval 15"/>
          <p:cNvSpPr/>
          <p:nvPr/>
        </p:nvSpPr>
        <p:spPr>
          <a:xfrm>
            <a:off x="640080" y="3611880"/>
            <a:ext cx="420624" cy="420624"/>
          </a:xfrm>
          <a:prstGeom prst="ellipse">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600" b="1">
                <a:solidFill>
                  <a:srgbClr val="FFFFFF"/>
                </a:solidFill>
                <a:latin typeface="Open Sans"/>
                <a:ea typeface="Open Sans"/>
                <a:cs typeface="Open Sans"/>
              </a:rPr>
              <a:t>3</a:t>
            </a:r>
            <a:endParaRPr sz="1600" b="1">
              <a:solidFill>
                <a:srgbClr val="FFFFFF"/>
              </a:solidFill>
              <a:latin typeface="Open Sans"/>
              <a:ea typeface="Open Sans"/>
              <a:cs typeface="Open Sans"/>
            </a:endParaRPr>
          </a:p>
        </p:txBody>
      </p:sp>
      <p:sp>
        <p:nvSpPr>
          <p:cNvPr id="17" name="TextBox 16"/>
          <p:cNvSpPr txBox="1"/>
          <p:nvPr/>
        </p:nvSpPr>
        <p:spPr>
          <a:xfrm>
            <a:off x="1188720" y="3593592"/>
            <a:ext cx="4617720" cy="502920"/>
          </a:xfrm>
          <a:prstGeom prst="rect">
            <a:avLst/>
          </a:prstGeom>
          <a:noFill/>
        </p:spPr>
        <p:txBody>
          <a:bodyPr wrap="square" lIns="36576" tIns="36576" rIns="36576" bIns="36576" anchor="ctr">
            <a:spAutoFit/>
          </a:bodyPr>
          <a:lstStyle/>
          <a:p>
            <a:pPr algn="l">
              <a:spcAft>
                <a:spcPts val="400"/>
              </a:spcAft>
            </a:pPr>
            <a:r>
              <a:rPr sz="1650" b="1">
                <a:solidFill>
                  <a:srgbClr val="BB2019"/>
                </a:solidFill>
                <a:latin typeface="Open Sans"/>
                <a:ea typeface="Open Sans"/>
                <a:cs typeface="Open Sans"/>
              </a:rPr>
              <a:t>Thay thế IPC đắt đỏ</a:t>
            </a:r>
            <a:endParaRPr sz="1650" b="1">
              <a:solidFill>
                <a:srgbClr val="BB2019"/>
              </a:solidFill>
              <a:latin typeface="Open Sans"/>
              <a:ea typeface="Open Sans"/>
              <a:cs typeface="Open Sans"/>
            </a:endParaRPr>
          </a:p>
        </p:txBody>
      </p:sp>
      <p:sp>
        <p:nvSpPr>
          <p:cNvPr id="18" name="TextBox 17"/>
          <p:cNvSpPr txBox="1"/>
          <p:nvPr/>
        </p:nvSpPr>
        <p:spPr>
          <a:xfrm>
            <a:off x="640080" y="4178808"/>
            <a:ext cx="5120640" cy="1097280"/>
          </a:xfrm>
          <a:prstGeom prst="rect">
            <a:avLst/>
          </a:prstGeom>
          <a:noFill/>
        </p:spPr>
        <p:txBody>
          <a:bodyPr wrap="square" lIns="36576" tIns="36576" rIns="36576" bIns="36576" anchor="t">
            <a:spAutoFit/>
          </a:bodyPr>
          <a:lstStyle/>
          <a:p>
            <a:pPr algn="l">
              <a:spcAft>
                <a:spcPts val="300"/>
              </a:spcAft>
            </a:pPr>
            <a:r>
              <a:rPr sz="1400">
                <a:solidFill>
                  <a:srgbClr val="262626"/>
                </a:solidFill>
                <a:latin typeface="Open Sans"/>
                <a:ea typeface="Open Sans"/>
                <a:cs typeface="Open Sans"/>
              </a:rPr>
              <a:t>Ứng dụng lớn gồm nhiều tiến trình phải giao tiếp qua kernel. Dùng luồng thì chỉ cần dữ liệu chung, tránh chuyển ngữ cảnh.</a:t>
            </a:r>
            <a:endParaRPr sz="1400">
              <a:solidFill>
                <a:srgbClr val="262626"/>
              </a:solidFill>
              <a:latin typeface="Open Sans"/>
              <a:ea typeface="Open Sans"/>
              <a:cs typeface="Open Sans"/>
            </a:endParaRPr>
          </a:p>
        </p:txBody>
      </p:sp>
      <p:sp>
        <p:nvSpPr>
          <p:cNvPr id="19" name="Rectangle 18"/>
          <p:cNvSpPr/>
          <p:nvPr/>
        </p:nvSpPr>
        <p:spPr>
          <a:xfrm>
            <a:off x="6172200" y="3429000"/>
            <a:ext cx="5486400" cy="1965960"/>
          </a:xfrm>
          <a:prstGeom prst="rect">
            <a:avLst/>
          </a:prstGeom>
          <a:solidFill>
            <a:srgbClr val="FFF7F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20" name="Oval 19"/>
          <p:cNvSpPr/>
          <p:nvPr/>
        </p:nvSpPr>
        <p:spPr>
          <a:xfrm>
            <a:off x="6355080" y="3611880"/>
            <a:ext cx="420624" cy="420624"/>
          </a:xfrm>
          <a:prstGeom prst="ellipse">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600" b="1">
                <a:solidFill>
                  <a:srgbClr val="FFFFFF"/>
                </a:solidFill>
                <a:latin typeface="Open Sans"/>
                <a:ea typeface="Open Sans"/>
                <a:cs typeface="Open Sans"/>
              </a:rPr>
              <a:t>4</a:t>
            </a:r>
            <a:endParaRPr sz="1600" b="1">
              <a:solidFill>
                <a:srgbClr val="FFFFFF"/>
              </a:solidFill>
              <a:latin typeface="Open Sans"/>
              <a:ea typeface="Open Sans"/>
              <a:cs typeface="Open Sans"/>
            </a:endParaRPr>
          </a:p>
        </p:txBody>
      </p:sp>
      <p:sp>
        <p:nvSpPr>
          <p:cNvPr id="21" name="TextBox 20"/>
          <p:cNvSpPr txBox="1"/>
          <p:nvPr/>
        </p:nvSpPr>
        <p:spPr>
          <a:xfrm>
            <a:off x="6903720" y="3593592"/>
            <a:ext cx="4617720" cy="502920"/>
          </a:xfrm>
          <a:prstGeom prst="rect">
            <a:avLst/>
          </a:prstGeom>
          <a:noFill/>
        </p:spPr>
        <p:txBody>
          <a:bodyPr wrap="square" lIns="36576" tIns="36576" rIns="36576" bIns="36576" anchor="ctr">
            <a:spAutoFit/>
          </a:bodyPr>
          <a:lstStyle/>
          <a:p>
            <a:pPr algn="l">
              <a:spcAft>
                <a:spcPts val="400"/>
              </a:spcAft>
            </a:pPr>
            <a:r>
              <a:rPr sz="1650" b="1">
                <a:solidFill>
                  <a:srgbClr val="BB2019"/>
                </a:solidFill>
                <a:latin typeface="Open Sans"/>
                <a:ea typeface="Open Sans"/>
                <a:cs typeface="Open Sans"/>
              </a:rPr>
              <a:t>Dễ cấu trúc phần mềm</a:t>
            </a:r>
            <a:endParaRPr sz="1650" b="1">
              <a:solidFill>
                <a:srgbClr val="BB2019"/>
              </a:solidFill>
              <a:latin typeface="Open Sans"/>
              <a:ea typeface="Open Sans"/>
              <a:cs typeface="Open Sans"/>
            </a:endParaRPr>
          </a:p>
        </p:txBody>
      </p:sp>
      <p:sp>
        <p:nvSpPr>
          <p:cNvPr id="22" name="TextBox 21"/>
          <p:cNvSpPr txBox="1"/>
          <p:nvPr/>
        </p:nvSpPr>
        <p:spPr>
          <a:xfrm>
            <a:off x="6355080" y="4178808"/>
            <a:ext cx="5120640" cy="1097280"/>
          </a:xfrm>
          <a:prstGeom prst="rect">
            <a:avLst/>
          </a:prstGeom>
          <a:noFill/>
        </p:spPr>
        <p:txBody>
          <a:bodyPr wrap="square" lIns="36576" tIns="36576" rIns="36576" bIns="36576" anchor="t">
            <a:spAutoFit/>
          </a:bodyPr>
          <a:lstStyle/>
          <a:p>
            <a:pPr algn="l">
              <a:spcAft>
                <a:spcPts val="300"/>
              </a:spcAft>
            </a:pPr>
            <a:r>
              <a:rPr sz="1400">
                <a:solidFill>
                  <a:srgbClr val="262626"/>
                </a:solidFill>
                <a:latin typeface="Open Sans"/>
                <a:ea typeface="Open Sans"/>
                <a:cs typeface="Open Sans"/>
              </a:rPr>
              <a:t>Nhiều ứng dụng tự nhiên là tập các tác vụ gần như độc lập cộng tác với nhau — mỗi tác vụ một luồng.</a:t>
            </a:r>
            <a:endParaRPr sz="1400">
              <a:solidFill>
                <a:srgbClr val="262626"/>
              </a:solidFill>
              <a:latin typeface="Open Sans"/>
              <a:ea typeface="Open Sans"/>
              <a:cs typeface="Open Sans"/>
            </a:endParaRPr>
          </a:p>
        </p:txBody>
      </p:sp>
      <p:sp>
        <p:nvSpPr>
          <p:cNvPr id="23" name="Rectangle 22"/>
          <p:cNvSpPr/>
          <p:nvPr/>
        </p:nvSpPr>
        <p:spPr>
          <a:xfrm>
            <a:off x="457200" y="5669280"/>
            <a:ext cx="11201400" cy="566928"/>
          </a:xfrm>
          <a:prstGeom prst="rect">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l">
              <a:spcAft>
                <a:spcPts val="200"/>
              </a:spcAft>
            </a:pPr>
            <a:r>
              <a:rPr sz="1500" b="1">
                <a:solidFill>
                  <a:srgbClr val="FFFFFF"/>
                </a:solidFill>
                <a:latin typeface="Open Sans"/>
                <a:ea typeface="Open Sans"/>
                <a:cs typeface="Open Sans"/>
              </a:rPr>
              <a:t>Cái giá: </a:t>
            </a:r>
            <a:r>
              <a:rPr sz="1500">
                <a:solidFill>
                  <a:srgbClr val="FFFFFF"/>
                </a:solidFill>
                <a:latin typeface="Open Sans"/>
                <a:ea typeface="Open Sans"/>
                <a:cs typeface="Open Sans"/>
              </a:rPr>
              <a:t>luồng không được bảo vệ lẫn nhau như tiến trình — thiết kế đúng và giữ mọi thứ đơn giản là bắt buộc.</a:t>
            </a:r>
            <a:endParaRPr sz="1500">
              <a:solidFill>
                <a:srgbClr val="FFFFFF"/>
              </a:solidFill>
              <a:latin typeface="Open Sans"/>
              <a:ea typeface="Open Sans"/>
              <a:cs typeface="Open Sa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Ví dụ: hai tiến trình, mỗi tiến trình ba luồng</a:t>
            </a:r>
          </a:p>
        </p:txBody>
      </p:sp>
      <p:sp>
        <p:nvSpPr>
          <p:cNvPr id="3" name="Text Placeholder 2"/>
          <p:cNvSpPr>
            <a:spLocks noGrp="1"/>
          </p:cNvSpPr>
          <p:nvPr>
            <p:ph type="body" sz="quarter" idx="13"/>
          </p:nvPr>
        </p:nvSpPr>
        <p:spPr/>
        <p:txBody>
          <a:bodyPr/>
          <a:lstStyle/>
          <a:p>
            <a:r>
              <a:t>Hình 3.3 – 3.4 · biến shared_x được chia sẻ tới đâu?</a:t>
            </a:r>
          </a:p>
        </p:txBody>
      </p:sp>
      <p:sp>
        <p:nvSpPr>
          <p:cNvPr id="4" name="Slide Number Placeholder 3"/>
          <p:cNvSpPr>
            <a:spLocks noGrp="1"/>
          </p:cNvSpPr>
          <p:nvPr>
            <p:ph type="sldNum" sz="quarter" idx="12"/>
          </p:nvPr>
        </p:nvSpPr>
        <p:spPr/>
        <p:txBody>
          <a:bodyPr/>
          <a:lstStyle/>
          <a:p>
            <a:fld id="{D92DDFE6-74DA-46A1-A171-CE3314B0D579}" type="slidenum">
              <a:rPr lang="en-US" smtClean="0"/>
            </a:fld>
            <a:endParaRPr lang="en-US" dirty="0"/>
          </a:p>
        </p:txBody>
      </p:sp>
      <p:sp>
        <p:nvSpPr>
          <p:cNvPr id="5" name="Date Placeholder 4"/>
          <p:cNvSpPr>
            <a:spLocks noGrp="1"/>
          </p:cNvSpPr>
          <p:nvPr>
            <p:ph type="dt" sz="half" idx="10"/>
          </p:nvPr>
        </p:nvSpPr>
        <p:spPr/>
        <p:txBody>
          <a:bodyPr/>
          <a:lstStyle/>
          <a:p>
            <a:fld id="{2933FCAF-43A6-4F1B-B43D-A70C2A597932}" type="datetime1">
              <a:rPr lang="vi-VN" smtClean="0"/>
            </a:fld>
            <a:endParaRPr lang="en-US"/>
          </a:p>
        </p:txBody>
      </p:sp>
      <p:sp>
        <p:nvSpPr>
          <p:cNvPr id="6" name="Footer Placeholder 5"/>
          <p:cNvSpPr>
            <a:spLocks noGrp="1"/>
          </p:cNvSpPr>
          <p:nvPr>
            <p:ph type="ftr" sz="quarter" idx="11"/>
          </p:nvPr>
        </p:nvSpPr>
        <p:spPr/>
        <p:txBody>
          <a:bodyPr/>
          <a:lstStyle/>
          <a:p>
            <a:r>
              <a:rPr lang="en-US"/>
              <a:t>Chương 3 · Tiến trình: Luồng &amp; Ảo hoá</a:t>
            </a:r>
            <a:endParaRPr lang="en-US" dirty="0"/>
          </a:p>
        </p:txBody>
      </p:sp>
      <p:sp>
        <p:nvSpPr>
          <p:cNvPr id="7" name="Rectangle 6"/>
          <p:cNvSpPr/>
          <p:nvPr/>
        </p:nvSpPr>
        <p:spPr>
          <a:xfrm>
            <a:off x="457200" y="1280160"/>
            <a:ext cx="5760720" cy="3154680"/>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28016" rIns="128016" bIns="128016" rtlCol="0" anchor="t"/>
          <a:lstStyle/>
          <a:p>
            <a:pPr algn="l">
              <a:spcAft>
                <a:spcPts val="0"/>
              </a:spcAft>
            </a:pPr>
            <a:r>
              <a:rPr sz="1200">
                <a:solidFill>
                  <a:srgbClr val="6B5F5D"/>
                </a:solidFill>
                <a:latin typeface="Consolas" panose="020B0609020204030204"/>
                <a:ea typeface="Consolas" panose="020B0609020204030204"/>
                <a:cs typeface="Consolas" panose="020B0609020204030204"/>
              </a:rPr>
              <a:t># giáo trình, Hình 3.4 (rút gọn)</a:t>
            </a:r>
            <a:endParaRPr sz="1200">
              <a:solidFill>
                <a:srgbClr val="6B5F5D"/>
              </a:solidFill>
              <a:latin typeface="Consolas" panose="020B0609020204030204"/>
              <a:ea typeface="Consolas" panose="020B0609020204030204"/>
              <a:cs typeface="Consolas" panose="020B0609020204030204"/>
            </a:endParaRPr>
          </a:p>
          <a:p>
            <a:pPr algn="l">
              <a:spcAft>
                <a:spcPts val="0"/>
              </a:spcAft>
            </a:pPr>
            <a:r>
              <a:rPr sz="1200">
                <a:solidFill>
                  <a:srgbClr val="262626"/>
                </a:solidFill>
                <a:latin typeface="Consolas" panose="020B0609020204030204"/>
                <a:ea typeface="Consolas" panose="020B0609020204030204"/>
                <a:cs typeface="Consolas" panose="020B0609020204030204"/>
              </a:rPr>
              <a:t>shared_x = randint(10, 99)</a:t>
            </a:r>
            <a:endParaRPr sz="1200">
              <a:solidFill>
                <a:srgbClr val="262626"/>
              </a:solidFill>
              <a:latin typeface="Consolas" panose="020B0609020204030204"/>
              <a:ea typeface="Consolas" panose="020B0609020204030204"/>
              <a:cs typeface="Consolas" panose="020B0609020204030204"/>
            </a:endParaRPr>
          </a:p>
          <a:p>
            <a:pPr algn="l">
              <a:spcAft>
                <a:spcPts val="0"/>
              </a:spcAft>
            </a:pPr>
          </a:p>
          <a:p>
            <a:pPr algn="l">
              <a:spcAft>
                <a:spcPts val="0"/>
              </a:spcAft>
            </a:pPr>
            <a:r>
              <a:rPr sz="1200">
                <a:solidFill>
                  <a:srgbClr val="262626"/>
                </a:solidFill>
                <a:latin typeface="Consolas" panose="020B0609020204030204"/>
                <a:ea typeface="Consolas" panose="020B0609020204030204"/>
                <a:cs typeface="Consolas" panose="020B0609020204030204"/>
              </a:rPr>
              <a:t>def sleeping(name):</a:t>
            </a:r>
            <a:endParaRPr sz="1200">
              <a:solidFill>
                <a:srgbClr val="262626"/>
              </a:solidFill>
              <a:latin typeface="Consolas" panose="020B0609020204030204"/>
              <a:ea typeface="Consolas" panose="020B0609020204030204"/>
              <a:cs typeface="Consolas" panose="020B0609020204030204"/>
            </a:endParaRPr>
          </a:p>
          <a:p>
            <a:pPr algn="l">
              <a:spcAft>
                <a:spcPts val="0"/>
              </a:spcAft>
            </a:pPr>
            <a:r>
              <a:rPr sz="1200">
                <a:solidFill>
                  <a:srgbClr val="262626"/>
                </a:solidFill>
                <a:latin typeface="Consolas" panose="020B0609020204030204"/>
                <a:ea typeface="Consolas" panose="020B0609020204030204"/>
                <a:cs typeface="Consolas" panose="020B0609020204030204"/>
              </a:rPr>
              <a:t>    global shared_x</a:t>
            </a:r>
            <a:endParaRPr sz="1200">
              <a:solidFill>
                <a:srgbClr val="262626"/>
              </a:solidFill>
              <a:latin typeface="Consolas" panose="020B0609020204030204"/>
              <a:ea typeface="Consolas" panose="020B0609020204030204"/>
              <a:cs typeface="Consolas" panose="020B0609020204030204"/>
            </a:endParaRPr>
          </a:p>
          <a:p>
            <a:pPr algn="l">
              <a:spcAft>
                <a:spcPts val="0"/>
              </a:spcAft>
            </a:pPr>
            <a:r>
              <a:rPr sz="1200">
                <a:solidFill>
                  <a:srgbClr val="262626"/>
                </a:solidFill>
                <a:latin typeface="Consolas" panose="020B0609020204030204"/>
                <a:ea typeface="Consolas" panose="020B0609020204030204"/>
                <a:cs typeface="Consolas" panose="020B0609020204030204"/>
              </a:rPr>
              <a:t>    sleep(randint(1, 20))</a:t>
            </a:r>
            <a:endParaRPr sz="1200">
              <a:solidFill>
                <a:srgbClr val="262626"/>
              </a:solidFill>
              <a:latin typeface="Consolas" panose="020B0609020204030204"/>
              <a:ea typeface="Consolas" panose="020B0609020204030204"/>
              <a:cs typeface="Consolas" panose="020B0609020204030204"/>
            </a:endParaRPr>
          </a:p>
          <a:p>
            <a:pPr algn="l">
              <a:spcAft>
                <a:spcPts val="0"/>
              </a:spcAft>
            </a:pPr>
            <a:r>
              <a:rPr sz="1200">
                <a:solidFill>
                  <a:srgbClr val="262626"/>
                </a:solidFill>
                <a:latin typeface="Consolas" panose="020B0609020204030204"/>
                <a:ea typeface="Consolas" panose="020B0609020204030204"/>
                <a:cs typeface="Consolas" panose="020B0609020204030204"/>
              </a:rPr>
              <a:t>    shared_x = shared_x + 1</a:t>
            </a:r>
            <a:endParaRPr sz="1200">
              <a:solidFill>
                <a:srgbClr val="262626"/>
              </a:solidFill>
              <a:latin typeface="Consolas" panose="020B0609020204030204"/>
              <a:ea typeface="Consolas" panose="020B0609020204030204"/>
              <a:cs typeface="Consolas" panose="020B0609020204030204"/>
            </a:endParaRPr>
          </a:p>
          <a:p>
            <a:pPr algn="l">
              <a:spcAft>
                <a:spcPts val="0"/>
              </a:spcAft>
            </a:pPr>
          </a:p>
          <a:p>
            <a:pPr algn="l">
              <a:spcAft>
                <a:spcPts val="0"/>
              </a:spcAft>
            </a:pPr>
            <a:r>
              <a:rPr sz="1200">
                <a:solidFill>
                  <a:srgbClr val="262626"/>
                </a:solidFill>
                <a:latin typeface="Consolas" panose="020B0609020204030204"/>
                <a:ea typeface="Consolas" panose="020B0609020204030204"/>
                <a:cs typeface="Consolas" panose="020B0609020204030204"/>
              </a:rPr>
              <a:t>def sleeper(name):           # 1 tiến trình</a:t>
            </a:r>
            <a:endParaRPr sz="1200">
              <a:solidFill>
                <a:srgbClr val="262626"/>
              </a:solidFill>
              <a:latin typeface="Consolas" panose="020B0609020204030204"/>
              <a:ea typeface="Consolas" panose="020B0609020204030204"/>
              <a:cs typeface="Consolas" panose="020B0609020204030204"/>
            </a:endParaRPr>
          </a:p>
          <a:p>
            <a:pPr algn="l">
              <a:spcAft>
                <a:spcPts val="0"/>
              </a:spcAft>
            </a:pPr>
            <a:r>
              <a:rPr sz="1200">
                <a:solidFill>
                  <a:srgbClr val="262626"/>
                </a:solidFill>
                <a:latin typeface="Consolas" panose="020B0609020204030204"/>
                <a:ea typeface="Consolas" panose="020B0609020204030204"/>
                <a:cs typeface="Consolas" panose="020B0609020204030204"/>
              </a:rPr>
              <a:t>    for i in range(3):        # 3 luồng</a:t>
            </a:r>
            <a:endParaRPr sz="1200">
              <a:solidFill>
                <a:srgbClr val="262626"/>
              </a:solidFill>
              <a:latin typeface="Consolas" panose="020B0609020204030204"/>
              <a:ea typeface="Consolas" panose="020B0609020204030204"/>
              <a:cs typeface="Consolas" panose="020B0609020204030204"/>
            </a:endParaRPr>
          </a:p>
          <a:p>
            <a:pPr algn="l">
              <a:spcAft>
                <a:spcPts val="0"/>
              </a:spcAft>
            </a:pPr>
            <a:r>
              <a:rPr sz="1200">
                <a:solidFill>
                  <a:srgbClr val="262626"/>
                </a:solidFill>
                <a:latin typeface="Consolas" panose="020B0609020204030204"/>
                <a:ea typeface="Consolas" panose="020B0609020204030204"/>
                <a:cs typeface="Consolas" panose="020B0609020204030204"/>
              </a:rPr>
              <a:t>        Thread(target=sleeping, args=(name+' '+str(i),)).start()</a:t>
            </a:r>
            <a:endParaRPr sz="1200">
              <a:solidFill>
                <a:srgbClr val="262626"/>
              </a:solidFill>
              <a:latin typeface="Consolas" panose="020B0609020204030204"/>
              <a:ea typeface="Consolas" panose="020B0609020204030204"/>
              <a:cs typeface="Consolas" panose="020B0609020204030204"/>
            </a:endParaRPr>
          </a:p>
          <a:p>
            <a:pPr algn="l">
              <a:spcAft>
                <a:spcPts val="0"/>
              </a:spcAft>
            </a:pPr>
          </a:p>
          <a:p>
            <a:pPr algn="l">
              <a:spcAft>
                <a:spcPts val="0"/>
              </a:spcAft>
            </a:pPr>
            <a:r>
              <a:rPr sz="1200">
                <a:solidFill>
                  <a:srgbClr val="262626"/>
                </a:solidFill>
                <a:latin typeface="Consolas" panose="020B0609020204030204"/>
                <a:ea typeface="Consolas" panose="020B0609020204030204"/>
                <a:cs typeface="Consolas" panose="020B0609020204030204"/>
              </a:rPr>
              <a:t>Process(target=sleeper, args=('eve',)).start()</a:t>
            </a:r>
            <a:endParaRPr sz="1200">
              <a:solidFill>
                <a:srgbClr val="262626"/>
              </a:solidFill>
              <a:latin typeface="Consolas" panose="020B0609020204030204"/>
              <a:ea typeface="Consolas" panose="020B0609020204030204"/>
              <a:cs typeface="Consolas" panose="020B0609020204030204"/>
            </a:endParaRPr>
          </a:p>
          <a:p>
            <a:pPr algn="l">
              <a:spcAft>
                <a:spcPts val="0"/>
              </a:spcAft>
            </a:pPr>
            <a:r>
              <a:rPr sz="1200">
                <a:solidFill>
                  <a:srgbClr val="262626"/>
                </a:solidFill>
                <a:latin typeface="Consolas" panose="020B0609020204030204"/>
                <a:ea typeface="Consolas" panose="020B0609020204030204"/>
                <a:cs typeface="Consolas" panose="020B0609020204030204"/>
              </a:rPr>
              <a:t>Process(target=sleeper, args=('bob',)).start()</a:t>
            </a:r>
            <a:endParaRPr sz="1200">
              <a:solidFill>
                <a:srgbClr val="262626"/>
              </a:solidFill>
              <a:latin typeface="Consolas" panose="020B0609020204030204"/>
              <a:ea typeface="Consolas" panose="020B0609020204030204"/>
              <a:cs typeface="Consolas" panose="020B0609020204030204"/>
            </a:endParaRPr>
          </a:p>
        </p:txBody>
      </p:sp>
      <p:sp>
        <p:nvSpPr>
          <p:cNvPr id="8" name="Rectangle 7"/>
          <p:cNvSpPr/>
          <p:nvPr/>
        </p:nvSpPr>
        <p:spPr>
          <a:xfrm>
            <a:off x="6446520" y="1280160"/>
            <a:ext cx="5303520" cy="3154680"/>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28016" rIns="128016" bIns="128016" rtlCol="0" anchor="t"/>
          <a:lstStyle/>
          <a:p>
            <a:pPr algn="l">
              <a:spcAft>
                <a:spcPts val="0"/>
              </a:spcAft>
            </a:pPr>
            <a:r>
              <a:rPr sz="1200">
                <a:solidFill>
                  <a:srgbClr val="6B5F5D"/>
                </a:solidFill>
                <a:latin typeface="Consolas" panose="020B0609020204030204"/>
                <a:ea typeface="Consolas" panose="020B0609020204030204"/>
                <a:cs typeface="Consolas" panose="020B0609020204030204"/>
              </a:rPr>
              <a:t>eve sees shared x being 71</a:t>
            </a:r>
            <a:endParaRPr sz="1200">
              <a:solidFill>
                <a:srgbClr val="6B5F5D"/>
              </a:solidFill>
              <a:latin typeface="Consolas" panose="020B0609020204030204"/>
              <a:ea typeface="Consolas" panose="020B0609020204030204"/>
              <a:cs typeface="Consolas" panose="020B0609020204030204"/>
            </a:endParaRPr>
          </a:p>
          <a:p>
            <a:pPr algn="l">
              <a:spcAft>
                <a:spcPts val="0"/>
              </a:spcAft>
            </a:pPr>
            <a:r>
              <a:rPr sz="1200">
                <a:solidFill>
                  <a:srgbClr val="6B5F5D"/>
                </a:solidFill>
                <a:latin typeface="Consolas" panose="020B0609020204030204"/>
                <a:ea typeface="Consolas" panose="020B0609020204030204"/>
                <a:cs typeface="Consolas" panose="020B0609020204030204"/>
              </a:rPr>
              <a:t>bob sees shared x being 84</a:t>
            </a:r>
            <a:endParaRPr sz="1200">
              <a:solidFill>
                <a:srgbClr val="6B5F5D"/>
              </a:solidFill>
              <a:latin typeface="Consolas" panose="020B0609020204030204"/>
              <a:ea typeface="Consolas" panose="020B0609020204030204"/>
              <a:cs typeface="Consolas" panose="020B0609020204030204"/>
            </a:endParaRPr>
          </a:p>
          <a:p>
            <a:pPr algn="l">
              <a:spcAft>
                <a:spcPts val="0"/>
              </a:spcAft>
            </a:pPr>
            <a:r>
              <a:rPr sz="1200">
                <a:solidFill>
                  <a:srgbClr val="262626"/>
                </a:solidFill>
                <a:latin typeface="Consolas" panose="020B0609020204030204"/>
                <a:ea typeface="Consolas" panose="020B0609020204030204"/>
                <a:cs typeface="Consolas" panose="020B0609020204030204"/>
              </a:rPr>
              <a:t>53:24 eve 2 has woken up, seeing shared x being 72</a:t>
            </a:r>
            <a:endParaRPr sz="1200">
              <a:solidFill>
                <a:srgbClr val="262626"/>
              </a:solidFill>
              <a:latin typeface="Consolas" panose="020B0609020204030204"/>
              <a:ea typeface="Consolas" panose="020B0609020204030204"/>
              <a:cs typeface="Consolas" panose="020B0609020204030204"/>
            </a:endParaRPr>
          </a:p>
          <a:p>
            <a:pPr algn="l">
              <a:spcAft>
                <a:spcPts val="0"/>
              </a:spcAft>
            </a:pPr>
            <a:r>
              <a:rPr sz="1200">
                <a:solidFill>
                  <a:srgbClr val="262626"/>
                </a:solidFill>
                <a:latin typeface="Consolas" panose="020B0609020204030204"/>
                <a:ea typeface="Consolas" panose="020B0609020204030204"/>
                <a:cs typeface="Consolas" panose="020B0609020204030204"/>
              </a:rPr>
              <a:t>53:29 bob 0 has woken up, seeing shared x being 85</a:t>
            </a:r>
            <a:endParaRPr sz="1200">
              <a:solidFill>
                <a:srgbClr val="262626"/>
              </a:solidFill>
              <a:latin typeface="Consolas" panose="020B0609020204030204"/>
              <a:ea typeface="Consolas" panose="020B0609020204030204"/>
              <a:cs typeface="Consolas" panose="020B0609020204030204"/>
            </a:endParaRPr>
          </a:p>
          <a:p>
            <a:pPr algn="l">
              <a:spcAft>
                <a:spcPts val="0"/>
              </a:spcAft>
            </a:pPr>
            <a:r>
              <a:rPr sz="1200">
                <a:solidFill>
                  <a:srgbClr val="262626"/>
                </a:solidFill>
                <a:latin typeface="Consolas" panose="020B0609020204030204"/>
                <a:ea typeface="Consolas" panose="020B0609020204030204"/>
                <a:cs typeface="Consolas" panose="020B0609020204030204"/>
              </a:rPr>
              <a:t>53:29 bob 2 has woken up, seeing shared x being 86</a:t>
            </a:r>
            <a:endParaRPr sz="1200">
              <a:solidFill>
                <a:srgbClr val="262626"/>
              </a:solidFill>
              <a:latin typeface="Consolas" panose="020B0609020204030204"/>
              <a:ea typeface="Consolas" panose="020B0609020204030204"/>
              <a:cs typeface="Consolas" panose="020B0609020204030204"/>
            </a:endParaRPr>
          </a:p>
          <a:p>
            <a:pPr algn="l">
              <a:spcAft>
                <a:spcPts val="0"/>
              </a:spcAft>
            </a:pPr>
            <a:r>
              <a:rPr sz="1200">
                <a:solidFill>
                  <a:srgbClr val="262626"/>
                </a:solidFill>
                <a:latin typeface="Consolas" panose="020B0609020204030204"/>
                <a:ea typeface="Consolas" panose="020B0609020204030204"/>
                <a:cs typeface="Consolas" panose="020B0609020204030204"/>
              </a:rPr>
              <a:t>53:36 eve 1 has woken up, seeing shared x being 73</a:t>
            </a:r>
            <a:endParaRPr sz="1200">
              <a:solidFill>
                <a:srgbClr val="262626"/>
              </a:solidFill>
              <a:latin typeface="Consolas" panose="020B0609020204030204"/>
              <a:ea typeface="Consolas" panose="020B0609020204030204"/>
              <a:cs typeface="Consolas" panose="020B0609020204030204"/>
            </a:endParaRPr>
          </a:p>
          <a:p>
            <a:pPr algn="l">
              <a:spcAft>
                <a:spcPts val="0"/>
              </a:spcAft>
            </a:pPr>
            <a:r>
              <a:rPr sz="1200">
                <a:solidFill>
                  <a:srgbClr val="262626"/>
                </a:solidFill>
                <a:latin typeface="Consolas" panose="020B0609020204030204"/>
                <a:ea typeface="Consolas" panose="020B0609020204030204"/>
                <a:cs typeface="Consolas" panose="020B0609020204030204"/>
              </a:rPr>
              <a:t>53:37 bob 1 has woken up, seeing shared x being 87</a:t>
            </a:r>
            <a:endParaRPr sz="1200">
              <a:solidFill>
                <a:srgbClr val="262626"/>
              </a:solidFill>
              <a:latin typeface="Consolas" panose="020B0609020204030204"/>
              <a:ea typeface="Consolas" panose="020B0609020204030204"/>
              <a:cs typeface="Consolas" panose="020B0609020204030204"/>
            </a:endParaRPr>
          </a:p>
          <a:p>
            <a:pPr algn="l">
              <a:spcAft>
                <a:spcPts val="0"/>
              </a:spcAft>
            </a:pPr>
            <a:r>
              <a:rPr sz="1200">
                <a:solidFill>
                  <a:srgbClr val="262626"/>
                </a:solidFill>
                <a:latin typeface="Consolas" panose="020B0609020204030204"/>
                <a:ea typeface="Consolas" panose="020B0609020204030204"/>
                <a:cs typeface="Consolas" panose="020B0609020204030204"/>
              </a:rPr>
              <a:t>53:41 eve 0 has woken up, seeing shared x being 74</a:t>
            </a:r>
            <a:endParaRPr sz="1200">
              <a:solidFill>
                <a:srgbClr val="262626"/>
              </a:solidFill>
              <a:latin typeface="Consolas" panose="020B0609020204030204"/>
              <a:ea typeface="Consolas" panose="020B0609020204030204"/>
              <a:cs typeface="Consolas" panose="020B0609020204030204"/>
            </a:endParaRPr>
          </a:p>
        </p:txBody>
      </p:sp>
      <p:sp>
        <p:nvSpPr>
          <p:cNvPr id="9" name="Rectangle 8"/>
          <p:cNvSpPr/>
          <p:nvPr/>
        </p:nvSpPr>
        <p:spPr>
          <a:xfrm>
            <a:off x="457200" y="4663440"/>
            <a:ext cx="3611880" cy="1600200"/>
          </a:xfrm>
          <a:prstGeom prst="rect">
            <a:avLst/>
          </a:prstGeom>
          <a:solidFill>
            <a:srgbClr val="FFF7F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10" name="TextBox 9"/>
          <p:cNvSpPr txBox="1"/>
          <p:nvPr/>
        </p:nvSpPr>
        <p:spPr>
          <a:xfrm>
            <a:off x="621792" y="4736592"/>
            <a:ext cx="3291840" cy="411480"/>
          </a:xfrm>
          <a:prstGeom prst="rect">
            <a:avLst/>
          </a:prstGeom>
          <a:noFill/>
        </p:spPr>
        <p:txBody>
          <a:bodyPr wrap="square" lIns="36576" tIns="36576" rIns="36576" bIns="36576" anchor="t">
            <a:spAutoFit/>
          </a:bodyPr>
          <a:lstStyle/>
          <a:p>
            <a:pPr algn="l">
              <a:spcAft>
                <a:spcPts val="400"/>
              </a:spcAft>
            </a:pPr>
            <a:r>
              <a:rPr sz="1500" b="1">
                <a:solidFill>
                  <a:srgbClr val="BB2019"/>
                </a:solidFill>
                <a:latin typeface="Open Sans"/>
                <a:ea typeface="Open Sans"/>
                <a:cs typeface="Open Sans"/>
              </a:rPr>
              <a:t>Trong một tiến trình</a:t>
            </a:r>
            <a:endParaRPr sz="1500" b="1">
              <a:solidFill>
                <a:srgbClr val="BB2019"/>
              </a:solidFill>
              <a:latin typeface="Open Sans"/>
              <a:ea typeface="Open Sans"/>
              <a:cs typeface="Open Sans"/>
            </a:endParaRPr>
          </a:p>
        </p:txBody>
      </p:sp>
      <p:sp>
        <p:nvSpPr>
          <p:cNvPr id="11" name="TextBox 10"/>
          <p:cNvSpPr txBox="1"/>
          <p:nvPr/>
        </p:nvSpPr>
        <p:spPr>
          <a:xfrm>
            <a:off x="621792" y="5166360"/>
            <a:ext cx="3291840" cy="1051560"/>
          </a:xfrm>
          <a:prstGeom prst="rect">
            <a:avLst/>
          </a:prstGeom>
          <a:noFill/>
        </p:spPr>
        <p:txBody>
          <a:bodyPr wrap="square" lIns="36576" tIns="36576" rIns="36576" bIns="36576" anchor="t">
            <a:spAutoFit/>
          </a:bodyPr>
          <a:lstStyle/>
          <a:p>
            <a:pPr algn="l">
              <a:spcAft>
                <a:spcPts val="400"/>
              </a:spcAft>
            </a:pPr>
            <a:r>
              <a:rPr sz="1350">
                <a:solidFill>
                  <a:srgbClr val="262626"/>
                </a:solidFill>
                <a:latin typeface="Open Sans"/>
                <a:ea typeface="Open Sans"/>
                <a:cs typeface="Open Sans"/>
              </a:rPr>
              <a:t>Ba luồng của eve thấy 72 → 73 → 74: cùng một vùng nhớ.</a:t>
            </a:r>
            <a:endParaRPr sz="1350">
              <a:solidFill>
                <a:srgbClr val="262626"/>
              </a:solidFill>
              <a:latin typeface="Open Sans"/>
              <a:ea typeface="Open Sans"/>
              <a:cs typeface="Open Sans"/>
            </a:endParaRPr>
          </a:p>
        </p:txBody>
      </p:sp>
      <p:sp>
        <p:nvSpPr>
          <p:cNvPr id="12" name="Rectangle 11"/>
          <p:cNvSpPr/>
          <p:nvPr/>
        </p:nvSpPr>
        <p:spPr>
          <a:xfrm>
            <a:off x="4251960" y="4663440"/>
            <a:ext cx="3611880" cy="1600200"/>
          </a:xfrm>
          <a:prstGeom prst="rect">
            <a:avLst/>
          </a:prstGeom>
          <a:solidFill>
            <a:srgbClr val="FFF7F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13" name="TextBox 12"/>
          <p:cNvSpPr txBox="1"/>
          <p:nvPr/>
        </p:nvSpPr>
        <p:spPr>
          <a:xfrm>
            <a:off x="4416552" y="4736592"/>
            <a:ext cx="3291840" cy="411480"/>
          </a:xfrm>
          <a:prstGeom prst="rect">
            <a:avLst/>
          </a:prstGeom>
          <a:noFill/>
        </p:spPr>
        <p:txBody>
          <a:bodyPr wrap="square" lIns="36576" tIns="36576" rIns="36576" bIns="36576" anchor="t">
            <a:spAutoFit/>
          </a:bodyPr>
          <a:lstStyle/>
          <a:p>
            <a:pPr algn="l">
              <a:spcAft>
                <a:spcPts val="400"/>
              </a:spcAft>
            </a:pPr>
            <a:r>
              <a:rPr sz="1500" b="1">
                <a:solidFill>
                  <a:srgbClr val="BB2019"/>
                </a:solidFill>
                <a:latin typeface="Open Sans"/>
                <a:ea typeface="Open Sans"/>
                <a:cs typeface="Open Sans"/>
              </a:rPr>
              <a:t>Giữa hai tiến trình</a:t>
            </a:r>
            <a:endParaRPr sz="1500" b="1">
              <a:solidFill>
                <a:srgbClr val="BB2019"/>
              </a:solidFill>
              <a:latin typeface="Open Sans"/>
              <a:ea typeface="Open Sans"/>
              <a:cs typeface="Open Sans"/>
            </a:endParaRPr>
          </a:p>
        </p:txBody>
      </p:sp>
      <p:sp>
        <p:nvSpPr>
          <p:cNvPr id="14" name="TextBox 13"/>
          <p:cNvSpPr txBox="1"/>
          <p:nvPr/>
        </p:nvSpPr>
        <p:spPr>
          <a:xfrm>
            <a:off x="4416552" y="5166360"/>
            <a:ext cx="3291840" cy="1051560"/>
          </a:xfrm>
          <a:prstGeom prst="rect">
            <a:avLst/>
          </a:prstGeom>
          <a:noFill/>
        </p:spPr>
        <p:txBody>
          <a:bodyPr wrap="square" lIns="36576" tIns="36576" rIns="36576" bIns="36576" anchor="t">
            <a:spAutoFit/>
          </a:bodyPr>
          <a:lstStyle/>
          <a:p>
            <a:pPr algn="l">
              <a:spcAft>
                <a:spcPts val="400"/>
              </a:spcAft>
            </a:pPr>
            <a:r>
              <a:rPr sz="1350">
                <a:solidFill>
                  <a:srgbClr val="262626"/>
                </a:solidFill>
                <a:latin typeface="Open Sans"/>
                <a:ea typeface="Open Sans"/>
                <a:cs typeface="Open Sans"/>
              </a:rPr>
              <a:t>eve và bob có hai bản shared_x khác nhau: không gian địa chỉ riêng.</a:t>
            </a:r>
            <a:endParaRPr sz="1350">
              <a:solidFill>
                <a:srgbClr val="262626"/>
              </a:solidFill>
              <a:latin typeface="Open Sans"/>
              <a:ea typeface="Open Sans"/>
              <a:cs typeface="Open Sans"/>
            </a:endParaRPr>
          </a:p>
        </p:txBody>
      </p:sp>
      <p:sp>
        <p:nvSpPr>
          <p:cNvPr id="15" name="Rectangle 14"/>
          <p:cNvSpPr/>
          <p:nvPr/>
        </p:nvSpPr>
        <p:spPr>
          <a:xfrm>
            <a:off x="8046720" y="4663440"/>
            <a:ext cx="3611880" cy="1600200"/>
          </a:xfrm>
          <a:prstGeom prst="rect">
            <a:avLst/>
          </a:prstGeom>
          <a:solidFill>
            <a:srgbClr val="FFF7F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16" name="TextBox 15"/>
          <p:cNvSpPr txBox="1"/>
          <p:nvPr/>
        </p:nvSpPr>
        <p:spPr>
          <a:xfrm>
            <a:off x="8211312" y="4736592"/>
            <a:ext cx="3291840" cy="411480"/>
          </a:xfrm>
          <a:prstGeom prst="rect">
            <a:avLst/>
          </a:prstGeom>
          <a:noFill/>
        </p:spPr>
        <p:txBody>
          <a:bodyPr wrap="square" lIns="36576" tIns="36576" rIns="36576" bIns="36576" anchor="t">
            <a:spAutoFit/>
          </a:bodyPr>
          <a:lstStyle/>
          <a:p>
            <a:pPr algn="l">
              <a:spcAft>
                <a:spcPts val="400"/>
              </a:spcAft>
            </a:pPr>
            <a:r>
              <a:rPr sz="1500" b="1">
                <a:solidFill>
                  <a:srgbClr val="BB2019"/>
                </a:solidFill>
                <a:latin typeface="Open Sans"/>
                <a:ea typeface="Open Sans"/>
                <a:cs typeface="Open Sans"/>
              </a:rPr>
              <a:t>Lời gọi chặn</a:t>
            </a:r>
            <a:endParaRPr sz="1500" b="1">
              <a:solidFill>
                <a:srgbClr val="BB2019"/>
              </a:solidFill>
              <a:latin typeface="Open Sans"/>
              <a:ea typeface="Open Sans"/>
              <a:cs typeface="Open Sans"/>
            </a:endParaRPr>
          </a:p>
        </p:txBody>
      </p:sp>
      <p:sp>
        <p:nvSpPr>
          <p:cNvPr id="17" name="TextBox 16"/>
          <p:cNvSpPr txBox="1"/>
          <p:nvPr/>
        </p:nvSpPr>
        <p:spPr>
          <a:xfrm>
            <a:off x="8211312" y="5166360"/>
            <a:ext cx="3291840" cy="1051560"/>
          </a:xfrm>
          <a:prstGeom prst="rect">
            <a:avLst/>
          </a:prstGeom>
          <a:noFill/>
        </p:spPr>
        <p:txBody>
          <a:bodyPr wrap="square" lIns="36576" tIns="36576" rIns="36576" bIns="36576" anchor="t">
            <a:spAutoFit/>
          </a:bodyPr>
          <a:lstStyle/>
          <a:p>
            <a:pPr algn="l">
              <a:spcAft>
                <a:spcPts val="400"/>
              </a:spcAft>
            </a:pPr>
            <a:r>
              <a:rPr sz="1350">
                <a:solidFill>
                  <a:srgbClr val="262626"/>
                </a:solidFill>
                <a:latin typeface="Open Sans"/>
                <a:ea typeface="Open Sans"/>
                <a:cs typeface="Open Sans"/>
              </a:rPr>
              <a:t>sleep chỉ treo luồng gọi; luồng khác vẫn được lập lịch.</a:t>
            </a:r>
            <a:endParaRPr sz="1350">
              <a:solidFill>
                <a:srgbClr val="262626"/>
              </a:solidFill>
              <a:latin typeface="Open Sans"/>
              <a:ea typeface="Open Sans"/>
              <a:cs typeface="Open Sans"/>
            </a:endParaRPr>
          </a:p>
        </p:txBody>
      </p:sp>
      <p:sp>
        <p:nvSpPr>
          <p:cNvPr id="18" name="Rounded Rectangle 17"/>
          <p:cNvSpPr/>
          <p:nvPr/>
        </p:nvSpPr>
        <p:spPr>
          <a:xfrm>
            <a:off x="10744200" y="347472"/>
            <a:ext cx="1005840" cy="292608"/>
          </a:xfrm>
          <a:prstGeom prst="roundRect">
            <a:avLst>
              <a:gd name="adj" fmla="val 50000"/>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spcAft>
                <a:spcPts val="200"/>
              </a:spcAft>
            </a:pPr>
            <a:r>
              <a:rPr sz="1150" b="1">
                <a:solidFill>
                  <a:srgbClr val="FFFFFF"/>
                </a:solidFill>
                <a:latin typeface="Open Sans"/>
                <a:ea typeface="Open Sans"/>
                <a:cs typeface="Open Sans"/>
              </a:rPr>
              <a:t>Demo 02</a:t>
            </a:r>
            <a:endParaRPr sz="1150" b="1">
              <a:solidFill>
                <a:srgbClr val="FFFFFF"/>
              </a:solidFill>
              <a:latin typeface="Open Sans"/>
              <a:ea typeface="Open Sans"/>
              <a:cs typeface="Open Sa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Cài đặt luồng</a:t>
            </a:r>
          </a:p>
        </p:txBody>
      </p:sp>
      <p:sp>
        <p:nvSpPr>
          <p:cNvPr id="3" name="Text Placeholder 2"/>
          <p:cNvSpPr>
            <a:spLocks noGrp="1"/>
          </p:cNvSpPr>
          <p:nvPr>
            <p:ph type="body" sz="quarter" idx="13"/>
          </p:nvPr>
        </p:nvSpPr>
        <p:spPr/>
        <p:txBody>
          <a:bodyPr/>
          <a:lstStyle/>
          <a:p>
            <a:r>
              <a:t>Thư viện mức người dùng, luồng mức nhân, và mô hình lai many-to-many</a:t>
            </a:r>
          </a:p>
        </p:txBody>
      </p:sp>
      <p:sp>
        <p:nvSpPr>
          <p:cNvPr id="4" name="Slide Number Placeholder 3"/>
          <p:cNvSpPr>
            <a:spLocks noGrp="1"/>
          </p:cNvSpPr>
          <p:nvPr>
            <p:ph type="sldNum" sz="quarter" idx="12"/>
          </p:nvPr>
        </p:nvSpPr>
        <p:spPr/>
        <p:txBody>
          <a:bodyPr/>
          <a:lstStyle/>
          <a:p>
            <a:fld id="{D92DDFE6-74DA-46A1-A171-CE3314B0D579}" type="slidenum">
              <a:rPr lang="en-US" smtClean="0"/>
            </a:fld>
            <a:endParaRPr lang="en-US" dirty="0"/>
          </a:p>
        </p:txBody>
      </p:sp>
      <p:sp>
        <p:nvSpPr>
          <p:cNvPr id="5" name="Date Placeholder 4"/>
          <p:cNvSpPr>
            <a:spLocks noGrp="1"/>
          </p:cNvSpPr>
          <p:nvPr>
            <p:ph type="dt" sz="half" idx="10"/>
          </p:nvPr>
        </p:nvSpPr>
        <p:spPr/>
        <p:txBody>
          <a:bodyPr/>
          <a:lstStyle/>
          <a:p>
            <a:fld id="{2933FCAF-43A6-4F1B-B43D-A70C2A597932}" type="datetime1">
              <a:rPr lang="vi-VN" smtClean="0"/>
            </a:fld>
            <a:endParaRPr lang="en-US"/>
          </a:p>
        </p:txBody>
      </p:sp>
      <p:sp>
        <p:nvSpPr>
          <p:cNvPr id="6" name="Footer Placeholder 5"/>
          <p:cNvSpPr>
            <a:spLocks noGrp="1"/>
          </p:cNvSpPr>
          <p:nvPr>
            <p:ph type="ftr" sz="quarter" idx="11"/>
          </p:nvPr>
        </p:nvSpPr>
        <p:spPr/>
        <p:txBody>
          <a:bodyPr/>
          <a:lstStyle/>
          <a:p>
            <a:r>
              <a:rPr lang="en-US"/>
              <a:t>Chương 3 · Tiến trình: Luồng &amp; Ảo hoá</a:t>
            </a:r>
            <a:endParaRPr lang="en-US" dirty="0"/>
          </a:p>
        </p:txBody>
      </p:sp>
      <p:sp>
        <p:nvSpPr>
          <p:cNvPr id="7" name="TextBox 6"/>
          <p:cNvSpPr txBox="1"/>
          <p:nvPr/>
        </p:nvSpPr>
        <p:spPr>
          <a:xfrm>
            <a:off x="457200" y="1261872"/>
            <a:ext cx="3611880" cy="411480"/>
          </a:xfrm>
          <a:prstGeom prst="rect">
            <a:avLst/>
          </a:prstGeom>
          <a:noFill/>
        </p:spPr>
        <p:txBody>
          <a:bodyPr wrap="square" lIns="36576" tIns="36576" rIns="36576" bIns="36576" anchor="t">
            <a:spAutoFit/>
          </a:bodyPr>
          <a:lstStyle/>
          <a:p>
            <a:pPr algn="ctr">
              <a:spcAft>
                <a:spcPts val="400"/>
              </a:spcAft>
            </a:pPr>
            <a:r>
              <a:rPr sz="1600" b="1">
                <a:solidFill>
                  <a:srgbClr val="BB2019"/>
                </a:solidFill>
                <a:latin typeface="Open Sans"/>
                <a:ea typeface="Open Sans"/>
                <a:cs typeface="Open Sans"/>
              </a:rPr>
              <a:t>Mức người dùng (many-to-one)</a:t>
            </a:r>
            <a:endParaRPr sz="1600" b="1">
              <a:solidFill>
                <a:srgbClr val="BB2019"/>
              </a:solidFill>
              <a:latin typeface="Open Sans"/>
              <a:ea typeface="Open Sans"/>
              <a:cs typeface="Open Sans"/>
            </a:endParaRPr>
          </a:p>
        </p:txBody>
      </p:sp>
      <p:sp>
        <p:nvSpPr>
          <p:cNvPr id="8" name="Rectangle 7"/>
          <p:cNvSpPr/>
          <p:nvPr/>
        </p:nvSpPr>
        <p:spPr>
          <a:xfrm>
            <a:off x="640080" y="1783080"/>
            <a:ext cx="548640" cy="411480"/>
          </a:xfrm>
          <a:prstGeom prst="rect">
            <a:avLst/>
          </a:prstGeom>
          <a:solidFill>
            <a:srgbClr val="FDECEB"/>
          </a:solidFill>
          <a:ln w="12700">
            <a:solidFill>
              <a:srgbClr val="BB2019"/>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200" b="1">
                <a:solidFill>
                  <a:srgbClr val="BB2019"/>
                </a:solidFill>
                <a:latin typeface="Open Sans"/>
                <a:ea typeface="Open Sans"/>
                <a:cs typeface="Open Sans"/>
              </a:rPr>
              <a:t>U1</a:t>
            </a:r>
            <a:endParaRPr sz="1200" b="1">
              <a:solidFill>
                <a:srgbClr val="BB2019"/>
              </a:solidFill>
              <a:latin typeface="Open Sans"/>
              <a:ea typeface="Open Sans"/>
              <a:cs typeface="Open Sans"/>
            </a:endParaRPr>
          </a:p>
        </p:txBody>
      </p:sp>
      <p:sp>
        <p:nvSpPr>
          <p:cNvPr id="9" name="Rectangle 8"/>
          <p:cNvSpPr/>
          <p:nvPr/>
        </p:nvSpPr>
        <p:spPr>
          <a:xfrm>
            <a:off x="1539239" y="1783080"/>
            <a:ext cx="548640" cy="411480"/>
          </a:xfrm>
          <a:prstGeom prst="rect">
            <a:avLst/>
          </a:prstGeom>
          <a:solidFill>
            <a:srgbClr val="FDECEB"/>
          </a:solidFill>
          <a:ln w="12700">
            <a:solidFill>
              <a:srgbClr val="BB2019"/>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200" b="1">
                <a:solidFill>
                  <a:srgbClr val="BB2019"/>
                </a:solidFill>
                <a:latin typeface="Open Sans"/>
                <a:ea typeface="Open Sans"/>
                <a:cs typeface="Open Sans"/>
              </a:rPr>
              <a:t>U2</a:t>
            </a:r>
            <a:endParaRPr sz="1200" b="1">
              <a:solidFill>
                <a:srgbClr val="BB2019"/>
              </a:solidFill>
              <a:latin typeface="Open Sans"/>
              <a:ea typeface="Open Sans"/>
              <a:cs typeface="Open Sans"/>
            </a:endParaRPr>
          </a:p>
        </p:txBody>
      </p:sp>
      <p:sp>
        <p:nvSpPr>
          <p:cNvPr id="10" name="Rectangle 9"/>
          <p:cNvSpPr/>
          <p:nvPr/>
        </p:nvSpPr>
        <p:spPr>
          <a:xfrm>
            <a:off x="2438400" y="1783080"/>
            <a:ext cx="548640" cy="411480"/>
          </a:xfrm>
          <a:prstGeom prst="rect">
            <a:avLst/>
          </a:prstGeom>
          <a:solidFill>
            <a:srgbClr val="FDECEB"/>
          </a:solidFill>
          <a:ln w="12700">
            <a:solidFill>
              <a:srgbClr val="BB2019"/>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200" b="1">
                <a:solidFill>
                  <a:srgbClr val="BB2019"/>
                </a:solidFill>
                <a:latin typeface="Open Sans"/>
                <a:ea typeface="Open Sans"/>
                <a:cs typeface="Open Sans"/>
              </a:rPr>
              <a:t>U3</a:t>
            </a:r>
            <a:endParaRPr sz="1200" b="1">
              <a:solidFill>
                <a:srgbClr val="BB2019"/>
              </a:solidFill>
              <a:latin typeface="Open Sans"/>
              <a:ea typeface="Open Sans"/>
              <a:cs typeface="Open Sans"/>
            </a:endParaRPr>
          </a:p>
        </p:txBody>
      </p:sp>
      <p:sp>
        <p:nvSpPr>
          <p:cNvPr id="11" name="Rectangle 10"/>
          <p:cNvSpPr/>
          <p:nvPr/>
        </p:nvSpPr>
        <p:spPr>
          <a:xfrm>
            <a:off x="3337559" y="1783080"/>
            <a:ext cx="548640" cy="411480"/>
          </a:xfrm>
          <a:prstGeom prst="rect">
            <a:avLst/>
          </a:prstGeom>
          <a:solidFill>
            <a:srgbClr val="FDECEB"/>
          </a:solidFill>
          <a:ln w="12700">
            <a:solidFill>
              <a:srgbClr val="BB2019"/>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200" b="1">
                <a:solidFill>
                  <a:srgbClr val="BB2019"/>
                </a:solidFill>
                <a:latin typeface="Open Sans"/>
                <a:ea typeface="Open Sans"/>
                <a:cs typeface="Open Sans"/>
              </a:rPr>
              <a:t>U4</a:t>
            </a:r>
            <a:endParaRPr sz="1200" b="1">
              <a:solidFill>
                <a:srgbClr val="BB2019"/>
              </a:solidFill>
              <a:latin typeface="Open Sans"/>
              <a:ea typeface="Open Sans"/>
              <a:cs typeface="Open Sans"/>
            </a:endParaRPr>
          </a:p>
        </p:txBody>
      </p:sp>
      <p:sp>
        <p:nvSpPr>
          <p:cNvPr id="12" name="Rectangle 11"/>
          <p:cNvSpPr/>
          <p:nvPr/>
        </p:nvSpPr>
        <p:spPr>
          <a:xfrm>
            <a:off x="1984248" y="2788920"/>
            <a:ext cx="548640" cy="411480"/>
          </a:xfrm>
          <a:prstGeom prst="rect">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200" b="1">
                <a:solidFill>
                  <a:srgbClr val="FFFFFF"/>
                </a:solidFill>
                <a:latin typeface="Open Sans"/>
                <a:ea typeface="Open Sans"/>
                <a:cs typeface="Open Sans"/>
              </a:rPr>
              <a:t>K1</a:t>
            </a:r>
            <a:endParaRPr sz="1200" b="1">
              <a:solidFill>
                <a:srgbClr val="FFFFFF"/>
              </a:solidFill>
              <a:latin typeface="Open Sans"/>
              <a:ea typeface="Open Sans"/>
              <a:cs typeface="Open Sans"/>
            </a:endParaRPr>
          </a:p>
        </p:txBody>
      </p:sp>
      <p:cxnSp>
        <p:nvCxnSpPr>
          <p:cNvPr id="13" name="Connector 12"/>
          <p:cNvCxnSpPr/>
          <p:nvPr/>
        </p:nvCxnSpPr>
        <p:spPr>
          <a:xfrm>
            <a:off x="914400" y="2212848"/>
            <a:ext cx="1344168" cy="557784"/>
          </a:xfrm>
          <a:prstGeom prst="line">
            <a:avLst/>
          </a:prstGeom>
          <a:ln w="15875">
            <a:solidFill>
              <a:srgbClr val="BFB3B1"/>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813559" y="2212848"/>
            <a:ext cx="445009" cy="557784"/>
          </a:xfrm>
          <a:prstGeom prst="line">
            <a:avLst/>
          </a:prstGeom>
          <a:ln w="15875">
            <a:solidFill>
              <a:srgbClr val="BFB3B1"/>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2258568" y="2212848"/>
            <a:ext cx="454151" cy="557784"/>
          </a:xfrm>
          <a:prstGeom prst="line">
            <a:avLst/>
          </a:prstGeom>
          <a:ln w="15875">
            <a:solidFill>
              <a:srgbClr val="BFB3B1"/>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2258568" y="2212848"/>
            <a:ext cx="1353311" cy="557784"/>
          </a:xfrm>
          <a:prstGeom prst="line">
            <a:avLst/>
          </a:prstGeom>
          <a:ln w="15875">
            <a:solidFill>
              <a:srgbClr val="BFB3B1"/>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57200" y="3310128"/>
            <a:ext cx="3611880" cy="320040"/>
          </a:xfrm>
          <a:prstGeom prst="rect">
            <a:avLst/>
          </a:prstGeom>
          <a:noFill/>
        </p:spPr>
        <p:txBody>
          <a:bodyPr wrap="square" lIns="36576" tIns="36576" rIns="36576" bIns="36576" anchor="t">
            <a:spAutoFit/>
          </a:bodyPr>
          <a:lstStyle/>
          <a:p>
            <a:pPr algn="ctr">
              <a:spcAft>
                <a:spcPts val="400"/>
              </a:spcAft>
            </a:pPr>
            <a:r>
              <a:rPr sz="1200">
                <a:solidFill>
                  <a:srgbClr val="6B5F5D"/>
                </a:solidFill>
                <a:latin typeface="Open Sans"/>
                <a:ea typeface="Open Sans"/>
                <a:cs typeface="Open Sans"/>
              </a:rPr>
              <a:t>U = luồng người dùng · K = luồng nhân</a:t>
            </a:r>
            <a:endParaRPr sz="1200">
              <a:solidFill>
                <a:srgbClr val="6B5F5D"/>
              </a:solidFill>
              <a:latin typeface="Open Sans"/>
              <a:ea typeface="Open Sans"/>
              <a:cs typeface="Open Sans"/>
            </a:endParaRPr>
          </a:p>
        </p:txBody>
      </p:sp>
      <p:sp>
        <p:nvSpPr>
          <p:cNvPr id="18" name="TextBox 17"/>
          <p:cNvSpPr txBox="1"/>
          <p:nvPr/>
        </p:nvSpPr>
        <p:spPr>
          <a:xfrm>
            <a:off x="4297680" y="1261872"/>
            <a:ext cx="3611880" cy="411480"/>
          </a:xfrm>
          <a:prstGeom prst="rect">
            <a:avLst/>
          </a:prstGeom>
          <a:noFill/>
        </p:spPr>
        <p:txBody>
          <a:bodyPr wrap="square" lIns="36576" tIns="36576" rIns="36576" bIns="36576" anchor="t">
            <a:spAutoFit/>
          </a:bodyPr>
          <a:lstStyle/>
          <a:p>
            <a:pPr algn="ctr">
              <a:spcAft>
                <a:spcPts val="400"/>
              </a:spcAft>
            </a:pPr>
            <a:r>
              <a:rPr sz="1600" b="1">
                <a:solidFill>
                  <a:srgbClr val="BB2019"/>
                </a:solidFill>
                <a:latin typeface="Open Sans"/>
                <a:ea typeface="Open Sans"/>
                <a:cs typeface="Open Sans"/>
              </a:rPr>
              <a:t>Mức nhân (one-to-one)</a:t>
            </a:r>
            <a:endParaRPr sz="1600" b="1">
              <a:solidFill>
                <a:srgbClr val="BB2019"/>
              </a:solidFill>
              <a:latin typeface="Open Sans"/>
              <a:ea typeface="Open Sans"/>
              <a:cs typeface="Open Sans"/>
            </a:endParaRPr>
          </a:p>
        </p:txBody>
      </p:sp>
      <p:sp>
        <p:nvSpPr>
          <p:cNvPr id="19" name="Rectangle 18"/>
          <p:cNvSpPr/>
          <p:nvPr/>
        </p:nvSpPr>
        <p:spPr>
          <a:xfrm>
            <a:off x="4480560" y="1783080"/>
            <a:ext cx="548640" cy="411480"/>
          </a:xfrm>
          <a:prstGeom prst="rect">
            <a:avLst/>
          </a:prstGeom>
          <a:solidFill>
            <a:srgbClr val="FDECEB"/>
          </a:solidFill>
          <a:ln w="12700">
            <a:solidFill>
              <a:srgbClr val="BB2019"/>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200" b="1">
                <a:solidFill>
                  <a:srgbClr val="BB2019"/>
                </a:solidFill>
                <a:latin typeface="Open Sans"/>
                <a:ea typeface="Open Sans"/>
                <a:cs typeface="Open Sans"/>
              </a:rPr>
              <a:t>U1</a:t>
            </a:r>
            <a:endParaRPr sz="1200" b="1">
              <a:solidFill>
                <a:srgbClr val="BB2019"/>
              </a:solidFill>
              <a:latin typeface="Open Sans"/>
              <a:ea typeface="Open Sans"/>
              <a:cs typeface="Open Sans"/>
            </a:endParaRPr>
          </a:p>
        </p:txBody>
      </p:sp>
      <p:sp>
        <p:nvSpPr>
          <p:cNvPr id="20" name="Rectangle 19"/>
          <p:cNvSpPr/>
          <p:nvPr/>
        </p:nvSpPr>
        <p:spPr>
          <a:xfrm>
            <a:off x="5829300" y="1783080"/>
            <a:ext cx="548640" cy="411480"/>
          </a:xfrm>
          <a:prstGeom prst="rect">
            <a:avLst/>
          </a:prstGeom>
          <a:solidFill>
            <a:srgbClr val="FDECEB"/>
          </a:solidFill>
          <a:ln w="12700">
            <a:solidFill>
              <a:srgbClr val="BB2019"/>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200" b="1">
                <a:solidFill>
                  <a:srgbClr val="BB2019"/>
                </a:solidFill>
                <a:latin typeface="Open Sans"/>
                <a:ea typeface="Open Sans"/>
                <a:cs typeface="Open Sans"/>
              </a:rPr>
              <a:t>U2</a:t>
            </a:r>
            <a:endParaRPr sz="1200" b="1">
              <a:solidFill>
                <a:srgbClr val="BB2019"/>
              </a:solidFill>
              <a:latin typeface="Open Sans"/>
              <a:ea typeface="Open Sans"/>
              <a:cs typeface="Open Sans"/>
            </a:endParaRPr>
          </a:p>
        </p:txBody>
      </p:sp>
      <p:sp>
        <p:nvSpPr>
          <p:cNvPr id="21" name="Rectangle 20"/>
          <p:cNvSpPr/>
          <p:nvPr/>
        </p:nvSpPr>
        <p:spPr>
          <a:xfrm>
            <a:off x="7178040" y="1783080"/>
            <a:ext cx="548640" cy="411480"/>
          </a:xfrm>
          <a:prstGeom prst="rect">
            <a:avLst/>
          </a:prstGeom>
          <a:solidFill>
            <a:srgbClr val="FDECEB"/>
          </a:solidFill>
          <a:ln w="12700">
            <a:solidFill>
              <a:srgbClr val="BB2019"/>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200" b="1">
                <a:solidFill>
                  <a:srgbClr val="BB2019"/>
                </a:solidFill>
                <a:latin typeface="Open Sans"/>
                <a:ea typeface="Open Sans"/>
                <a:cs typeface="Open Sans"/>
              </a:rPr>
              <a:t>U3</a:t>
            </a:r>
            <a:endParaRPr sz="1200" b="1">
              <a:solidFill>
                <a:srgbClr val="BB2019"/>
              </a:solidFill>
              <a:latin typeface="Open Sans"/>
              <a:ea typeface="Open Sans"/>
              <a:cs typeface="Open Sans"/>
            </a:endParaRPr>
          </a:p>
        </p:txBody>
      </p:sp>
      <p:sp>
        <p:nvSpPr>
          <p:cNvPr id="22" name="Rectangle 21"/>
          <p:cNvSpPr/>
          <p:nvPr/>
        </p:nvSpPr>
        <p:spPr>
          <a:xfrm>
            <a:off x="4480560" y="2788920"/>
            <a:ext cx="548640" cy="411480"/>
          </a:xfrm>
          <a:prstGeom prst="rect">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200" b="1">
                <a:solidFill>
                  <a:srgbClr val="FFFFFF"/>
                </a:solidFill>
                <a:latin typeface="Open Sans"/>
                <a:ea typeface="Open Sans"/>
                <a:cs typeface="Open Sans"/>
              </a:rPr>
              <a:t>K1</a:t>
            </a:r>
            <a:endParaRPr sz="1200" b="1">
              <a:solidFill>
                <a:srgbClr val="FFFFFF"/>
              </a:solidFill>
              <a:latin typeface="Open Sans"/>
              <a:ea typeface="Open Sans"/>
              <a:cs typeface="Open Sans"/>
            </a:endParaRPr>
          </a:p>
        </p:txBody>
      </p:sp>
      <p:sp>
        <p:nvSpPr>
          <p:cNvPr id="23" name="Rectangle 22"/>
          <p:cNvSpPr/>
          <p:nvPr/>
        </p:nvSpPr>
        <p:spPr>
          <a:xfrm>
            <a:off x="5829300" y="2788920"/>
            <a:ext cx="548640" cy="411480"/>
          </a:xfrm>
          <a:prstGeom prst="rect">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200" b="1">
                <a:solidFill>
                  <a:srgbClr val="FFFFFF"/>
                </a:solidFill>
                <a:latin typeface="Open Sans"/>
                <a:ea typeface="Open Sans"/>
                <a:cs typeface="Open Sans"/>
              </a:rPr>
              <a:t>K2</a:t>
            </a:r>
            <a:endParaRPr sz="1200" b="1">
              <a:solidFill>
                <a:srgbClr val="FFFFFF"/>
              </a:solidFill>
              <a:latin typeface="Open Sans"/>
              <a:ea typeface="Open Sans"/>
              <a:cs typeface="Open Sans"/>
            </a:endParaRPr>
          </a:p>
        </p:txBody>
      </p:sp>
      <p:sp>
        <p:nvSpPr>
          <p:cNvPr id="24" name="Rectangle 23"/>
          <p:cNvSpPr/>
          <p:nvPr/>
        </p:nvSpPr>
        <p:spPr>
          <a:xfrm>
            <a:off x="7178040" y="2788920"/>
            <a:ext cx="548640" cy="411480"/>
          </a:xfrm>
          <a:prstGeom prst="rect">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200" b="1">
                <a:solidFill>
                  <a:srgbClr val="FFFFFF"/>
                </a:solidFill>
                <a:latin typeface="Open Sans"/>
                <a:ea typeface="Open Sans"/>
                <a:cs typeface="Open Sans"/>
              </a:rPr>
              <a:t>K3</a:t>
            </a:r>
            <a:endParaRPr sz="1200" b="1">
              <a:solidFill>
                <a:srgbClr val="FFFFFF"/>
              </a:solidFill>
              <a:latin typeface="Open Sans"/>
              <a:ea typeface="Open Sans"/>
              <a:cs typeface="Open Sans"/>
            </a:endParaRPr>
          </a:p>
        </p:txBody>
      </p:sp>
      <p:cxnSp>
        <p:nvCxnSpPr>
          <p:cNvPr id="25" name="Connector 24"/>
          <p:cNvCxnSpPr/>
          <p:nvPr/>
        </p:nvCxnSpPr>
        <p:spPr>
          <a:xfrm>
            <a:off x="4754880" y="2212848"/>
            <a:ext cx="0" cy="557784"/>
          </a:xfrm>
          <a:prstGeom prst="line">
            <a:avLst/>
          </a:prstGeom>
          <a:ln w="15875">
            <a:solidFill>
              <a:srgbClr val="BFB3B1"/>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6103620" y="2212848"/>
            <a:ext cx="0" cy="557784"/>
          </a:xfrm>
          <a:prstGeom prst="line">
            <a:avLst/>
          </a:prstGeom>
          <a:ln w="15875">
            <a:solidFill>
              <a:srgbClr val="BFB3B1"/>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452360" y="2212848"/>
            <a:ext cx="0" cy="557784"/>
          </a:xfrm>
          <a:prstGeom prst="line">
            <a:avLst/>
          </a:prstGeom>
          <a:ln w="15875">
            <a:solidFill>
              <a:srgbClr val="BFB3B1"/>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297680" y="3310128"/>
            <a:ext cx="3611880" cy="320040"/>
          </a:xfrm>
          <a:prstGeom prst="rect">
            <a:avLst/>
          </a:prstGeom>
          <a:noFill/>
        </p:spPr>
        <p:txBody>
          <a:bodyPr wrap="square" lIns="36576" tIns="36576" rIns="36576" bIns="36576" anchor="t">
            <a:spAutoFit/>
          </a:bodyPr>
          <a:lstStyle/>
          <a:p>
            <a:pPr algn="ctr">
              <a:spcAft>
                <a:spcPts val="400"/>
              </a:spcAft>
            </a:pPr>
            <a:r>
              <a:rPr sz="1200">
                <a:solidFill>
                  <a:srgbClr val="6B5F5D"/>
                </a:solidFill>
                <a:latin typeface="Open Sans"/>
                <a:ea typeface="Open Sans"/>
                <a:cs typeface="Open Sans"/>
              </a:rPr>
              <a:t>Mỗi luồng là một thực thể được lập lịch</a:t>
            </a:r>
            <a:endParaRPr sz="1200">
              <a:solidFill>
                <a:srgbClr val="6B5F5D"/>
              </a:solidFill>
              <a:latin typeface="Open Sans"/>
              <a:ea typeface="Open Sans"/>
              <a:cs typeface="Open Sans"/>
            </a:endParaRPr>
          </a:p>
        </p:txBody>
      </p:sp>
      <p:sp>
        <p:nvSpPr>
          <p:cNvPr id="29" name="TextBox 28"/>
          <p:cNvSpPr txBox="1"/>
          <p:nvPr/>
        </p:nvSpPr>
        <p:spPr>
          <a:xfrm>
            <a:off x="8138160" y="1261872"/>
            <a:ext cx="3611880" cy="411480"/>
          </a:xfrm>
          <a:prstGeom prst="rect">
            <a:avLst/>
          </a:prstGeom>
          <a:noFill/>
        </p:spPr>
        <p:txBody>
          <a:bodyPr wrap="square" lIns="36576" tIns="36576" rIns="36576" bIns="36576" anchor="t">
            <a:spAutoFit/>
          </a:bodyPr>
          <a:lstStyle/>
          <a:p>
            <a:pPr algn="ctr">
              <a:spcAft>
                <a:spcPts val="400"/>
              </a:spcAft>
            </a:pPr>
            <a:r>
              <a:rPr sz="1600" b="1">
                <a:solidFill>
                  <a:srgbClr val="BB2019"/>
                </a:solidFill>
                <a:latin typeface="Open Sans"/>
                <a:ea typeface="Open Sans"/>
                <a:cs typeface="Open Sans"/>
              </a:rPr>
              <a:t>Lai (many-to-many)</a:t>
            </a:r>
            <a:endParaRPr sz="1600" b="1">
              <a:solidFill>
                <a:srgbClr val="BB2019"/>
              </a:solidFill>
              <a:latin typeface="Open Sans"/>
              <a:ea typeface="Open Sans"/>
              <a:cs typeface="Open Sans"/>
            </a:endParaRPr>
          </a:p>
        </p:txBody>
      </p:sp>
      <p:sp>
        <p:nvSpPr>
          <p:cNvPr id="30" name="Rectangle 29"/>
          <p:cNvSpPr/>
          <p:nvPr/>
        </p:nvSpPr>
        <p:spPr>
          <a:xfrm>
            <a:off x="8321040" y="1783080"/>
            <a:ext cx="548640" cy="411480"/>
          </a:xfrm>
          <a:prstGeom prst="rect">
            <a:avLst/>
          </a:prstGeom>
          <a:solidFill>
            <a:srgbClr val="FDECEB"/>
          </a:solidFill>
          <a:ln w="12700">
            <a:solidFill>
              <a:srgbClr val="BB2019"/>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200" b="1">
                <a:solidFill>
                  <a:srgbClr val="BB2019"/>
                </a:solidFill>
                <a:latin typeface="Open Sans"/>
                <a:ea typeface="Open Sans"/>
                <a:cs typeface="Open Sans"/>
              </a:rPr>
              <a:t>U1</a:t>
            </a:r>
            <a:endParaRPr sz="1200" b="1">
              <a:solidFill>
                <a:srgbClr val="BB2019"/>
              </a:solidFill>
              <a:latin typeface="Open Sans"/>
              <a:ea typeface="Open Sans"/>
              <a:cs typeface="Open Sans"/>
            </a:endParaRPr>
          </a:p>
        </p:txBody>
      </p:sp>
      <p:sp>
        <p:nvSpPr>
          <p:cNvPr id="31" name="Rectangle 30"/>
          <p:cNvSpPr/>
          <p:nvPr/>
        </p:nvSpPr>
        <p:spPr>
          <a:xfrm>
            <a:off x="9220199" y="1783080"/>
            <a:ext cx="548640" cy="411480"/>
          </a:xfrm>
          <a:prstGeom prst="rect">
            <a:avLst/>
          </a:prstGeom>
          <a:solidFill>
            <a:srgbClr val="FDECEB"/>
          </a:solidFill>
          <a:ln w="12700">
            <a:solidFill>
              <a:srgbClr val="BB2019"/>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200" b="1">
                <a:solidFill>
                  <a:srgbClr val="BB2019"/>
                </a:solidFill>
                <a:latin typeface="Open Sans"/>
                <a:ea typeface="Open Sans"/>
                <a:cs typeface="Open Sans"/>
              </a:rPr>
              <a:t>U2</a:t>
            </a:r>
            <a:endParaRPr sz="1200" b="1">
              <a:solidFill>
                <a:srgbClr val="BB2019"/>
              </a:solidFill>
              <a:latin typeface="Open Sans"/>
              <a:ea typeface="Open Sans"/>
              <a:cs typeface="Open Sans"/>
            </a:endParaRPr>
          </a:p>
        </p:txBody>
      </p:sp>
      <p:sp>
        <p:nvSpPr>
          <p:cNvPr id="32" name="Rectangle 31"/>
          <p:cNvSpPr/>
          <p:nvPr/>
        </p:nvSpPr>
        <p:spPr>
          <a:xfrm>
            <a:off x="10119360" y="1783080"/>
            <a:ext cx="548640" cy="411480"/>
          </a:xfrm>
          <a:prstGeom prst="rect">
            <a:avLst/>
          </a:prstGeom>
          <a:solidFill>
            <a:srgbClr val="FDECEB"/>
          </a:solidFill>
          <a:ln w="12700">
            <a:solidFill>
              <a:srgbClr val="BB2019"/>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200" b="1">
                <a:solidFill>
                  <a:srgbClr val="BB2019"/>
                </a:solidFill>
                <a:latin typeface="Open Sans"/>
                <a:ea typeface="Open Sans"/>
                <a:cs typeface="Open Sans"/>
              </a:rPr>
              <a:t>U3</a:t>
            </a:r>
            <a:endParaRPr sz="1200" b="1">
              <a:solidFill>
                <a:srgbClr val="BB2019"/>
              </a:solidFill>
              <a:latin typeface="Open Sans"/>
              <a:ea typeface="Open Sans"/>
              <a:cs typeface="Open Sans"/>
            </a:endParaRPr>
          </a:p>
        </p:txBody>
      </p:sp>
      <p:sp>
        <p:nvSpPr>
          <p:cNvPr id="33" name="Rectangle 32"/>
          <p:cNvSpPr/>
          <p:nvPr/>
        </p:nvSpPr>
        <p:spPr>
          <a:xfrm>
            <a:off x="11018519" y="1783080"/>
            <a:ext cx="548640" cy="411480"/>
          </a:xfrm>
          <a:prstGeom prst="rect">
            <a:avLst/>
          </a:prstGeom>
          <a:solidFill>
            <a:srgbClr val="FDECEB"/>
          </a:solidFill>
          <a:ln w="12700">
            <a:solidFill>
              <a:srgbClr val="BB2019"/>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200" b="1">
                <a:solidFill>
                  <a:srgbClr val="BB2019"/>
                </a:solidFill>
                <a:latin typeface="Open Sans"/>
                <a:ea typeface="Open Sans"/>
                <a:cs typeface="Open Sans"/>
              </a:rPr>
              <a:t>U4</a:t>
            </a:r>
            <a:endParaRPr sz="1200" b="1">
              <a:solidFill>
                <a:srgbClr val="BB2019"/>
              </a:solidFill>
              <a:latin typeface="Open Sans"/>
              <a:ea typeface="Open Sans"/>
              <a:cs typeface="Open Sans"/>
            </a:endParaRPr>
          </a:p>
        </p:txBody>
      </p:sp>
      <p:sp>
        <p:nvSpPr>
          <p:cNvPr id="34" name="Rectangle 33"/>
          <p:cNvSpPr/>
          <p:nvPr/>
        </p:nvSpPr>
        <p:spPr>
          <a:xfrm>
            <a:off x="8321040" y="2788920"/>
            <a:ext cx="548640" cy="411480"/>
          </a:xfrm>
          <a:prstGeom prst="rect">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200" b="1">
                <a:solidFill>
                  <a:srgbClr val="FFFFFF"/>
                </a:solidFill>
                <a:latin typeface="Open Sans"/>
                <a:ea typeface="Open Sans"/>
                <a:cs typeface="Open Sans"/>
              </a:rPr>
              <a:t>K1</a:t>
            </a:r>
            <a:endParaRPr sz="1200" b="1">
              <a:solidFill>
                <a:srgbClr val="FFFFFF"/>
              </a:solidFill>
              <a:latin typeface="Open Sans"/>
              <a:ea typeface="Open Sans"/>
              <a:cs typeface="Open Sans"/>
            </a:endParaRPr>
          </a:p>
        </p:txBody>
      </p:sp>
      <p:sp>
        <p:nvSpPr>
          <p:cNvPr id="35" name="Rectangle 34"/>
          <p:cNvSpPr/>
          <p:nvPr/>
        </p:nvSpPr>
        <p:spPr>
          <a:xfrm>
            <a:off x="11018519" y="2788920"/>
            <a:ext cx="548640" cy="411480"/>
          </a:xfrm>
          <a:prstGeom prst="rect">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200" b="1">
                <a:solidFill>
                  <a:srgbClr val="FFFFFF"/>
                </a:solidFill>
                <a:latin typeface="Open Sans"/>
                <a:ea typeface="Open Sans"/>
                <a:cs typeface="Open Sans"/>
              </a:rPr>
              <a:t>K2</a:t>
            </a:r>
            <a:endParaRPr sz="1200" b="1">
              <a:solidFill>
                <a:srgbClr val="FFFFFF"/>
              </a:solidFill>
              <a:latin typeface="Open Sans"/>
              <a:ea typeface="Open Sans"/>
              <a:cs typeface="Open Sans"/>
            </a:endParaRPr>
          </a:p>
        </p:txBody>
      </p:sp>
      <p:cxnSp>
        <p:nvCxnSpPr>
          <p:cNvPr id="36" name="Connector 35"/>
          <p:cNvCxnSpPr/>
          <p:nvPr/>
        </p:nvCxnSpPr>
        <p:spPr>
          <a:xfrm>
            <a:off x="8595360" y="2212848"/>
            <a:ext cx="0" cy="557784"/>
          </a:xfrm>
          <a:prstGeom prst="line">
            <a:avLst/>
          </a:prstGeom>
          <a:ln w="15875">
            <a:solidFill>
              <a:srgbClr val="BFB3B1"/>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8595360" y="2212848"/>
            <a:ext cx="899160" cy="557784"/>
          </a:xfrm>
          <a:prstGeom prst="line">
            <a:avLst/>
          </a:prstGeom>
          <a:ln w="15875">
            <a:solidFill>
              <a:srgbClr val="BFB3B1"/>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0393680" y="2212848"/>
            <a:ext cx="899160" cy="557784"/>
          </a:xfrm>
          <a:prstGeom prst="line">
            <a:avLst/>
          </a:prstGeom>
          <a:ln w="15875">
            <a:solidFill>
              <a:srgbClr val="BFB3B1"/>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11292840" y="2212848"/>
            <a:ext cx="0" cy="557784"/>
          </a:xfrm>
          <a:prstGeom prst="line">
            <a:avLst/>
          </a:prstGeom>
          <a:ln w="15875">
            <a:solidFill>
              <a:srgbClr val="BFB3B1"/>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9494520" y="2212848"/>
            <a:ext cx="1798320" cy="557784"/>
          </a:xfrm>
          <a:prstGeom prst="line">
            <a:avLst/>
          </a:prstGeom>
          <a:ln w="15875">
            <a:solidFill>
              <a:srgbClr val="BFB3B1"/>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a:off x="8595360" y="2212848"/>
            <a:ext cx="1798320" cy="557784"/>
          </a:xfrm>
          <a:prstGeom prst="line">
            <a:avLst/>
          </a:prstGeom>
          <a:ln w="15875">
            <a:solidFill>
              <a:srgbClr val="BFB3B1"/>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8138160" y="3310128"/>
            <a:ext cx="3611880" cy="320040"/>
          </a:xfrm>
          <a:prstGeom prst="rect">
            <a:avLst/>
          </a:prstGeom>
          <a:noFill/>
        </p:spPr>
        <p:txBody>
          <a:bodyPr wrap="square" lIns="36576" tIns="36576" rIns="36576" bIns="36576" anchor="t">
            <a:spAutoFit/>
          </a:bodyPr>
          <a:lstStyle/>
          <a:p>
            <a:pPr algn="ctr">
              <a:spcAft>
                <a:spcPts val="400"/>
              </a:spcAft>
            </a:pPr>
            <a:r>
              <a:rPr sz="1200">
                <a:solidFill>
                  <a:srgbClr val="6B5F5D"/>
                </a:solidFill>
                <a:latin typeface="Open Sans"/>
                <a:ea typeface="Open Sans"/>
                <a:cs typeface="Open Sans"/>
              </a:rPr>
              <a:t>Gói luồng user chạy trên nhiều luồng nhân</a:t>
            </a:r>
            <a:endParaRPr sz="1200">
              <a:solidFill>
                <a:srgbClr val="6B5F5D"/>
              </a:solidFill>
              <a:latin typeface="Open Sans"/>
              <a:ea typeface="Open Sans"/>
              <a:cs typeface="Open Sans"/>
            </a:endParaRPr>
          </a:p>
        </p:txBody>
      </p:sp>
      <p:graphicFrame>
        <p:nvGraphicFramePr>
          <p:cNvPr id="43" name="Table 42"/>
          <p:cNvGraphicFramePr>
            <a:graphicFrameLocks noGrp="1"/>
          </p:cNvGraphicFramePr>
          <p:nvPr/>
        </p:nvGraphicFramePr>
        <p:xfrm>
          <a:off x="457200" y="3794760"/>
          <a:ext cx="11292840" cy="2286000"/>
        </p:xfrm>
        <a:graphic>
          <a:graphicData uri="http://schemas.openxmlformats.org/drawingml/2006/table">
            <a:tbl>
              <a:tblPr firstRow="1" bandRow="1">
                <a:tableStyleId>{C083E6E3-FA7D-4D7B-A595-EF9225AFEA82}</a:tableStyleId>
              </a:tblPr>
              <a:tblGrid>
                <a:gridCol w="2103120"/>
                <a:gridCol w="3017520"/>
                <a:gridCol w="3017520"/>
                <a:gridCol w="3154680"/>
              </a:tblGrid>
              <a:tr h="457200">
                <a:tc>
                  <a:txBody>
                    <a:bodyPr wrap="square"/>
                    <a:lstStyle/>
                    <a:p>
                      <a:endParaRPr sz="1300" b="1">
                        <a:solidFill>
                          <a:srgbClr val="BB2019"/>
                        </a:solidFill>
                        <a:latin typeface="Open Sans"/>
                        <a:ea typeface="Open Sans"/>
                        <a:cs typeface="Open Sans"/>
                      </a:endParaRPr>
                    </a:p>
                  </a:txBody>
                  <a:tcPr marL="73152" marR="73152" marT="27432" marB="27432" anchor="ctr"/>
                </a:tc>
                <a:tc>
                  <a:txBody>
                    <a:bodyPr wrap="square"/>
                    <a:lstStyle/>
                    <a:p>
                      <a:r>
                        <a:rPr sz="1300" b="1">
                          <a:solidFill>
                            <a:srgbClr val="BB2019"/>
                          </a:solidFill>
                          <a:latin typeface="Open Sans"/>
                          <a:ea typeface="Open Sans"/>
                          <a:cs typeface="Open Sans"/>
                        </a:rPr>
                        <a:t>Mức người dùng</a:t>
                      </a:r>
                      <a:endParaRPr sz="1300" b="1">
                        <a:solidFill>
                          <a:srgbClr val="BB2019"/>
                        </a:solidFill>
                        <a:latin typeface="Open Sans"/>
                        <a:ea typeface="Open Sans"/>
                        <a:cs typeface="Open Sans"/>
                      </a:endParaRPr>
                    </a:p>
                  </a:txBody>
                  <a:tcPr marL="73152" marR="73152" marT="27432" marB="27432" anchor="ctr"/>
                </a:tc>
                <a:tc>
                  <a:txBody>
                    <a:bodyPr wrap="square"/>
                    <a:lstStyle/>
                    <a:p>
                      <a:r>
                        <a:rPr sz="1300" b="1">
                          <a:solidFill>
                            <a:srgbClr val="BB2019"/>
                          </a:solidFill>
                          <a:latin typeface="Open Sans"/>
                          <a:ea typeface="Open Sans"/>
                          <a:cs typeface="Open Sans"/>
                        </a:rPr>
                        <a:t>Mức nhân</a:t>
                      </a:r>
                      <a:endParaRPr sz="1300" b="1">
                        <a:solidFill>
                          <a:srgbClr val="BB2019"/>
                        </a:solidFill>
                        <a:latin typeface="Open Sans"/>
                        <a:ea typeface="Open Sans"/>
                        <a:cs typeface="Open Sans"/>
                      </a:endParaRPr>
                    </a:p>
                  </a:txBody>
                  <a:tcPr marL="73152" marR="73152" marT="27432" marB="27432" anchor="ctr"/>
                </a:tc>
                <a:tc>
                  <a:txBody>
                    <a:bodyPr wrap="square"/>
                    <a:lstStyle/>
                    <a:p>
                      <a:r>
                        <a:rPr sz="1300" b="1">
                          <a:solidFill>
                            <a:srgbClr val="BB2019"/>
                          </a:solidFill>
                          <a:latin typeface="Open Sans"/>
                          <a:ea typeface="Open Sans"/>
                          <a:cs typeface="Open Sans"/>
                        </a:rPr>
                        <a:t>Many-to-many</a:t>
                      </a:r>
                      <a:endParaRPr sz="1300" b="1">
                        <a:solidFill>
                          <a:srgbClr val="BB2019"/>
                        </a:solidFill>
                        <a:latin typeface="Open Sans"/>
                        <a:ea typeface="Open Sans"/>
                        <a:cs typeface="Open Sans"/>
                      </a:endParaRPr>
                    </a:p>
                  </a:txBody>
                  <a:tcPr marL="73152" marR="73152" marT="27432" marB="27432" anchor="ctr"/>
                </a:tc>
              </a:tr>
              <a:tr h="457200">
                <a:tc>
                  <a:txBody>
                    <a:bodyPr wrap="square"/>
                    <a:lstStyle/>
                    <a:p>
                      <a:r>
                        <a:rPr sz="1300" b="1">
                          <a:solidFill>
                            <a:srgbClr val="262626"/>
                          </a:solidFill>
                          <a:latin typeface="Open Sans"/>
                          <a:ea typeface="Open Sans"/>
                          <a:cs typeface="Open Sans"/>
                        </a:rPr>
                        <a:t>Tạo / huỷ / đồng bộ</a:t>
                      </a:r>
                      <a:endParaRPr sz="1300" b="1">
                        <a:solidFill>
                          <a:srgbClr val="262626"/>
                        </a:solidFill>
                        <a:latin typeface="Open Sans"/>
                        <a:ea typeface="Open Sans"/>
                        <a:cs typeface="Open Sans"/>
                      </a:endParaRPr>
                    </a:p>
                  </a:txBody>
                  <a:tcPr marL="73152" marR="73152" marT="27432" marB="27432" anchor="ctr"/>
                </a:tc>
                <a:tc>
                  <a:txBody>
                    <a:bodyPr wrap="square"/>
                    <a:lstStyle/>
                    <a:p>
                      <a:r>
                        <a:rPr sz="1300" b="0">
                          <a:solidFill>
                            <a:srgbClr val="262626"/>
                          </a:solidFill>
                          <a:latin typeface="Open Sans"/>
                          <a:ea typeface="Open Sans"/>
                          <a:cs typeface="Open Sans"/>
                        </a:rPr>
                        <a:t>Rất rẻ, không cần kernel</a:t>
                      </a:r>
                      <a:endParaRPr sz="1300" b="0">
                        <a:solidFill>
                          <a:srgbClr val="262626"/>
                        </a:solidFill>
                        <a:latin typeface="Open Sans"/>
                        <a:ea typeface="Open Sans"/>
                        <a:cs typeface="Open Sans"/>
                      </a:endParaRPr>
                    </a:p>
                  </a:txBody>
                  <a:tcPr marL="73152" marR="73152" marT="27432" marB="27432" anchor="ctr"/>
                </a:tc>
                <a:tc>
                  <a:txBody>
                    <a:bodyPr wrap="square"/>
                    <a:lstStyle/>
                    <a:p>
                      <a:r>
                        <a:rPr sz="1300" b="0">
                          <a:solidFill>
                            <a:srgbClr val="262626"/>
                          </a:solidFill>
                          <a:latin typeface="Open Sans"/>
                          <a:ea typeface="Open Sans"/>
                          <a:cs typeface="Open Sans"/>
                        </a:rPr>
                        <a:t>Cần system call</a:t>
                      </a:r>
                      <a:endParaRPr sz="1300" b="0">
                        <a:solidFill>
                          <a:srgbClr val="262626"/>
                        </a:solidFill>
                        <a:latin typeface="Open Sans"/>
                        <a:ea typeface="Open Sans"/>
                        <a:cs typeface="Open Sans"/>
                      </a:endParaRPr>
                    </a:p>
                  </a:txBody>
                  <a:tcPr marL="73152" marR="73152" marT="27432" marB="27432" anchor="ctr"/>
                </a:tc>
                <a:tc>
                  <a:txBody>
                    <a:bodyPr wrap="square"/>
                    <a:lstStyle/>
                    <a:p>
                      <a:r>
                        <a:rPr sz="1300" b="0">
                          <a:solidFill>
                            <a:srgbClr val="262626"/>
                          </a:solidFill>
                          <a:latin typeface="Open Sans"/>
                          <a:ea typeface="Open Sans"/>
                          <a:cs typeface="Open Sans"/>
                        </a:rPr>
                        <a:t>Rẻ, ở user space</a:t>
                      </a:r>
                      <a:endParaRPr sz="1300" b="0">
                        <a:solidFill>
                          <a:srgbClr val="262626"/>
                        </a:solidFill>
                        <a:latin typeface="Open Sans"/>
                        <a:ea typeface="Open Sans"/>
                        <a:cs typeface="Open Sans"/>
                      </a:endParaRPr>
                    </a:p>
                  </a:txBody>
                  <a:tcPr marL="73152" marR="73152" marT="27432" marB="27432" anchor="ctr"/>
                </a:tc>
              </a:tr>
              <a:tr h="457200">
                <a:tc>
                  <a:txBody>
                    <a:bodyPr wrap="square"/>
                    <a:lstStyle/>
                    <a:p>
                      <a:r>
                        <a:rPr sz="1300" b="1">
                          <a:solidFill>
                            <a:srgbClr val="262626"/>
                          </a:solidFill>
                          <a:latin typeface="Open Sans"/>
                          <a:ea typeface="Open Sans"/>
                          <a:cs typeface="Open Sans"/>
                        </a:rPr>
                        <a:t>Lời gọi chặn</a:t>
                      </a:r>
                      <a:endParaRPr sz="1300" b="1">
                        <a:solidFill>
                          <a:srgbClr val="262626"/>
                        </a:solidFill>
                        <a:latin typeface="Open Sans"/>
                        <a:ea typeface="Open Sans"/>
                        <a:cs typeface="Open Sans"/>
                      </a:endParaRPr>
                    </a:p>
                  </a:txBody>
                  <a:tcPr marL="73152" marR="73152" marT="27432" marB="27432" anchor="ctr"/>
                </a:tc>
                <a:tc>
                  <a:txBody>
                    <a:bodyPr wrap="square"/>
                    <a:lstStyle/>
                    <a:p>
                      <a:r>
                        <a:rPr sz="1300" b="0">
                          <a:solidFill>
                            <a:srgbClr val="262626"/>
                          </a:solidFill>
                          <a:latin typeface="Open Sans"/>
                          <a:ea typeface="Open Sans"/>
                          <a:cs typeface="Open Sans"/>
                        </a:rPr>
                        <a:t>Chặn cả tiến trình</a:t>
                      </a:r>
                      <a:endParaRPr sz="1300" b="0">
                        <a:solidFill>
                          <a:srgbClr val="262626"/>
                        </a:solidFill>
                        <a:latin typeface="Open Sans"/>
                        <a:ea typeface="Open Sans"/>
                        <a:cs typeface="Open Sans"/>
                      </a:endParaRPr>
                    </a:p>
                  </a:txBody>
                  <a:tcPr marL="73152" marR="73152" marT="27432" marB="27432" anchor="ctr"/>
                </a:tc>
                <a:tc>
                  <a:txBody>
                    <a:bodyPr wrap="square"/>
                    <a:lstStyle/>
                    <a:p>
                      <a:r>
                        <a:rPr sz="1300" b="0">
                          <a:solidFill>
                            <a:srgbClr val="262626"/>
                          </a:solidFill>
                          <a:latin typeface="Open Sans"/>
                          <a:ea typeface="Open Sans"/>
                          <a:cs typeface="Open Sans"/>
                        </a:rPr>
                        <a:t>Chỉ chặn luồng gọi</a:t>
                      </a:r>
                      <a:endParaRPr sz="1300" b="0">
                        <a:solidFill>
                          <a:srgbClr val="262626"/>
                        </a:solidFill>
                        <a:latin typeface="Open Sans"/>
                        <a:ea typeface="Open Sans"/>
                        <a:cs typeface="Open Sans"/>
                      </a:endParaRPr>
                    </a:p>
                  </a:txBody>
                  <a:tcPr marL="73152" marR="73152" marT="27432" marB="27432" anchor="ctr"/>
                </a:tc>
                <a:tc>
                  <a:txBody>
                    <a:bodyPr wrap="square"/>
                    <a:lstStyle/>
                    <a:p>
                      <a:r>
                        <a:rPr sz="1300" b="0">
                          <a:solidFill>
                            <a:srgbClr val="262626"/>
                          </a:solidFill>
                          <a:latin typeface="Open Sans"/>
                          <a:ea typeface="Open Sans"/>
                          <a:cs typeface="Open Sans"/>
                        </a:rPr>
                        <a:t>Không chặn cả tiến trình nếu đủ luồng nhân</a:t>
                      </a:r>
                      <a:endParaRPr sz="1300" b="0">
                        <a:solidFill>
                          <a:srgbClr val="262626"/>
                        </a:solidFill>
                        <a:latin typeface="Open Sans"/>
                        <a:ea typeface="Open Sans"/>
                        <a:cs typeface="Open Sans"/>
                      </a:endParaRPr>
                    </a:p>
                  </a:txBody>
                  <a:tcPr marL="73152" marR="73152" marT="27432" marB="27432" anchor="ctr"/>
                </a:tc>
              </a:tr>
              <a:tr h="457200">
                <a:tc>
                  <a:txBody>
                    <a:bodyPr wrap="square"/>
                    <a:lstStyle/>
                    <a:p>
                      <a:r>
                        <a:rPr sz="1300" b="1">
                          <a:solidFill>
                            <a:srgbClr val="262626"/>
                          </a:solidFill>
                          <a:latin typeface="Open Sans"/>
                          <a:ea typeface="Open Sans"/>
                          <a:cs typeface="Open Sans"/>
                        </a:rPr>
                        <a:t>Đa lõi</a:t>
                      </a:r>
                      <a:endParaRPr sz="1300" b="1">
                        <a:solidFill>
                          <a:srgbClr val="262626"/>
                        </a:solidFill>
                        <a:latin typeface="Open Sans"/>
                        <a:ea typeface="Open Sans"/>
                        <a:cs typeface="Open Sans"/>
                      </a:endParaRPr>
                    </a:p>
                  </a:txBody>
                  <a:tcPr marL="73152" marR="73152" marT="27432" marB="27432" anchor="ctr"/>
                </a:tc>
                <a:tc>
                  <a:txBody>
                    <a:bodyPr wrap="square"/>
                    <a:lstStyle/>
                    <a:p>
                      <a:r>
                        <a:rPr sz="1300" b="0">
                          <a:solidFill>
                            <a:srgbClr val="262626"/>
                          </a:solidFill>
                          <a:latin typeface="Open Sans"/>
                          <a:ea typeface="Open Sans"/>
                          <a:cs typeface="Open Sans"/>
                        </a:rPr>
                        <a:t>Không tận dụng được</a:t>
                      </a:r>
                      <a:endParaRPr sz="1300" b="0">
                        <a:solidFill>
                          <a:srgbClr val="262626"/>
                        </a:solidFill>
                        <a:latin typeface="Open Sans"/>
                        <a:ea typeface="Open Sans"/>
                        <a:cs typeface="Open Sans"/>
                      </a:endParaRPr>
                    </a:p>
                  </a:txBody>
                  <a:tcPr marL="73152" marR="73152" marT="27432" marB="27432" anchor="ctr"/>
                </a:tc>
                <a:tc>
                  <a:txBody>
                    <a:bodyPr wrap="square"/>
                    <a:lstStyle/>
                    <a:p>
                      <a:r>
                        <a:rPr sz="1300" b="0">
                          <a:solidFill>
                            <a:srgbClr val="262626"/>
                          </a:solidFill>
                          <a:latin typeface="Open Sans"/>
                          <a:ea typeface="Open Sans"/>
                          <a:cs typeface="Open Sans"/>
                        </a:rPr>
                        <a:t>Tận dụng được</a:t>
                      </a:r>
                      <a:endParaRPr sz="1300" b="0">
                        <a:solidFill>
                          <a:srgbClr val="262626"/>
                        </a:solidFill>
                        <a:latin typeface="Open Sans"/>
                        <a:ea typeface="Open Sans"/>
                        <a:cs typeface="Open Sans"/>
                      </a:endParaRPr>
                    </a:p>
                  </a:txBody>
                  <a:tcPr marL="73152" marR="73152" marT="27432" marB="27432" anchor="ctr"/>
                </a:tc>
                <a:tc>
                  <a:txBody>
                    <a:bodyPr wrap="square"/>
                    <a:lstStyle/>
                    <a:p>
                      <a:r>
                        <a:rPr sz="1300" b="0">
                          <a:solidFill>
                            <a:srgbClr val="262626"/>
                          </a:solidFill>
                          <a:latin typeface="Open Sans"/>
                          <a:ea typeface="Open Sans"/>
                          <a:cs typeface="Open Sans"/>
                        </a:rPr>
                        <a:t>Tận dụng được, ẩn với ứng dụng</a:t>
                      </a:r>
                      <a:endParaRPr sz="1300" b="0">
                        <a:solidFill>
                          <a:srgbClr val="262626"/>
                        </a:solidFill>
                        <a:latin typeface="Open Sans"/>
                        <a:ea typeface="Open Sans"/>
                        <a:cs typeface="Open Sans"/>
                      </a:endParaRPr>
                    </a:p>
                  </a:txBody>
                  <a:tcPr marL="73152" marR="73152" marT="27432" marB="27432" anchor="ctr"/>
                </a:tc>
              </a:tr>
              <a:tr h="457200">
                <a:tc>
                  <a:txBody>
                    <a:bodyPr wrap="square"/>
                    <a:lstStyle/>
                    <a:p>
                      <a:r>
                        <a:rPr sz="1300" b="1">
                          <a:solidFill>
                            <a:srgbClr val="262626"/>
                          </a:solidFill>
                          <a:latin typeface="Open Sans"/>
                          <a:ea typeface="Open Sans"/>
                          <a:cs typeface="Open Sans"/>
                        </a:rPr>
                        <a:t>Ví dụ</a:t>
                      </a:r>
                      <a:endParaRPr sz="1300" b="1">
                        <a:solidFill>
                          <a:srgbClr val="262626"/>
                        </a:solidFill>
                        <a:latin typeface="Open Sans"/>
                        <a:ea typeface="Open Sans"/>
                        <a:cs typeface="Open Sans"/>
                      </a:endParaRPr>
                    </a:p>
                  </a:txBody>
                  <a:tcPr marL="73152" marR="73152" marT="27432" marB="27432" anchor="ctr"/>
                </a:tc>
                <a:tc>
                  <a:txBody>
                    <a:bodyPr wrap="square"/>
                    <a:lstStyle/>
                    <a:p>
                      <a:r>
                        <a:rPr sz="1300" b="0">
                          <a:solidFill>
                            <a:srgbClr val="262626"/>
                          </a:solidFill>
                          <a:latin typeface="Open Sans"/>
                          <a:ea typeface="Open Sans"/>
                          <a:cs typeface="Open Sans"/>
                        </a:rPr>
                        <a:t>Thư viện luồng thuần user</a:t>
                      </a:r>
                      <a:endParaRPr sz="1300" b="0">
                        <a:solidFill>
                          <a:srgbClr val="262626"/>
                        </a:solidFill>
                        <a:latin typeface="Open Sans"/>
                        <a:ea typeface="Open Sans"/>
                        <a:cs typeface="Open Sans"/>
                      </a:endParaRPr>
                    </a:p>
                  </a:txBody>
                  <a:tcPr marL="73152" marR="73152" marT="27432" marB="27432" anchor="ctr"/>
                </a:tc>
                <a:tc>
                  <a:txBody>
                    <a:bodyPr wrap="square"/>
                    <a:lstStyle/>
                    <a:p>
                      <a:r>
                        <a:rPr sz="1300" b="0">
                          <a:solidFill>
                            <a:srgbClr val="262626"/>
                          </a:solidFill>
                          <a:latin typeface="Open Sans"/>
                          <a:ea typeface="Open Sans"/>
                          <a:cs typeface="Open Sans"/>
                        </a:rPr>
                        <a:t>Linux NPTL, Windows (Node.js dùng)</a:t>
                      </a:r>
                      <a:endParaRPr sz="1300" b="0">
                        <a:solidFill>
                          <a:srgbClr val="262626"/>
                        </a:solidFill>
                        <a:latin typeface="Open Sans"/>
                        <a:ea typeface="Open Sans"/>
                        <a:cs typeface="Open Sans"/>
                      </a:endParaRPr>
                    </a:p>
                  </a:txBody>
                  <a:tcPr marL="73152" marR="73152" marT="27432" marB="27432" anchor="ctr"/>
                </a:tc>
                <a:tc>
                  <a:txBody>
                    <a:bodyPr wrap="square"/>
                    <a:lstStyle/>
                    <a:p>
                      <a:r>
                        <a:rPr sz="1300" b="0">
                          <a:solidFill>
                            <a:srgbClr val="262626"/>
                          </a:solidFill>
                          <a:latin typeface="Open Sans"/>
                          <a:ea typeface="Open Sans"/>
                          <a:cs typeface="Open Sans"/>
                        </a:rPr>
                        <a:t>Ngôn ngữ Go, libfibre</a:t>
                      </a:r>
                      <a:endParaRPr sz="1300" b="0">
                        <a:solidFill>
                          <a:srgbClr val="262626"/>
                        </a:solidFill>
                        <a:latin typeface="Open Sans"/>
                        <a:ea typeface="Open Sans"/>
                        <a:cs typeface="Open Sans"/>
                      </a:endParaRPr>
                    </a:p>
                  </a:txBody>
                  <a:tcPr marL="73152" marR="73152" marT="27432" marB="27432" anchor="ct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Client đa luồng</a:t>
            </a:r>
          </a:p>
        </p:txBody>
      </p:sp>
      <p:sp>
        <p:nvSpPr>
          <p:cNvPr id="3" name="Text Placeholder 2"/>
          <p:cNvSpPr>
            <a:spLocks noGrp="1"/>
          </p:cNvSpPr>
          <p:nvPr>
            <p:ph type="body" sz="quarter" idx="13"/>
          </p:nvPr>
        </p:nvSpPr>
        <p:spPr/>
        <p:txBody>
          <a:bodyPr/>
          <a:lstStyle/>
          <a:p>
            <a:r>
              <a:t>Mục 3.1.2 · che giấu độ trễ truyền thông trên mạng diện rộng</a:t>
            </a:r>
          </a:p>
        </p:txBody>
      </p:sp>
      <p:sp>
        <p:nvSpPr>
          <p:cNvPr id="4" name="Slide Number Placeholder 3"/>
          <p:cNvSpPr>
            <a:spLocks noGrp="1"/>
          </p:cNvSpPr>
          <p:nvPr>
            <p:ph type="sldNum" sz="quarter" idx="12"/>
          </p:nvPr>
        </p:nvSpPr>
        <p:spPr/>
        <p:txBody>
          <a:bodyPr/>
          <a:lstStyle/>
          <a:p>
            <a:fld id="{D92DDFE6-74DA-46A1-A171-CE3314B0D579}" type="slidenum">
              <a:rPr lang="en-US" smtClean="0"/>
            </a:fld>
            <a:endParaRPr lang="en-US" dirty="0"/>
          </a:p>
        </p:txBody>
      </p:sp>
      <p:sp>
        <p:nvSpPr>
          <p:cNvPr id="5" name="Date Placeholder 4"/>
          <p:cNvSpPr>
            <a:spLocks noGrp="1"/>
          </p:cNvSpPr>
          <p:nvPr>
            <p:ph type="dt" sz="half" idx="10"/>
          </p:nvPr>
        </p:nvSpPr>
        <p:spPr/>
        <p:txBody>
          <a:bodyPr/>
          <a:lstStyle/>
          <a:p>
            <a:fld id="{2933FCAF-43A6-4F1B-B43D-A70C2A597932}" type="datetime1">
              <a:rPr lang="vi-VN" smtClean="0"/>
            </a:fld>
            <a:endParaRPr lang="en-US"/>
          </a:p>
        </p:txBody>
      </p:sp>
      <p:sp>
        <p:nvSpPr>
          <p:cNvPr id="6" name="Footer Placeholder 5"/>
          <p:cNvSpPr>
            <a:spLocks noGrp="1"/>
          </p:cNvSpPr>
          <p:nvPr>
            <p:ph type="ftr" sz="quarter" idx="11"/>
          </p:nvPr>
        </p:nvSpPr>
        <p:spPr/>
        <p:txBody>
          <a:bodyPr/>
          <a:lstStyle/>
          <a:p>
            <a:r>
              <a:rPr lang="en-US"/>
              <a:t>Chương 3 · Tiến trình: Luồng &amp; Ảo hoá</a:t>
            </a:r>
            <a:endParaRPr lang="en-US" dirty="0"/>
          </a:p>
        </p:txBody>
      </p:sp>
      <p:sp>
        <p:nvSpPr>
          <p:cNvPr id="7" name="Rectangle 6"/>
          <p:cNvSpPr/>
          <p:nvPr/>
        </p:nvSpPr>
        <p:spPr>
          <a:xfrm>
            <a:off x="457200" y="1371600"/>
            <a:ext cx="3017520" cy="3840480"/>
          </a:xfrm>
          <a:prstGeom prst="rect">
            <a:avLst/>
          </a:prstGeom>
          <a:solidFill>
            <a:srgbClr val="FFF7F7"/>
          </a:solidFill>
          <a:ln w="12700">
            <a:solidFill>
              <a:srgbClr val="BB2019"/>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8" name="TextBox 7"/>
          <p:cNvSpPr txBox="1"/>
          <p:nvPr/>
        </p:nvSpPr>
        <p:spPr>
          <a:xfrm>
            <a:off x="594360" y="1444752"/>
            <a:ext cx="2743200" cy="457200"/>
          </a:xfrm>
          <a:prstGeom prst="rect">
            <a:avLst/>
          </a:prstGeom>
          <a:noFill/>
        </p:spPr>
        <p:txBody>
          <a:bodyPr wrap="square" lIns="36576" tIns="36576" rIns="36576" bIns="36576" anchor="t">
            <a:spAutoFit/>
          </a:bodyPr>
          <a:lstStyle/>
          <a:p>
            <a:pPr algn="ctr">
              <a:spcAft>
                <a:spcPts val="400"/>
              </a:spcAft>
            </a:pPr>
            <a:r>
              <a:rPr sz="1600" b="1">
                <a:solidFill>
                  <a:srgbClr val="BB2019"/>
                </a:solidFill>
                <a:latin typeface="Open Sans"/>
                <a:ea typeface="Open Sans"/>
                <a:cs typeface="Open Sans"/>
              </a:rPr>
              <a:t>Trình duyệt web</a:t>
            </a:r>
            <a:endParaRPr sz="1600" b="1">
              <a:solidFill>
                <a:srgbClr val="BB2019"/>
              </a:solidFill>
              <a:latin typeface="Open Sans"/>
              <a:ea typeface="Open Sans"/>
              <a:cs typeface="Open Sans"/>
            </a:endParaRPr>
          </a:p>
        </p:txBody>
      </p:sp>
      <p:sp>
        <p:nvSpPr>
          <p:cNvPr id="9" name="Rectangle 8"/>
          <p:cNvSpPr/>
          <p:nvPr/>
        </p:nvSpPr>
        <p:spPr>
          <a:xfrm>
            <a:off x="685800" y="2011680"/>
            <a:ext cx="2560320" cy="566928"/>
          </a:xfrm>
          <a:prstGeom prst="rect">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200"/>
              </a:spcAft>
            </a:pPr>
            <a:r>
              <a:rPr sz="1300" b="1">
                <a:solidFill>
                  <a:srgbClr val="FFFFFF"/>
                </a:solidFill>
                <a:latin typeface="Open Sans"/>
                <a:ea typeface="Open Sans"/>
                <a:cs typeface="Open Sans"/>
              </a:rPr>
              <a:t>Luồng hiển thị</a:t>
            </a:r>
            <a:endParaRPr sz="1300" b="1">
              <a:solidFill>
                <a:srgbClr val="FFFFFF"/>
              </a:solidFill>
              <a:latin typeface="Open Sans"/>
              <a:ea typeface="Open Sans"/>
              <a:cs typeface="Open Sans"/>
            </a:endParaRPr>
          </a:p>
        </p:txBody>
      </p:sp>
      <p:sp>
        <p:nvSpPr>
          <p:cNvPr id="10" name="Rectangle 9"/>
          <p:cNvSpPr/>
          <p:nvPr/>
        </p:nvSpPr>
        <p:spPr>
          <a:xfrm>
            <a:off x="685800" y="2779776"/>
            <a:ext cx="2560320" cy="566928"/>
          </a:xfrm>
          <a:prstGeom prst="rect">
            <a:avLst/>
          </a:prstGeom>
          <a:solidFill>
            <a:srgbClr val="FDECEB"/>
          </a:solidFill>
          <a:ln w="12700">
            <a:solidFill>
              <a:srgbClr val="BB2019"/>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200"/>
              </a:spcAft>
            </a:pPr>
            <a:r>
              <a:rPr sz="1300" b="1">
                <a:solidFill>
                  <a:srgbClr val="BB2019"/>
                </a:solidFill>
                <a:latin typeface="Open Sans"/>
                <a:ea typeface="Open Sans"/>
                <a:cs typeface="Open Sans"/>
              </a:rPr>
              <a:t>Luồng tải ảnh 1</a:t>
            </a:r>
            <a:endParaRPr sz="1300" b="1">
              <a:solidFill>
                <a:srgbClr val="BB2019"/>
              </a:solidFill>
              <a:latin typeface="Open Sans"/>
              <a:ea typeface="Open Sans"/>
              <a:cs typeface="Open Sans"/>
            </a:endParaRPr>
          </a:p>
        </p:txBody>
      </p:sp>
      <p:sp>
        <p:nvSpPr>
          <p:cNvPr id="11" name="Rectangle 10"/>
          <p:cNvSpPr/>
          <p:nvPr/>
        </p:nvSpPr>
        <p:spPr>
          <a:xfrm>
            <a:off x="685800" y="3547872"/>
            <a:ext cx="2560320" cy="566928"/>
          </a:xfrm>
          <a:prstGeom prst="rect">
            <a:avLst/>
          </a:prstGeom>
          <a:solidFill>
            <a:srgbClr val="FDECEB"/>
          </a:solidFill>
          <a:ln w="12700">
            <a:solidFill>
              <a:srgbClr val="BB2019"/>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200"/>
              </a:spcAft>
            </a:pPr>
            <a:r>
              <a:rPr sz="1300" b="1">
                <a:solidFill>
                  <a:srgbClr val="BB2019"/>
                </a:solidFill>
                <a:latin typeface="Open Sans"/>
                <a:ea typeface="Open Sans"/>
                <a:cs typeface="Open Sans"/>
              </a:rPr>
              <a:t>Luồng tải ảnh 2</a:t>
            </a:r>
            <a:endParaRPr sz="1300" b="1">
              <a:solidFill>
                <a:srgbClr val="BB2019"/>
              </a:solidFill>
              <a:latin typeface="Open Sans"/>
              <a:ea typeface="Open Sans"/>
              <a:cs typeface="Open Sans"/>
            </a:endParaRPr>
          </a:p>
        </p:txBody>
      </p:sp>
      <p:sp>
        <p:nvSpPr>
          <p:cNvPr id="12" name="Rectangle 11"/>
          <p:cNvSpPr/>
          <p:nvPr/>
        </p:nvSpPr>
        <p:spPr>
          <a:xfrm>
            <a:off x="685800" y="4315968"/>
            <a:ext cx="2560320" cy="566928"/>
          </a:xfrm>
          <a:prstGeom prst="rect">
            <a:avLst/>
          </a:prstGeom>
          <a:solidFill>
            <a:srgbClr val="FDECEB"/>
          </a:solidFill>
          <a:ln w="12700">
            <a:solidFill>
              <a:srgbClr val="BB2019"/>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200"/>
              </a:spcAft>
            </a:pPr>
            <a:r>
              <a:rPr sz="1300" b="1">
                <a:solidFill>
                  <a:srgbClr val="BB2019"/>
                </a:solidFill>
                <a:latin typeface="Open Sans"/>
                <a:ea typeface="Open Sans"/>
                <a:cs typeface="Open Sans"/>
              </a:rPr>
              <a:t>Luồng tải script</a:t>
            </a:r>
            <a:endParaRPr sz="1300" b="1">
              <a:solidFill>
                <a:srgbClr val="BB2019"/>
              </a:solidFill>
              <a:latin typeface="Open Sans"/>
              <a:ea typeface="Open Sans"/>
              <a:cs typeface="Open Sans"/>
            </a:endParaRPr>
          </a:p>
        </p:txBody>
      </p:sp>
      <p:sp>
        <p:nvSpPr>
          <p:cNvPr id="13" name="Rounded Rectangle 12"/>
          <p:cNvSpPr/>
          <p:nvPr/>
        </p:nvSpPr>
        <p:spPr>
          <a:xfrm>
            <a:off x="4069080" y="2651760"/>
            <a:ext cx="1554480" cy="1097280"/>
          </a:xfrm>
          <a:prstGeom prst="roundRect">
            <a:avLst>
              <a:gd name="adj" fmla="val 15000"/>
            </a:avLst>
          </a:prstGeom>
          <a:solidFill>
            <a:srgbClr val="4A1A1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200"/>
              </a:spcAft>
            </a:pPr>
            <a:r>
              <a:rPr sz="1200">
                <a:solidFill>
                  <a:srgbClr val="FFFFFF"/>
                </a:solidFill>
                <a:latin typeface="Open Sans"/>
                <a:ea typeface="Open Sans"/>
                <a:cs typeface="Open Sans"/>
              </a:rPr>
              <a:t>Bộ cân bằng tải</a:t>
            </a:r>
            <a:endParaRPr sz="1200">
              <a:solidFill>
                <a:srgbClr val="FFFFFF"/>
              </a:solidFill>
              <a:latin typeface="Open Sans"/>
              <a:ea typeface="Open Sans"/>
              <a:cs typeface="Open Sans"/>
            </a:endParaRPr>
          </a:p>
          <a:p>
            <a:pPr algn="ctr">
              <a:spcAft>
                <a:spcPts val="200"/>
              </a:spcAft>
            </a:pPr>
            <a:r>
              <a:rPr sz="1200">
                <a:solidFill>
                  <a:srgbClr val="FFFFFF"/>
                </a:solidFill>
                <a:latin typeface="Open Sans"/>
                <a:ea typeface="Open Sans"/>
                <a:cs typeface="Open Sans"/>
              </a:rPr>
              <a:t>round-robin</a:t>
            </a:r>
            <a:endParaRPr sz="1200">
              <a:solidFill>
                <a:srgbClr val="FFFFFF"/>
              </a:solidFill>
              <a:latin typeface="Open Sans"/>
              <a:ea typeface="Open Sans"/>
              <a:cs typeface="Open Sans"/>
            </a:endParaRPr>
          </a:p>
        </p:txBody>
      </p:sp>
      <p:cxnSp>
        <p:nvCxnSpPr>
          <p:cNvPr id="14" name="Connector 13"/>
          <p:cNvCxnSpPr/>
          <p:nvPr/>
        </p:nvCxnSpPr>
        <p:spPr>
          <a:xfrm>
            <a:off x="3273552" y="2834640"/>
            <a:ext cx="768096" cy="365760"/>
          </a:xfrm>
          <a:prstGeom prst="line">
            <a:avLst/>
          </a:prstGeom>
          <a:ln w="15875">
            <a:solidFill>
              <a:srgbClr val="BB2019"/>
            </a:solidFill>
            <a:tailEnd type="triangle"/>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3273552" y="3200400"/>
            <a:ext cx="768096" cy="402336"/>
          </a:xfrm>
          <a:prstGeom prst="line">
            <a:avLst/>
          </a:prstGeom>
          <a:ln w="15875">
            <a:solidFill>
              <a:srgbClr val="BB2019"/>
            </a:solidFill>
            <a:tailEnd type="triangle"/>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3273552" y="3200400"/>
            <a:ext cx="768096" cy="1170432"/>
          </a:xfrm>
          <a:prstGeom prst="line">
            <a:avLst/>
          </a:prstGeom>
          <a:ln w="15875">
            <a:solidFill>
              <a:srgbClr val="BB2019"/>
            </a:solidFill>
            <a:tailEnd type="triangle"/>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6309360" y="1737360"/>
            <a:ext cx="1828800" cy="822960"/>
          </a:xfrm>
          <a:prstGeom prst="rect">
            <a:avLst/>
          </a:prstGeom>
          <a:solidFill>
            <a:srgbClr val="FDECEB"/>
          </a:solidFill>
          <a:ln w="12700">
            <a:solidFill>
              <a:srgbClr val="BB2019"/>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200"/>
              </a:spcAft>
            </a:pPr>
            <a:r>
              <a:rPr sz="1300" b="1">
                <a:solidFill>
                  <a:srgbClr val="BB2019"/>
                </a:solidFill>
                <a:latin typeface="Open Sans"/>
                <a:ea typeface="Open Sans"/>
                <a:cs typeface="Open Sans"/>
              </a:rPr>
              <a:t>Bản sao server 1</a:t>
            </a:r>
            <a:endParaRPr sz="1300" b="1">
              <a:solidFill>
                <a:srgbClr val="BB2019"/>
              </a:solidFill>
              <a:latin typeface="Open Sans"/>
              <a:ea typeface="Open Sans"/>
              <a:cs typeface="Open Sans"/>
            </a:endParaRPr>
          </a:p>
        </p:txBody>
      </p:sp>
      <p:cxnSp>
        <p:nvCxnSpPr>
          <p:cNvPr id="18" name="Connector 17"/>
          <p:cNvCxnSpPr/>
          <p:nvPr/>
        </p:nvCxnSpPr>
        <p:spPr>
          <a:xfrm flipV="1">
            <a:off x="5650992" y="2148840"/>
            <a:ext cx="640080" cy="1051560"/>
          </a:xfrm>
          <a:prstGeom prst="line">
            <a:avLst/>
          </a:prstGeom>
          <a:ln w="15875">
            <a:solidFill>
              <a:srgbClr val="BB2019"/>
            </a:solidFill>
            <a:tailEnd type="triangle"/>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6309360" y="2926080"/>
            <a:ext cx="1828800" cy="822960"/>
          </a:xfrm>
          <a:prstGeom prst="rect">
            <a:avLst/>
          </a:prstGeom>
          <a:solidFill>
            <a:srgbClr val="FDECEB"/>
          </a:solidFill>
          <a:ln w="12700">
            <a:solidFill>
              <a:srgbClr val="BB2019"/>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200"/>
              </a:spcAft>
            </a:pPr>
            <a:r>
              <a:rPr sz="1300" b="1">
                <a:solidFill>
                  <a:srgbClr val="BB2019"/>
                </a:solidFill>
                <a:latin typeface="Open Sans"/>
                <a:ea typeface="Open Sans"/>
                <a:cs typeface="Open Sans"/>
              </a:rPr>
              <a:t>Bản sao server 2</a:t>
            </a:r>
            <a:endParaRPr sz="1300" b="1">
              <a:solidFill>
                <a:srgbClr val="BB2019"/>
              </a:solidFill>
              <a:latin typeface="Open Sans"/>
              <a:ea typeface="Open Sans"/>
              <a:cs typeface="Open Sans"/>
            </a:endParaRPr>
          </a:p>
        </p:txBody>
      </p:sp>
      <p:cxnSp>
        <p:nvCxnSpPr>
          <p:cNvPr id="20" name="Connector 19"/>
          <p:cNvCxnSpPr/>
          <p:nvPr/>
        </p:nvCxnSpPr>
        <p:spPr>
          <a:xfrm>
            <a:off x="5650992" y="3200400"/>
            <a:ext cx="640080" cy="137160"/>
          </a:xfrm>
          <a:prstGeom prst="line">
            <a:avLst/>
          </a:prstGeom>
          <a:ln w="15875">
            <a:solidFill>
              <a:srgbClr val="BB2019"/>
            </a:solidFill>
            <a:tailEnd type="triangle"/>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6309360" y="4114800"/>
            <a:ext cx="1828800" cy="822960"/>
          </a:xfrm>
          <a:prstGeom prst="rect">
            <a:avLst/>
          </a:prstGeom>
          <a:solidFill>
            <a:srgbClr val="FDECEB"/>
          </a:solidFill>
          <a:ln w="12700">
            <a:solidFill>
              <a:srgbClr val="BB2019"/>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200"/>
              </a:spcAft>
            </a:pPr>
            <a:r>
              <a:rPr sz="1300" b="1">
                <a:solidFill>
                  <a:srgbClr val="BB2019"/>
                </a:solidFill>
                <a:latin typeface="Open Sans"/>
                <a:ea typeface="Open Sans"/>
                <a:cs typeface="Open Sans"/>
              </a:rPr>
              <a:t>Bản sao server 3</a:t>
            </a:r>
            <a:endParaRPr sz="1300" b="1">
              <a:solidFill>
                <a:srgbClr val="BB2019"/>
              </a:solidFill>
              <a:latin typeface="Open Sans"/>
              <a:ea typeface="Open Sans"/>
              <a:cs typeface="Open Sans"/>
            </a:endParaRPr>
          </a:p>
        </p:txBody>
      </p:sp>
      <p:cxnSp>
        <p:nvCxnSpPr>
          <p:cNvPr id="22" name="Connector 21"/>
          <p:cNvCxnSpPr/>
          <p:nvPr/>
        </p:nvCxnSpPr>
        <p:spPr>
          <a:xfrm>
            <a:off x="5650992" y="3200400"/>
            <a:ext cx="640080" cy="1325880"/>
          </a:xfrm>
          <a:prstGeom prst="line">
            <a:avLst/>
          </a:prstGeom>
          <a:ln w="15875">
            <a:solidFill>
              <a:srgbClr val="BB2019"/>
            </a:solidFill>
            <a:tailEnd type="triangle"/>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457200" y="5394960"/>
            <a:ext cx="7680960" cy="868680"/>
          </a:xfrm>
          <a:prstGeom prst="rect">
            <a:avLst/>
          </a:prstGeom>
          <a:noFill/>
        </p:spPr>
        <p:txBody>
          <a:bodyPr wrap="square" lIns="36576" tIns="36576" rIns="36576" bIns="36576" anchor="t">
            <a:spAutoFit/>
          </a:bodyPr>
          <a:lstStyle/>
          <a:p>
            <a:pPr algn="l">
              <a:spcAft>
                <a:spcPts val="400"/>
              </a:spcAft>
            </a:pPr>
            <a:r>
              <a:rPr sz="1350">
                <a:solidFill>
                  <a:srgbClr val="6B5F5D"/>
                </a:solidFill>
                <a:latin typeface="Open Sans"/>
                <a:ea typeface="Open Sans"/>
                <a:cs typeface="Open Sans"/>
              </a:rPr>
              <a:t>Mỗi luồng dùng lời gọi chặn bình thường (connect, read) — mã đơn giản; người dùng chỉ thấy ảnh hiện dần chứ không bị đứng.</a:t>
            </a:r>
            <a:endParaRPr sz="1350">
              <a:solidFill>
                <a:srgbClr val="6B5F5D"/>
              </a:solidFill>
              <a:latin typeface="Open Sans"/>
              <a:ea typeface="Open Sans"/>
              <a:cs typeface="Open Sans"/>
            </a:endParaRPr>
          </a:p>
        </p:txBody>
      </p:sp>
      <p:sp>
        <p:nvSpPr>
          <p:cNvPr id="24" name="Rectangle 23"/>
          <p:cNvSpPr/>
          <p:nvPr/>
        </p:nvSpPr>
        <p:spPr>
          <a:xfrm>
            <a:off x="8503920" y="1371600"/>
            <a:ext cx="3246120" cy="42062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28016" rIns="128016" bIns="128016" rtlCol="0" anchor="ctr"/>
          <a:lstStyle/>
          <a:p>
            <a:pPr algn="l">
              <a:spcAft>
                <a:spcPts val="200"/>
              </a:spcAft>
            </a:pPr>
            <a:r>
              <a:rPr sz="1400" b="1">
                <a:solidFill>
                  <a:srgbClr val="FFFFFF"/>
                </a:solidFill>
                <a:latin typeface="Open Sans"/>
                <a:ea typeface="Open Sans"/>
                <a:cs typeface="Open Sans"/>
              </a:rPr>
              <a:t>Hai lợi ích</a:t>
            </a:r>
            <a:endParaRPr sz="1400" b="1">
              <a:solidFill>
                <a:srgbClr val="FFFFFF"/>
              </a:solidFill>
              <a:latin typeface="Open Sans"/>
              <a:ea typeface="Open Sans"/>
              <a:cs typeface="Open Sans"/>
            </a:endParaRPr>
          </a:p>
        </p:txBody>
      </p:sp>
      <p:sp>
        <p:nvSpPr>
          <p:cNvPr id="25" name="Rectangle 24"/>
          <p:cNvSpPr/>
          <p:nvPr/>
        </p:nvSpPr>
        <p:spPr>
          <a:xfrm>
            <a:off x="8503920" y="1792224"/>
            <a:ext cx="3246120" cy="2002536"/>
          </a:xfrm>
          <a:prstGeom prst="rect">
            <a:avLst/>
          </a:prstGeom>
          <a:solidFill>
            <a:srgbClr val="FFF7F7"/>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28016" rIns="128016" bIns="128016" rtlCol="0" anchor="t"/>
          <a:lstStyle/>
          <a:p>
            <a:pPr marL="237490" indent="-201295" algn="l">
              <a:spcAft>
                <a:spcPts val="200"/>
              </a:spcAft>
              <a:buClr>
                <a:srgbClr val="BB2019"/>
              </a:buClr>
              <a:buFont typeface="Arial" panose="020B0604020202020204"/>
              <a:buChar char="•"/>
            </a:pPr>
            <a:r>
              <a:rPr sz="1300">
                <a:solidFill>
                  <a:srgbClr val="262626"/>
                </a:solidFill>
                <a:latin typeface="Open Sans"/>
                <a:ea typeface="Open Sans"/>
                <a:cs typeface="Open Sans"/>
              </a:rPr>
              <a:t>Che giấu độ trễ: không chờ tài nguyên này xong mới tải tài nguyên kia</a:t>
            </a:r>
            <a:endParaRPr sz="1300">
              <a:solidFill>
                <a:srgbClr val="262626"/>
              </a:solidFill>
              <a:latin typeface="Open Sans"/>
              <a:ea typeface="Open Sans"/>
              <a:cs typeface="Open Sans"/>
            </a:endParaRPr>
          </a:p>
          <a:p>
            <a:pPr marL="237490" indent="-201295" algn="l">
              <a:spcAft>
                <a:spcPts val="200"/>
              </a:spcAft>
              <a:buClr>
                <a:srgbClr val="BB2019"/>
              </a:buClr>
              <a:buFont typeface="Arial" panose="020B0604020202020204"/>
              <a:buChar char="•"/>
            </a:pPr>
            <a:r>
              <a:rPr sz="1300">
                <a:solidFill>
                  <a:srgbClr val="262626"/>
                </a:solidFill>
                <a:latin typeface="Open Sans"/>
                <a:ea typeface="Open Sans"/>
                <a:cs typeface="Open Sans"/>
              </a:rPr>
              <a:t>Tải song song từ nhiều bản sao server cùng tên</a:t>
            </a:r>
            <a:endParaRPr sz="1300">
              <a:solidFill>
                <a:srgbClr val="262626"/>
              </a:solidFill>
              <a:latin typeface="Open Sans"/>
              <a:ea typeface="Open Sans"/>
              <a:cs typeface="Open Sans"/>
            </a:endParaRPr>
          </a:p>
        </p:txBody>
      </p:sp>
      <p:sp>
        <p:nvSpPr>
          <p:cNvPr id="26" name="Rectangle 25"/>
          <p:cNvSpPr/>
          <p:nvPr/>
        </p:nvSpPr>
        <p:spPr>
          <a:xfrm>
            <a:off x="8503920" y="3977639"/>
            <a:ext cx="3246120" cy="2286000"/>
          </a:xfrm>
          <a:prstGeom prst="rect">
            <a:avLst/>
          </a:prstGeom>
          <a:solidFill>
            <a:srgbClr val="FFF7F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27" name="TextBox 26"/>
          <p:cNvSpPr txBox="1"/>
          <p:nvPr/>
        </p:nvSpPr>
        <p:spPr>
          <a:xfrm>
            <a:off x="8641080" y="4041648"/>
            <a:ext cx="3017520" cy="640080"/>
          </a:xfrm>
          <a:prstGeom prst="rect">
            <a:avLst/>
          </a:prstGeom>
          <a:noFill/>
        </p:spPr>
        <p:txBody>
          <a:bodyPr wrap="square" lIns="36576" tIns="36576" rIns="36576" bIns="36576" anchor="t">
            <a:spAutoFit/>
          </a:bodyPr>
          <a:lstStyle/>
          <a:p>
            <a:pPr algn="l">
              <a:spcAft>
                <a:spcPts val="400"/>
              </a:spcAft>
            </a:pPr>
            <a:r>
              <a:rPr sz="2600" b="1">
                <a:solidFill>
                  <a:srgbClr val="BB2019"/>
                </a:solidFill>
                <a:latin typeface="Open Sans"/>
                <a:ea typeface="Open Sans"/>
                <a:cs typeface="Open Sans"/>
              </a:rPr>
              <a:t>TLP 1,5 – 2,5</a:t>
            </a:r>
            <a:endParaRPr sz="2600" b="1">
              <a:solidFill>
                <a:srgbClr val="BB2019"/>
              </a:solidFill>
              <a:latin typeface="Open Sans"/>
              <a:ea typeface="Open Sans"/>
              <a:cs typeface="Open Sans"/>
            </a:endParaRPr>
          </a:p>
        </p:txBody>
      </p:sp>
      <p:sp>
        <p:nvSpPr>
          <p:cNvPr id="28" name="TextBox 27"/>
          <p:cNvSpPr txBox="1"/>
          <p:nvPr/>
        </p:nvSpPr>
        <p:spPr>
          <a:xfrm>
            <a:off x="8641080" y="4709160"/>
            <a:ext cx="3017520" cy="1508760"/>
          </a:xfrm>
          <a:prstGeom prst="rect">
            <a:avLst/>
          </a:prstGeom>
          <a:noFill/>
        </p:spPr>
        <p:txBody>
          <a:bodyPr wrap="square" lIns="36576" tIns="36576" rIns="36576" bIns="36576" anchor="t">
            <a:spAutoFit/>
          </a:bodyPr>
          <a:lstStyle/>
          <a:p>
            <a:pPr algn="l">
              <a:spcAft>
                <a:spcPts val="400"/>
              </a:spcAft>
            </a:pPr>
            <a:r>
              <a:rPr sz="1250">
                <a:solidFill>
                  <a:srgbClr val="6B5F5D"/>
                </a:solidFill>
                <a:latin typeface="Open Sans"/>
                <a:ea typeface="Open Sans"/>
                <a:cs typeface="Open Sans"/>
              </a:rPr>
              <a:t>Mức song song luồng của trình duyệt (Blake et al., 2010): đa luồng chủ yếu để tổ chức chương trình, không phải để vắt kiệt đa lõi.</a:t>
            </a:r>
            <a:endParaRPr sz="1250">
              <a:solidFill>
                <a:srgbClr val="6B5F5D"/>
              </a:solidFill>
              <a:latin typeface="Open Sans"/>
              <a:ea typeface="Open Sans"/>
              <a:cs typeface="Open Sans"/>
            </a:endParaRPr>
          </a:p>
        </p:txBody>
      </p:sp>
      <p:sp>
        <p:nvSpPr>
          <p:cNvPr id="29" name="Rounded Rectangle 28"/>
          <p:cNvSpPr/>
          <p:nvPr/>
        </p:nvSpPr>
        <p:spPr>
          <a:xfrm>
            <a:off x="10744200" y="347472"/>
            <a:ext cx="1005840" cy="292608"/>
          </a:xfrm>
          <a:prstGeom prst="roundRect">
            <a:avLst>
              <a:gd name="adj" fmla="val 50000"/>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spcAft>
                <a:spcPts val="200"/>
              </a:spcAft>
            </a:pPr>
            <a:r>
              <a:rPr sz="1150" b="1">
                <a:solidFill>
                  <a:srgbClr val="FFFFFF"/>
                </a:solidFill>
                <a:latin typeface="Open Sans"/>
                <a:ea typeface="Open Sans"/>
                <a:cs typeface="Open Sans"/>
              </a:rPr>
              <a:t>Demo 06</a:t>
            </a:r>
            <a:endParaRPr sz="1150" b="1">
              <a:solidFill>
                <a:srgbClr val="FFFFFF"/>
              </a:solidFill>
              <a:latin typeface="Open Sans"/>
              <a:ea typeface="Open Sans"/>
              <a:cs typeface="Open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Server đa luồng: mô hình dispatcher / worker</a:t>
            </a:r>
          </a:p>
        </p:txBody>
      </p:sp>
      <p:sp>
        <p:nvSpPr>
          <p:cNvPr id="3" name="Text Placeholder 2"/>
          <p:cNvSpPr>
            <a:spLocks noGrp="1"/>
          </p:cNvSpPr>
          <p:nvPr>
            <p:ph type="body" sz="quarter" idx="13"/>
          </p:nvPr>
        </p:nvSpPr>
        <p:spPr/>
        <p:txBody>
          <a:bodyPr/>
          <a:lstStyle/>
          <a:p>
            <a:r>
              <a:t>Hình 3.6 · ứng dụng chính của đa luồng trong hệ phân tán</a:t>
            </a:r>
          </a:p>
        </p:txBody>
      </p:sp>
      <p:sp>
        <p:nvSpPr>
          <p:cNvPr id="4" name="Slide Number Placeholder 3"/>
          <p:cNvSpPr>
            <a:spLocks noGrp="1"/>
          </p:cNvSpPr>
          <p:nvPr>
            <p:ph type="sldNum" sz="quarter" idx="12"/>
          </p:nvPr>
        </p:nvSpPr>
        <p:spPr/>
        <p:txBody>
          <a:bodyPr/>
          <a:lstStyle/>
          <a:p>
            <a:fld id="{D92DDFE6-74DA-46A1-A171-CE3314B0D579}" type="slidenum">
              <a:rPr lang="en-US" smtClean="0"/>
            </a:fld>
            <a:endParaRPr lang="en-US" dirty="0"/>
          </a:p>
        </p:txBody>
      </p:sp>
      <p:sp>
        <p:nvSpPr>
          <p:cNvPr id="5" name="Date Placeholder 4"/>
          <p:cNvSpPr>
            <a:spLocks noGrp="1"/>
          </p:cNvSpPr>
          <p:nvPr>
            <p:ph type="dt" sz="half" idx="10"/>
          </p:nvPr>
        </p:nvSpPr>
        <p:spPr/>
        <p:txBody>
          <a:bodyPr/>
          <a:lstStyle/>
          <a:p>
            <a:fld id="{2933FCAF-43A6-4F1B-B43D-A70C2A597932}" type="datetime1">
              <a:rPr lang="vi-VN" smtClean="0"/>
            </a:fld>
            <a:endParaRPr lang="en-US"/>
          </a:p>
        </p:txBody>
      </p:sp>
      <p:sp>
        <p:nvSpPr>
          <p:cNvPr id="6" name="Footer Placeholder 5"/>
          <p:cNvSpPr>
            <a:spLocks noGrp="1"/>
          </p:cNvSpPr>
          <p:nvPr>
            <p:ph type="ftr" sz="quarter" idx="11"/>
          </p:nvPr>
        </p:nvSpPr>
        <p:spPr/>
        <p:txBody>
          <a:bodyPr/>
          <a:lstStyle/>
          <a:p>
            <a:r>
              <a:rPr lang="en-US"/>
              <a:t>Chương 3 · Tiến trình: Luồng &amp; Ảo hoá</a:t>
            </a:r>
            <a:endParaRPr lang="en-US" dirty="0"/>
          </a:p>
        </p:txBody>
      </p:sp>
      <p:sp>
        <p:nvSpPr>
          <p:cNvPr id="7" name="Rectangle 6"/>
          <p:cNvSpPr/>
          <p:nvPr/>
        </p:nvSpPr>
        <p:spPr>
          <a:xfrm>
            <a:off x="457200" y="2560320"/>
            <a:ext cx="1737360" cy="1188720"/>
          </a:xfrm>
          <a:prstGeom prst="rect">
            <a:avLst/>
          </a:prstGeom>
          <a:solidFill>
            <a:srgbClr val="FDECEB"/>
          </a:solidFill>
          <a:ln w="12700">
            <a:solidFill>
              <a:srgbClr val="BB2019"/>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200"/>
              </a:spcAft>
            </a:pPr>
            <a:r>
              <a:rPr sz="1400" b="1">
                <a:solidFill>
                  <a:srgbClr val="BB2019"/>
                </a:solidFill>
                <a:latin typeface="Open Sans"/>
                <a:ea typeface="Open Sans"/>
                <a:cs typeface="Open Sans"/>
              </a:rPr>
              <a:t>Yêu cầu từ mạng</a:t>
            </a:r>
            <a:endParaRPr sz="1400" b="1">
              <a:solidFill>
                <a:srgbClr val="BB2019"/>
              </a:solidFill>
              <a:latin typeface="Open Sans"/>
              <a:ea typeface="Open Sans"/>
              <a:cs typeface="Open Sans"/>
            </a:endParaRPr>
          </a:p>
        </p:txBody>
      </p:sp>
      <p:sp>
        <p:nvSpPr>
          <p:cNvPr id="8" name="Rounded Rectangle 7"/>
          <p:cNvSpPr/>
          <p:nvPr/>
        </p:nvSpPr>
        <p:spPr>
          <a:xfrm>
            <a:off x="2743200" y="2514600"/>
            <a:ext cx="2011680" cy="1280160"/>
          </a:xfrm>
          <a:prstGeom prst="roundRect">
            <a:avLst>
              <a:gd name="adj" fmla="val 12000"/>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200"/>
              </a:spcAft>
            </a:pPr>
            <a:r>
              <a:rPr sz="1500" b="1">
                <a:solidFill>
                  <a:srgbClr val="FFFFFF"/>
                </a:solidFill>
                <a:latin typeface="Open Sans"/>
                <a:ea typeface="Open Sans"/>
                <a:cs typeface="Open Sans"/>
              </a:rPr>
              <a:t>Dispatcher</a:t>
            </a:r>
            <a:endParaRPr sz="1500" b="1">
              <a:solidFill>
                <a:srgbClr val="FFFFFF"/>
              </a:solidFill>
              <a:latin typeface="Open Sans"/>
              <a:ea typeface="Open Sans"/>
              <a:cs typeface="Open Sans"/>
            </a:endParaRPr>
          </a:p>
          <a:p>
            <a:pPr algn="ctr">
              <a:spcAft>
                <a:spcPts val="200"/>
              </a:spcAft>
            </a:pPr>
            <a:r>
              <a:rPr sz="1500">
                <a:solidFill>
                  <a:srgbClr val="FFFFFF"/>
                </a:solidFill>
                <a:latin typeface="Open Sans"/>
                <a:ea typeface="Open Sans"/>
                <a:cs typeface="Open Sans"/>
              </a:rPr>
              <a:t>nhận &amp; phân việc</a:t>
            </a:r>
            <a:endParaRPr sz="1500">
              <a:solidFill>
                <a:srgbClr val="FFFFFF"/>
              </a:solidFill>
              <a:latin typeface="Open Sans"/>
              <a:ea typeface="Open Sans"/>
              <a:cs typeface="Open Sans"/>
            </a:endParaRPr>
          </a:p>
        </p:txBody>
      </p:sp>
      <p:cxnSp>
        <p:nvCxnSpPr>
          <p:cNvPr id="9" name="Connector 8"/>
          <p:cNvCxnSpPr/>
          <p:nvPr/>
        </p:nvCxnSpPr>
        <p:spPr>
          <a:xfrm>
            <a:off x="2212848" y="3154680"/>
            <a:ext cx="512064" cy="0"/>
          </a:xfrm>
          <a:prstGeom prst="line">
            <a:avLst/>
          </a:prstGeom>
          <a:ln w="22225">
            <a:solidFill>
              <a:srgbClr val="BB2019"/>
            </a:solidFill>
            <a:tailEnd type="triangle"/>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5257800" y="1371600"/>
            <a:ext cx="3017520" cy="3657600"/>
          </a:xfrm>
          <a:prstGeom prst="rect">
            <a:avLst/>
          </a:prstGeom>
          <a:solidFill>
            <a:srgbClr val="FFF7F7"/>
          </a:solidFill>
          <a:ln w="12700">
            <a:solidFill>
              <a:srgbClr val="BB2019"/>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11" name="TextBox 10"/>
          <p:cNvSpPr txBox="1"/>
          <p:nvPr/>
        </p:nvSpPr>
        <p:spPr>
          <a:xfrm>
            <a:off x="5349240" y="1417320"/>
            <a:ext cx="2834640" cy="411480"/>
          </a:xfrm>
          <a:prstGeom prst="rect">
            <a:avLst/>
          </a:prstGeom>
          <a:noFill/>
        </p:spPr>
        <p:txBody>
          <a:bodyPr wrap="square" lIns="36576" tIns="36576" rIns="36576" bIns="36576" anchor="t">
            <a:spAutoFit/>
          </a:bodyPr>
          <a:lstStyle/>
          <a:p>
            <a:pPr algn="ctr">
              <a:spcAft>
                <a:spcPts val="400"/>
              </a:spcAft>
            </a:pPr>
            <a:r>
              <a:rPr sz="1400" b="1">
                <a:solidFill>
                  <a:srgbClr val="BB2019"/>
                </a:solidFill>
                <a:latin typeface="Open Sans"/>
                <a:ea typeface="Open Sans"/>
                <a:cs typeface="Open Sans"/>
              </a:rPr>
              <a:t>Tiến trình server</a:t>
            </a:r>
            <a:endParaRPr sz="1400" b="1">
              <a:solidFill>
                <a:srgbClr val="BB2019"/>
              </a:solidFill>
              <a:latin typeface="Open Sans"/>
              <a:ea typeface="Open Sans"/>
              <a:cs typeface="Open Sans"/>
            </a:endParaRPr>
          </a:p>
        </p:txBody>
      </p:sp>
      <p:sp>
        <p:nvSpPr>
          <p:cNvPr id="12" name="Rectangle 11"/>
          <p:cNvSpPr/>
          <p:nvPr/>
        </p:nvSpPr>
        <p:spPr>
          <a:xfrm>
            <a:off x="5623560" y="1920240"/>
            <a:ext cx="2286000" cy="749808"/>
          </a:xfrm>
          <a:prstGeom prst="rect">
            <a:avLst/>
          </a:prstGeom>
          <a:solidFill>
            <a:srgbClr val="FFFFFF"/>
          </a:solidFill>
          <a:ln w="12700">
            <a:solidFill>
              <a:srgbClr val="BB2019"/>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200"/>
              </a:spcAft>
            </a:pPr>
            <a:r>
              <a:rPr sz="1300" b="1">
                <a:solidFill>
                  <a:srgbClr val="BB2019"/>
                </a:solidFill>
                <a:latin typeface="Open Sans"/>
                <a:ea typeface="Open Sans"/>
                <a:cs typeface="Open Sans"/>
              </a:rPr>
              <a:t>Worker 1</a:t>
            </a:r>
            <a:endParaRPr sz="1300" b="1">
              <a:solidFill>
                <a:srgbClr val="BB2019"/>
              </a:solidFill>
              <a:latin typeface="Open Sans"/>
              <a:ea typeface="Open Sans"/>
              <a:cs typeface="Open Sans"/>
            </a:endParaRPr>
          </a:p>
          <a:p>
            <a:pPr algn="ctr">
              <a:spcAft>
                <a:spcPts val="200"/>
              </a:spcAft>
            </a:pPr>
            <a:r>
              <a:rPr sz="1300">
                <a:solidFill>
                  <a:srgbClr val="262626"/>
                </a:solidFill>
                <a:latin typeface="Open Sans"/>
                <a:ea typeface="Open Sans"/>
                <a:cs typeface="Open Sans"/>
              </a:rPr>
              <a:t>đọc đĩa (chặn)</a:t>
            </a:r>
            <a:endParaRPr sz="1300">
              <a:solidFill>
                <a:srgbClr val="262626"/>
              </a:solidFill>
              <a:latin typeface="Open Sans"/>
              <a:ea typeface="Open Sans"/>
              <a:cs typeface="Open Sans"/>
            </a:endParaRPr>
          </a:p>
        </p:txBody>
      </p:sp>
      <p:cxnSp>
        <p:nvCxnSpPr>
          <p:cNvPr id="13" name="Connector 12"/>
          <p:cNvCxnSpPr/>
          <p:nvPr/>
        </p:nvCxnSpPr>
        <p:spPr>
          <a:xfrm flipV="1">
            <a:off x="4773168" y="2286000"/>
            <a:ext cx="832104" cy="868680"/>
          </a:xfrm>
          <a:prstGeom prst="line">
            <a:avLst/>
          </a:prstGeom>
          <a:ln w="15875">
            <a:solidFill>
              <a:srgbClr val="BB2019"/>
            </a:solidFill>
            <a:tailEnd type="triangle"/>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5623560" y="2907792"/>
            <a:ext cx="2286000" cy="749808"/>
          </a:xfrm>
          <a:prstGeom prst="rect">
            <a:avLst/>
          </a:prstGeom>
          <a:solidFill>
            <a:srgbClr val="FFFFFF"/>
          </a:solidFill>
          <a:ln w="12700">
            <a:solidFill>
              <a:srgbClr val="BB2019"/>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200"/>
              </a:spcAft>
            </a:pPr>
            <a:r>
              <a:rPr sz="1300" b="1">
                <a:solidFill>
                  <a:srgbClr val="BB2019"/>
                </a:solidFill>
                <a:latin typeface="Open Sans"/>
                <a:ea typeface="Open Sans"/>
                <a:cs typeface="Open Sans"/>
              </a:rPr>
              <a:t>Worker 2</a:t>
            </a:r>
            <a:endParaRPr sz="1300" b="1">
              <a:solidFill>
                <a:srgbClr val="BB2019"/>
              </a:solidFill>
              <a:latin typeface="Open Sans"/>
              <a:ea typeface="Open Sans"/>
              <a:cs typeface="Open Sans"/>
            </a:endParaRPr>
          </a:p>
          <a:p>
            <a:pPr algn="ctr">
              <a:spcAft>
                <a:spcPts val="200"/>
              </a:spcAft>
            </a:pPr>
            <a:r>
              <a:rPr sz="1300">
                <a:solidFill>
                  <a:srgbClr val="262626"/>
                </a:solidFill>
                <a:latin typeface="Open Sans"/>
                <a:ea typeface="Open Sans"/>
                <a:cs typeface="Open Sans"/>
              </a:rPr>
              <a:t>đọc đĩa (chặn)</a:t>
            </a:r>
            <a:endParaRPr sz="1300">
              <a:solidFill>
                <a:srgbClr val="262626"/>
              </a:solidFill>
              <a:latin typeface="Open Sans"/>
              <a:ea typeface="Open Sans"/>
              <a:cs typeface="Open Sans"/>
            </a:endParaRPr>
          </a:p>
        </p:txBody>
      </p:sp>
      <p:cxnSp>
        <p:nvCxnSpPr>
          <p:cNvPr id="15" name="Connector 14"/>
          <p:cNvCxnSpPr/>
          <p:nvPr/>
        </p:nvCxnSpPr>
        <p:spPr>
          <a:xfrm>
            <a:off x="4773168" y="3154680"/>
            <a:ext cx="832104" cy="118872"/>
          </a:xfrm>
          <a:prstGeom prst="line">
            <a:avLst/>
          </a:prstGeom>
          <a:ln w="15875">
            <a:solidFill>
              <a:srgbClr val="BB2019"/>
            </a:solidFill>
            <a:tailEnd type="triangle"/>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5623560" y="3895344"/>
            <a:ext cx="2286000" cy="749808"/>
          </a:xfrm>
          <a:prstGeom prst="rect">
            <a:avLst/>
          </a:prstGeom>
          <a:solidFill>
            <a:srgbClr val="FFFFFF"/>
          </a:solidFill>
          <a:ln w="12700">
            <a:solidFill>
              <a:srgbClr val="BB2019"/>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200"/>
              </a:spcAft>
            </a:pPr>
            <a:r>
              <a:rPr sz="1300" b="1">
                <a:solidFill>
                  <a:srgbClr val="BB2019"/>
                </a:solidFill>
                <a:latin typeface="Open Sans"/>
                <a:ea typeface="Open Sans"/>
                <a:cs typeface="Open Sans"/>
              </a:rPr>
              <a:t>Worker 3</a:t>
            </a:r>
            <a:endParaRPr sz="1300" b="1">
              <a:solidFill>
                <a:srgbClr val="BB2019"/>
              </a:solidFill>
              <a:latin typeface="Open Sans"/>
              <a:ea typeface="Open Sans"/>
              <a:cs typeface="Open Sans"/>
            </a:endParaRPr>
          </a:p>
          <a:p>
            <a:pPr algn="ctr">
              <a:spcAft>
                <a:spcPts val="200"/>
              </a:spcAft>
            </a:pPr>
            <a:r>
              <a:rPr sz="1300">
                <a:solidFill>
                  <a:srgbClr val="262626"/>
                </a:solidFill>
                <a:latin typeface="Open Sans"/>
                <a:ea typeface="Open Sans"/>
                <a:cs typeface="Open Sans"/>
              </a:rPr>
              <a:t>đọc đĩa (chặn)</a:t>
            </a:r>
            <a:endParaRPr sz="1300">
              <a:solidFill>
                <a:srgbClr val="262626"/>
              </a:solidFill>
              <a:latin typeface="Open Sans"/>
              <a:ea typeface="Open Sans"/>
              <a:cs typeface="Open Sans"/>
            </a:endParaRPr>
          </a:p>
        </p:txBody>
      </p:sp>
      <p:cxnSp>
        <p:nvCxnSpPr>
          <p:cNvPr id="17" name="Connector 16"/>
          <p:cNvCxnSpPr/>
          <p:nvPr/>
        </p:nvCxnSpPr>
        <p:spPr>
          <a:xfrm>
            <a:off x="4773168" y="3154680"/>
            <a:ext cx="832104" cy="1106424"/>
          </a:xfrm>
          <a:prstGeom prst="line">
            <a:avLst/>
          </a:prstGeom>
          <a:ln w="15875">
            <a:solidFill>
              <a:srgbClr val="BB2019"/>
            </a:solidFill>
            <a:tailEnd type="triangle"/>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5257800" y="5257800"/>
            <a:ext cx="3017520" cy="777240"/>
          </a:xfrm>
          <a:prstGeom prst="rect">
            <a:avLst/>
          </a:prstGeom>
          <a:solidFill>
            <a:srgbClr val="4A1A1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200"/>
              </a:spcAft>
            </a:pPr>
            <a:r>
              <a:rPr sz="1400">
                <a:solidFill>
                  <a:srgbClr val="FFFFFF"/>
                </a:solidFill>
                <a:latin typeface="Open Sans"/>
                <a:ea typeface="Open Sans"/>
                <a:cs typeface="Open Sans"/>
              </a:rPr>
              <a:t>Hệ điều hành · đĩa</a:t>
            </a:r>
            <a:endParaRPr sz="1400">
              <a:solidFill>
                <a:srgbClr val="FFFFFF"/>
              </a:solidFill>
              <a:latin typeface="Open Sans"/>
              <a:ea typeface="Open Sans"/>
              <a:cs typeface="Open Sans"/>
            </a:endParaRPr>
          </a:p>
        </p:txBody>
      </p:sp>
      <p:cxnSp>
        <p:nvCxnSpPr>
          <p:cNvPr id="19" name="Connector 18"/>
          <p:cNvCxnSpPr/>
          <p:nvPr/>
        </p:nvCxnSpPr>
        <p:spPr>
          <a:xfrm>
            <a:off x="6766560" y="5047488"/>
            <a:ext cx="0" cy="192024"/>
          </a:xfrm>
          <a:prstGeom prst="line">
            <a:avLst/>
          </a:prstGeom>
          <a:ln w="19050">
            <a:solidFill>
              <a:srgbClr val="BB2019"/>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8686800" y="1371600"/>
            <a:ext cx="3063240" cy="42062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28016" rIns="128016" bIns="128016" rtlCol="0" anchor="ctr"/>
          <a:lstStyle/>
          <a:p>
            <a:pPr algn="l">
              <a:spcAft>
                <a:spcPts val="200"/>
              </a:spcAft>
            </a:pPr>
            <a:r>
              <a:rPr sz="1400" b="1">
                <a:solidFill>
                  <a:srgbClr val="FFFFFF"/>
                </a:solidFill>
                <a:latin typeface="Open Sans"/>
                <a:ea typeface="Open Sans"/>
                <a:cs typeface="Open Sans"/>
              </a:rPr>
              <a:t>Khi một worker chờ đĩa</a:t>
            </a:r>
            <a:endParaRPr sz="1400" b="1">
              <a:solidFill>
                <a:srgbClr val="FFFFFF"/>
              </a:solidFill>
              <a:latin typeface="Open Sans"/>
              <a:ea typeface="Open Sans"/>
              <a:cs typeface="Open Sans"/>
            </a:endParaRPr>
          </a:p>
        </p:txBody>
      </p:sp>
      <p:sp>
        <p:nvSpPr>
          <p:cNvPr id="21" name="Rectangle 20"/>
          <p:cNvSpPr/>
          <p:nvPr/>
        </p:nvSpPr>
        <p:spPr>
          <a:xfrm>
            <a:off x="8686800" y="1792224"/>
            <a:ext cx="3063240" cy="1865376"/>
          </a:xfrm>
          <a:prstGeom prst="rect">
            <a:avLst/>
          </a:prstGeom>
          <a:solidFill>
            <a:srgbClr val="FFF7F7"/>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28016" rIns="128016" bIns="128016" rtlCol="0" anchor="t"/>
          <a:lstStyle/>
          <a:p>
            <a:pPr marL="237490" indent="-201295" algn="l">
              <a:spcAft>
                <a:spcPts val="200"/>
              </a:spcAft>
              <a:buClr>
                <a:srgbClr val="BB2019"/>
              </a:buClr>
              <a:buFont typeface="Arial" panose="020B0604020202020204"/>
              <a:buChar char="•"/>
            </a:pPr>
            <a:r>
              <a:rPr sz="1300">
                <a:solidFill>
                  <a:srgbClr val="262626"/>
                </a:solidFill>
                <a:latin typeface="Open Sans"/>
                <a:ea typeface="Open Sans"/>
                <a:cs typeface="Open Sans"/>
              </a:rPr>
              <a:t>Chỉ worker đó bị treo</a:t>
            </a:r>
            <a:endParaRPr sz="1300">
              <a:solidFill>
                <a:srgbClr val="262626"/>
              </a:solidFill>
              <a:latin typeface="Open Sans"/>
              <a:ea typeface="Open Sans"/>
              <a:cs typeface="Open Sans"/>
            </a:endParaRPr>
          </a:p>
          <a:p>
            <a:pPr marL="237490" indent="-201295" algn="l">
              <a:spcAft>
                <a:spcPts val="200"/>
              </a:spcAft>
              <a:buClr>
                <a:srgbClr val="BB2019"/>
              </a:buClr>
              <a:buFont typeface="Arial" panose="020B0604020202020204"/>
              <a:buChar char="•"/>
            </a:pPr>
            <a:r>
              <a:rPr sz="1300">
                <a:solidFill>
                  <a:srgbClr val="262626"/>
                </a:solidFill>
                <a:latin typeface="Open Sans"/>
                <a:ea typeface="Open Sans"/>
                <a:cs typeface="Open Sans"/>
              </a:rPr>
              <a:t>Dispatcher hoặc worker khác được lập lịch</a:t>
            </a:r>
            <a:endParaRPr sz="1300">
              <a:solidFill>
                <a:srgbClr val="262626"/>
              </a:solidFill>
              <a:latin typeface="Open Sans"/>
              <a:ea typeface="Open Sans"/>
              <a:cs typeface="Open Sans"/>
            </a:endParaRPr>
          </a:p>
          <a:p>
            <a:pPr marL="237490" indent="-201295" algn="l">
              <a:spcAft>
                <a:spcPts val="200"/>
              </a:spcAft>
              <a:buClr>
                <a:srgbClr val="BB2019"/>
              </a:buClr>
              <a:buFont typeface="Arial" panose="020B0604020202020204"/>
              <a:buChar char="•"/>
            </a:pPr>
            <a:r>
              <a:rPr sz="1300">
                <a:solidFill>
                  <a:srgbClr val="262626"/>
                </a:solidFill>
                <a:latin typeface="Open Sans"/>
                <a:ea typeface="Open Sans"/>
                <a:cs typeface="Open Sans"/>
              </a:rPr>
              <a:t>Mỗi worker viết tuần tự, dễ hiểu</a:t>
            </a:r>
            <a:endParaRPr sz="1300">
              <a:solidFill>
                <a:srgbClr val="262626"/>
              </a:solidFill>
              <a:latin typeface="Open Sans"/>
              <a:ea typeface="Open Sans"/>
              <a:cs typeface="Open Sans"/>
            </a:endParaRPr>
          </a:p>
        </p:txBody>
      </p:sp>
      <p:sp>
        <p:nvSpPr>
          <p:cNvPr id="22" name="Rectangle 21"/>
          <p:cNvSpPr/>
          <p:nvPr/>
        </p:nvSpPr>
        <p:spPr>
          <a:xfrm>
            <a:off x="8686800" y="3840480"/>
            <a:ext cx="3063240" cy="42062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28016" rIns="128016" bIns="128016" rtlCol="0" anchor="ctr"/>
          <a:lstStyle/>
          <a:p>
            <a:pPr algn="l">
              <a:spcAft>
                <a:spcPts val="200"/>
              </a:spcAft>
            </a:pPr>
            <a:r>
              <a:rPr sz="1400" b="1">
                <a:solidFill>
                  <a:srgbClr val="FFFFFF"/>
                </a:solidFill>
                <a:latin typeface="Open Sans"/>
                <a:ea typeface="Open Sans"/>
                <a:cs typeface="Open Sans"/>
              </a:rPr>
              <a:t>Nếu không có luồng</a:t>
            </a:r>
            <a:endParaRPr sz="1400" b="1">
              <a:solidFill>
                <a:srgbClr val="FFFFFF"/>
              </a:solidFill>
              <a:latin typeface="Open Sans"/>
              <a:ea typeface="Open Sans"/>
              <a:cs typeface="Open Sans"/>
            </a:endParaRPr>
          </a:p>
        </p:txBody>
      </p:sp>
      <p:sp>
        <p:nvSpPr>
          <p:cNvPr id="23" name="Rectangle 22"/>
          <p:cNvSpPr/>
          <p:nvPr/>
        </p:nvSpPr>
        <p:spPr>
          <a:xfrm>
            <a:off x="8686800" y="4261104"/>
            <a:ext cx="3063240" cy="1773936"/>
          </a:xfrm>
          <a:prstGeom prst="rect">
            <a:avLst/>
          </a:prstGeom>
          <a:solidFill>
            <a:srgbClr val="FFF7F7"/>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28016" rIns="128016" bIns="128016" rtlCol="0" anchor="t"/>
          <a:lstStyle/>
          <a:p>
            <a:pPr marL="237490" indent="-201295" algn="l">
              <a:spcAft>
                <a:spcPts val="200"/>
              </a:spcAft>
              <a:buClr>
                <a:srgbClr val="BB2019"/>
              </a:buClr>
              <a:buFont typeface="Arial" panose="020B0604020202020204"/>
              <a:buChar char="•"/>
            </a:pPr>
            <a:r>
              <a:rPr sz="1300">
                <a:solidFill>
                  <a:srgbClr val="262626"/>
                </a:solidFill>
                <a:latin typeface="Open Sans"/>
                <a:ea typeface="Open Sans"/>
                <a:cs typeface="Open Sans"/>
              </a:rPr>
              <a:t>Xử lý trọn từng yêu cầu</a:t>
            </a:r>
            <a:endParaRPr sz="1300">
              <a:solidFill>
                <a:srgbClr val="262626"/>
              </a:solidFill>
              <a:latin typeface="Open Sans"/>
              <a:ea typeface="Open Sans"/>
              <a:cs typeface="Open Sans"/>
            </a:endParaRPr>
          </a:p>
          <a:p>
            <a:pPr marL="237490" indent="-201295" algn="l">
              <a:spcAft>
                <a:spcPts val="200"/>
              </a:spcAft>
              <a:buClr>
                <a:srgbClr val="BB2019"/>
              </a:buClr>
              <a:buFont typeface="Arial" panose="020B0604020202020204"/>
              <a:buChar char="•"/>
            </a:pPr>
            <a:r>
              <a:rPr sz="1300">
                <a:solidFill>
                  <a:srgbClr val="262626"/>
                </a:solidFill>
                <a:latin typeface="Open Sans"/>
                <a:ea typeface="Open Sans"/>
                <a:cs typeface="Open Sans"/>
              </a:rPr>
              <a:t>Chờ đĩa thì CPU nhàn rỗi</a:t>
            </a:r>
            <a:endParaRPr sz="1300">
              <a:solidFill>
                <a:srgbClr val="262626"/>
              </a:solidFill>
              <a:latin typeface="Open Sans"/>
              <a:ea typeface="Open Sans"/>
              <a:cs typeface="Open Sans"/>
            </a:endParaRPr>
          </a:p>
          <a:p>
            <a:pPr marL="237490" indent="-201295" algn="l">
              <a:spcAft>
                <a:spcPts val="200"/>
              </a:spcAft>
              <a:buClr>
                <a:srgbClr val="BB2019"/>
              </a:buClr>
              <a:buFont typeface="Arial" panose="020B0604020202020204"/>
              <a:buChar char="•"/>
            </a:pPr>
            <a:r>
              <a:rPr sz="1300">
                <a:solidFill>
                  <a:srgbClr val="262626"/>
                </a:solidFill>
                <a:latin typeface="Open Sans"/>
                <a:ea typeface="Open Sans"/>
                <a:cs typeface="Open Sans"/>
              </a:rPr>
              <a:t>Ít yêu cầu/giây hơn hẳn</a:t>
            </a:r>
            <a:endParaRPr sz="1300">
              <a:solidFill>
                <a:srgbClr val="262626"/>
              </a:solidFill>
              <a:latin typeface="Open Sans"/>
              <a:ea typeface="Open Sans"/>
              <a:cs typeface="Open Sans"/>
            </a:endParaRPr>
          </a:p>
        </p:txBody>
      </p:sp>
      <p:sp>
        <p:nvSpPr>
          <p:cNvPr id="24" name="Rounded Rectangle 23"/>
          <p:cNvSpPr/>
          <p:nvPr/>
        </p:nvSpPr>
        <p:spPr>
          <a:xfrm>
            <a:off x="10744200" y="347472"/>
            <a:ext cx="1005840" cy="292608"/>
          </a:xfrm>
          <a:prstGeom prst="roundRect">
            <a:avLst>
              <a:gd name="adj" fmla="val 50000"/>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spcAft>
                <a:spcPts val="200"/>
              </a:spcAft>
            </a:pPr>
            <a:r>
              <a:rPr sz="1150" b="1">
                <a:solidFill>
                  <a:srgbClr val="FFFFFF"/>
                </a:solidFill>
                <a:latin typeface="Open Sans"/>
                <a:ea typeface="Open Sans"/>
                <a:cs typeface="Open Sans"/>
              </a:rPr>
              <a:t>Demo 03</a:t>
            </a:r>
            <a:endParaRPr sz="1150" b="1">
              <a:solidFill>
                <a:srgbClr val="FFFFFF"/>
              </a:solidFill>
              <a:latin typeface="Open Sans"/>
              <a:ea typeface="Open Sans"/>
              <a:cs typeface="Open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Ba cách xây dựng server</a:t>
            </a:r>
          </a:p>
        </p:txBody>
      </p:sp>
      <p:sp>
        <p:nvSpPr>
          <p:cNvPr id="3" name="Text Placeholder 2"/>
          <p:cNvSpPr>
            <a:spLocks noGrp="1"/>
          </p:cNvSpPr>
          <p:nvPr>
            <p:ph type="body" sz="quarter" idx="13"/>
          </p:nvPr>
        </p:nvSpPr>
        <p:spPr/>
        <p:txBody>
          <a:bodyPr/>
          <a:lstStyle/>
          <a:p>
            <a:r>
              <a:t>Hình 3.7 · đánh đổi giữa sự đơn giản của lời gọi chặn và song song</a:t>
            </a:r>
          </a:p>
        </p:txBody>
      </p:sp>
      <p:sp>
        <p:nvSpPr>
          <p:cNvPr id="4" name="Slide Number Placeholder 3"/>
          <p:cNvSpPr>
            <a:spLocks noGrp="1"/>
          </p:cNvSpPr>
          <p:nvPr>
            <p:ph type="sldNum" sz="quarter" idx="12"/>
          </p:nvPr>
        </p:nvSpPr>
        <p:spPr/>
        <p:txBody>
          <a:bodyPr/>
          <a:lstStyle/>
          <a:p>
            <a:fld id="{D92DDFE6-74DA-46A1-A171-CE3314B0D579}" type="slidenum">
              <a:rPr lang="en-US" smtClean="0"/>
            </a:fld>
            <a:endParaRPr lang="en-US" dirty="0"/>
          </a:p>
        </p:txBody>
      </p:sp>
      <p:sp>
        <p:nvSpPr>
          <p:cNvPr id="5" name="Date Placeholder 4"/>
          <p:cNvSpPr>
            <a:spLocks noGrp="1"/>
          </p:cNvSpPr>
          <p:nvPr>
            <p:ph type="dt" sz="half" idx="10"/>
          </p:nvPr>
        </p:nvSpPr>
        <p:spPr/>
        <p:txBody>
          <a:bodyPr/>
          <a:lstStyle/>
          <a:p>
            <a:fld id="{2933FCAF-43A6-4F1B-B43D-A70C2A597932}" type="datetime1">
              <a:rPr lang="vi-VN" smtClean="0"/>
            </a:fld>
            <a:endParaRPr lang="en-US"/>
          </a:p>
        </p:txBody>
      </p:sp>
      <p:sp>
        <p:nvSpPr>
          <p:cNvPr id="6" name="Footer Placeholder 5"/>
          <p:cNvSpPr>
            <a:spLocks noGrp="1"/>
          </p:cNvSpPr>
          <p:nvPr>
            <p:ph type="ftr" sz="quarter" idx="11"/>
          </p:nvPr>
        </p:nvSpPr>
        <p:spPr/>
        <p:txBody>
          <a:bodyPr/>
          <a:lstStyle/>
          <a:p>
            <a:r>
              <a:rPr lang="en-US"/>
              <a:t>Chương 3 · Tiến trình: Luồng &amp; Ảo hoá</a:t>
            </a:r>
            <a:endParaRPr lang="en-US" dirty="0"/>
          </a:p>
        </p:txBody>
      </p:sp>
      <p:graphicFrame>
        <p:nvGraphicFramePr>
          <p:cNvPr id="7" name="Table 6"/>
          <p:cNvGraphicFramePr>
            <a:graphicFrameLocks noGrp="1"/>
          </p:cNvGraphicFramePr>
          <p:nvPr/>
        </p:nvGraphicFramePr>
        <p:xfrm>
          <a:off x="457200" y="1325880"/>
          <a:ext cx="11292839" cy="2011680"/>
        </p:xfrm>
        <a:graphic>
          <a:graphicData uri="http://schemas.openxmlformats.org/drawingml/2006/table">
            <a:tbl>
              <a:tblPr firstRow="1" bandRow="1">
                <a:tableStyleId>{C083E6E3-FA7D-4D7B-A595-EF9225AFEA82}</a:tableStyleId>
              </a:tblPr>
              <a:tblGrid>
                <a:gridCol w="2743200"/>
                <a:gridCol w="3291840"/>
                <a:gridCol w="3108959"/>
                <a:gridCol w="2148840"/>
              </a:tblGrid>
              <a:tr h="502920">
                <a:tc>
                  <a:txBody>
                    <a:bodyPr wrap="square"/>
                    <a:lstStyle/>
                    <a:p>
                      <a:r>
                        <a:rPr sz="1400" b="1">
                          <a:solidFill>
                            <a:srgbClr val="BB2019"/>
                          </a:solidFill>
                          <a:latin typeface="Open Sans"/>
                          <a:ea typeface="Open Sans"/>
                          <a:cs typeface="Open Sans"/>
                        </a:rPr>
                        <a:t>Mô hình</a:t>
                      </a:r>
                      <a:endParaRPr sz="1400" b="1">
                        <a:solidFill>
                          <a:srgbClr val="BB2019"/>
                        </a:solidFill>
                        <a:latin typeface="Open Sans"/>
                        <a:ea typeface="Open Sans"/>
                        <a:cs typeface="Open Sans"/>
                      </a:endParaRPr>
                    </a:p>
                  </a:txBody>
                  <a:tcPr marL="73152" marR="73152" marT="27432" marB="27432" anchor="ctr"/>
                </a:tc>
                <a:tc>
                  <a:txBody>
                    <a:bodyPr wrap="square"/>
                    <a:lstStyle/>
                    <a:p>
                      <a:r>
                        <a:rPr sz="1400" b="1">
                          <a:solidFill>
                            <a:srgbClr val="BB2019"/>
                          </a:solidFill>
                          <a:latin typeface="Open Sans"/>
                          <a:ea typeface="Open Sans"/>
                          <a:cs typeface="Open Sans"/>
                        </a:rPr>
                        <a:t>Đặc điểm</a:t>
                      </a:r>
                      <a:endParaRPr sz="1400" b="1">
                        <a:solidFill>
                          <a:srgbClr val="BB2019"/>
                        </a:solidFill>
                        <a:latin typeface="Open Sans"/>
                        <a:ea typeface="Open Sans"/>
                        <a:cs typeface="Open Sans"/>
                      </a:endParaRPr>
                    </a:p>
                  </a:txBody>
                  <a:tcPr marL="73152" marR="73152" marT="27432" marB="27432" anchor="ctr"/>
                </a:tc>
                <a:tc>
                  <a:txBody>
                    <a:bodyPr wrap="square"/>
                    <a:lstStyle/>
                    <a:p>
                      <a:r>
                        <a:rPr sz="1400" b="1">
                          <a:solidFill>
                            <a:srgbClr val="BB2019"/>
                          </a:solidFill>
                          <a:latin typeface="Open Sans"/>
                          <a:ea typeface="Open Sans"/>
                          <a:cs typeface="Open Sans"/>
                        </a:rPr>
                        <a:t>Lập trình</a:t>
                      </a:r>
                      <a:endParaRPr sz="1400" b="1">
                        <a:solidFill>
                          <a:srgbClr val="BB2019"/>
                        </a:solidFill>
                        <a:latin typeface="Open Sans"/>
                        <a:ea typeface="Open Sans"/>
                        <a:cs typeface="Open Sans"/>
                      </a:endParaRPr>
                    </a:p>
                  </a:txBody>
                  <a:tcPr marL="73152" marR="73152" marT="27432" marB="27432" anchor="ctr"/>
                </a:tc>
                <a:tc>
                  <a:txBody>
                    <a:bodyPr wrap="square"/>
                    <a:lstStyle/>
                    <a:p>
                      <a:r>
                        <a:rPr sz="1400" b="1">
                          <a:solidFill>
                            <a:srgbClr val="BB2019"/>
                          </a:solidFill>
                          <a:latin typeface="Open Sans"/>
                          <a:ea typeface="Open Sans"/>
                          <a:cs typeface="Open Sans"/>
                        </a:rPr>
                        <a:t>Hiệu năng</a:t>
                      </a:r>
                      <a:endParaRPr sz="1400" b="1">
                        <a:solidFill>
                          <a:srgbClr val="BB2019"/>
                        </a:solidFill>
                        <a:latin typeface="Open Sans"/>
                        <a:ea typeface="Open Sans"/>
                        <a:cs typeface="Open Sans"/>
                      </a:endParaRPr>
                    </a:p>
                  </a:txBody>
                  <a:tcPr marL="73152" marR="73152" marT="27432" marB="27432" anchor="ctr"/>
                </a:tc>
              </a:tr>
              <a:tr h="502920">
                <a:tc>
                  <a:txBody>
                    <a:bodyPr wrap="square"/>
                    <a:lstStyle/>
                    <a:p>
                      <a:r>
                        <a:rPr sz="1400" b="1">
                          <a:solidFill>
                            <a:srgbClr val="262626"/>
                          </a:solidFill>
                          <a:latin typeface="Open Sans"/>
                          <a:ea typeface="Open Sans"/>
                          <a:cs typeface="Open Sans"/>
                        </a:rPr>
                        <a:t>Đa luồng (multithreading)</a:t>
                      </a:r>
                      <a:endParaRPr sz="1400" b="1">
                        <a:solidFill>
                          <a:srgbClr val="262626"/>
                        </a:solidFill>
                        <a:latin typeface="Open Sans"/>
                        <a:ea typeface="Open Sans"/>
                        <a:cs typeface="Open Sans"/>
                      </a:endParaRPr>
                    </a:p>
                  </a:txBody>
                  <a:tcPr marL="73152" marR="73152" marT="27432" marB="27432" anchor="ctr"/>
                </a:tc>
                <a:tc>
                  <a:txBody>
                    <a:bodyPr wrap="square"/>
                    <a:lstStyle/>
                    <a:p>
                      <a:r>
                        <a:rPr sz="1400" b="0">
                          <a:solidFill>
                            <a:srgbClr val="262626"/>
                          </a:solidFill>
                          <a:latin typeface="Open Sans"/>
                          <a:ea typeface="Open Sans"/>
                          <a:cs typeface="Open Sans"/>
                        </a:rPr>
                        <a:t>Song song, lời gọi hệ thống chặn</a:t>
                      </a:r>
                      <a:endParaRPr sz="1400" b="0">
                        <a:solidFill>
                          <a:srgbClr val="262626"/>
                        </a:solidFill>
                        <a:latin typeface="Open Sans"/>
                        <a:ea typeface="Open Sans"/>
                        <a:cs typeface="Open Sans"/>
                      </a:endParaRPr>
                    </a:p>
                  </a:txBody>
                  <a:tcPr marL="73152" marR="73152" marT="27432" marB="27432" anchor="ctr"/>
                </a:tc>
                <a:tc>
                  <a:txBody>
                    <a:bodyPr wrap="square"/>
                    <a:lstStyle/>
                    <a:p>
                      <a:r>
                        <a:rPr sz="1400" b="0">
                          <a:solidFill>
                            <a:srgbClr val="262626"/>
                          </a:solidFill>
                          <a:latin typeface="Open Sans"/>
                          <a:ea typeface="Open Sans"/>
                          <a:cs typeface="Open Sans"/>
                        </a:rPr>
                        <a:t>Dễ: mỗi luồng là mã tuần tự</a:t>
                      </a:r>
                      <a:endParaRPr sz="1400" b="0">
                        <a:solidFill>
                          <a:srgbClr val="262626"/>
                        </a:solidFill>
                        <a:latin typeface="Open Sans"/>
                        <a:ea typeface="Open Sans"/>
                        <a:cs typeface="Open Sans"/>
                      </a:endParaRPr>
                    </a:p>
                  </a:txBody>
                  <a:tcPr marL="73152" marR="73152" marT="27432" marB="27432" anchor="ctr"/>
                </a:tc>
                <a:tc>
                  <a:txBody>
                    <a:bodyPr wrap="square"/>
                    <a:lstStyle/>
                    <a:p>
                      <a:r>
                        <a:rPr sz="1400" b="0">
                          <a:solidFill>
                            <a:srgbClr val="262626"/>
                          </a:solidFill>
                          <a:latin typeface="Open Sans"/>
                          <a:ea typeface="Open Sans"/>
                          <a:cs typeface="Open Sans"/>
                        </a:rPr>
                        <a:t>Cao</a:t>
                      </a:r>
                      <a:endParaRPr sz="1400" b="0">
                        <a:solidFill>
                          <a:srgbClr val="262626"/>
                        </a:solidFill>
                        <a:latin typeface="Open Sans"/>
                        <a:ea typeface="Open Sans"/>
                        <a:cs typeface="Open Sans"/>
                      </a:endParaRPr>
                    </a:p>
                  </a:txBody>
                  <a:tcPr marL="73152" marR="73152" marT="27432" marB="27432" anchor="ctr"/>
                </a:tc>
              </a:tr>
              <a:tr h="502920">
                <a:tc>
                  <a:txBody>
                    <a:bodyPr wrap="square"/>
                    <a:lstStyle/>
                    <a:p>
                      <a:r>
                        <a:rPr sz="1400" b="1">
                          <a:solidFill>
                            <a:srgbClr val="262626"/>
                          </a:solidFill>
                          <a:latin typeface="Open Sans"/>
                          <a:ea typeface="Open Sans"/>
                          <a:cs typeface="Open Sans"/>
                        </a:rPr>
                        <a:t>Tiến trình đơn luồng</a:t>
                      </a:r>
                      <a:endParaRPr sz="1400" b="1">
                        <a:solidFill>
                          <a:srgbClr val="262626"/>
                        </a:solidFill>
                        <a:latin typeface="Open Sans"/>
                        <a:ea typeface="Open Sans"/>
                        <a:cs typeface="Open Sans"/>
                      </a:endParaRPr>
                    </a:p>
                  </a:txBody>
                  <a:tcPr marL="73152" marR="73152" marT="27432" marB="27432" anchor="ctr"/>
                </a:tc>
                <a:tc>
                  <a:txBody>
                    <a:bodyPr wrap="square"/>
                    <a:lstStyle/>
                    <a:p>
                      <a:r>
                        <a:rPr sz="1400" b="0">
                          <a:solidFill>
                            <a:srgbClr val="262626"/>
                          </a:solidFill>
                          <a:latin typeface="Open Sans"/>
                          <a:ea typeface="Open Sans"/>
                          <a:cs typeface="Open Sans"/>
                        </a:rPr>
                        <a:t>Không song song, lời gọi chặn</a:t>
                      </a:r>
                      <a:endParaRPr sz="1400" b="0">
                        <a:solidFill>
                          <a:srgbClr val="262626"/>
                        </a:solidFill>
                        <a:latin typeface="Open Sans"/>
                        <a:ea typeface="Open Sans"/>
                        <a:cs typeface="Open Sans"/>
                      </a:endParaRPr>
                    </a:p>
                  </a:txBody>
                  <a:tcPr marL="73152" marR="73152" marT="27432" marB="27432" anchor="ctr"/>
                </a:tc>
                <a:tc>
                  <a:txBody>
                    <a:bodyPr wrap="square"/>
                    <a:lstStyle/>
                    <a:p>
                      <a:r>
                        <a:rPr sz="1400" b="0">
                          <a:solidFill>
                            <a:srgbClr val="262626"/>
                          </a:solidFill>
                          <a:latin typeface="Open Sans"/>
                          <a:ea typeface="Open Sans"/>
                          <a:cs typeface="Open Sans"/>
                        </a:rPr>
                        <a:t>Dễ nhất</a:t>
                      </a:r>
                      <a:endParaRPr sz="1400" b="0">
                        <a:solidFill>
                          <a:srgbClr val="262626"/>
                        </a:solidFill>
                        <a:latin typeface="Open Sans"/>
                        <a:ea typeface="Open Sans"/>
                        <a:cs typeface="Open Sans"/>
                      </a:endParaRPr>
                    </a:p>
                  </a:txBody>
                  <a:tcPr marL="73152" marR="73152" marT="27432" marB="27432" anchor="ctr"/>
                </a:tc>
                <a:tc>
                  <a:txBody>
                    <a:bodyPr wrap="square"/>
                    <a:lstStyle/>
                    <a:p>
                      <a:r>
                        <a:rPr sz="1400" b="0">
                          <a:solidFill>
                            <a:srgbClr val="262626"/>
                          </a:solidFill>
                          <a:latin typeface="Open Sans"/>
                          <a:ea typeface="Open Sans"/>
                          <a:cs typeface="Open Sans"/>
                        </a:rPr>
                        <a:t>Thấp: CPU rảnh khi chờ I/O</a:t>
                      </a:r>
                      <a:endParaRPr sz="1400" b="0">
                        <a:solidFill>
                          <a:srgbClr val="262626"/>
                        </a:solidFill>
                        <a:latin typeface="Open Sans"/>
                        <a:ea typeface="Open Sans"/>
                        <a:cs typeface="Open Sans"/>
                      </a:endParaRPr>
                    </a:p>
                  </a:txBody>
                  <a:tcPr marL="73152" marR="73152" marT="27432" marB="27432" anchor="ctr"/>
                </a:tc>
              </a:tr>
              <a:tr h="502920">
                <a:tc>
                  <a:txBody>
                    <a:bodyPr wrap="square"/>
                    <a:lstStyle/>
                    <a:p>
                      <a:r>
                        <a:rPr sz="1400" b="1">
                          <a:solidFill>
                            <a:srgbClr val="262626"/>
                          </a:solidFill>
                          <a:latin typeface="Open Sans"/>
                          <a:ea typeface="Open Sans"/>
                          <a:cs typeface="Open Sans"/>
                        </a:rPr>
                        <a:t>Máy trạng thái hữu hạn</a:t>
                      </a:r>
                      <a:endParaRPr sz="1400" b="1">
                        <a:solidFill>
                          <a:srgbClr val="262626"/>
                        </a:solidFill>
                        <a:latin typeface="Open Sans"/>
                        <a:ea typeface="Open Sans"/>
                        <a:cs typeface="Open Sans"/>
                      </a:endParaRPr>
                    </a:p>
                  </a:txBody>
                  <a:tcPr marL="73152" marR="73152" marT="27432" marB="27432" anchor="ctr"/>
                </a:tc>
                <a:tc>
                  <a:txBody>
                    <a:bodyPr wrap="square"/>
                    <a:lstStyle/>
                    <a:p>
                      <a:r>
                        <a:rPr sz="1400" b="0">
                          <a:solidFill>
                            <a:srgbClr val="262626"/>
                          </a:solidFill>
                          <a:latin typeface="Open Sans"/>
                          <a:ea typeface="Open Sans"/>
                          <a:cs typeface="Open Sans"/>
                        </a:rPr>
                        <a:t>Song song, lời gọi không chặn</a:t>
                      </a:r>
                      <a:endParaRPr sz="1400" b="0">
                        <a:solidFill>
                          <a:srgbClr val="262626"/>
                        </a:solidFill>
                        <a:latin typeface="Open Sans"/>
                        <a:ea typeface="Open Sans"/>
                        <a:cs typeface="Open Sans"/>
                      </a:endParaRPr>
                    </a:p>
                  </a:txBody>
                  <a:tcPr marL="73152" marR="73152" marT="27432" marB="27432" anchor="ctr"/>
                </a:tc>
                <a:tc>
                  <a:txBody>
                    <a:bodyPr wrap="square"/>
                    <a:lstStyle/>
                    <a:p>
                      <a:r>
                        <a:rPr sz="1400" b="0">
                          <a:solidFill>
                            <a:srgbClr val="262626"/>
                          </a:solidFill>
                          <a:latin typeface="Open Sans"/>
                          <a:ea typeface="Open Sans"/>
                          <a:cs typeface="Open Sans"/>
                        </a:rPr>
                        <a:t>Khó: tự lưu trạng thái từng yêu cầu</a:t>
                      </a:r>
                      <a:endParaRPr sz="1400" b="0">
                        <a:solidFill>
                          <a:srgbClr val="262626"/>
                        </a:solidFill>
                        <a:latin typeface="Open Sans"/>
                        <a:ea typeface="Open Sans"/>
                        <a:cs typeface="Open Sans"/>
                      </a:endParaRPr>
                    </a:p>
                  </a:txBody>
                  <a:tcPr marL="73152" marR="73152" marT="27432" marB="27432" anchor="ctr"/>
                </a:tc>
                <a:tc>
                  <a:txBody>
                    <a:bodyPr wrap="square"/>
                    <a:lstStyle/>
                    <a:p>
                      <a:r>
                        <a:rPr sz="1400" b="0">
                          <a:solidFill>
                            <a:srgbClr val="262626"/>
                          </a:solidFill>
                          <a:latin typeface="Open Sans"/>
                          <a:ea typeface="Open Sans"/>
                          <a:cs typeface="Open Sans"/>
                        </a:rPr>
                        <a:t>Cao</a:t>
                      </a:r>
                      <a:endParaRPr sz="1400" b="0">
                        <a:solidFill>
                          <a:srgbClr val="262626"/>
                        </a:solidFill>
                        <a:latin typeface="Open Sans"/>
                        <a:ea typeface="Open Sans"/>
                        <a:cs typeface="Open Sans"/>
                      </a:endParaRPr>
                    </a:p>
                  </a:txBody>
                  <a:tcPr marL="73152" marR="73152" marT="27432" marB="27432" anchor="ctr"/>
                </a:tc>
              </a:tr>
            </a:tbl>
          </a:graphicData>
        </a:graphic>
      </p:graphicFrame>
      <p:sp>
        <p:nvSpPr>
          <p:cNvPr id="8" name="Rectangle 7"/>
          <p:cNvSpPr/>
          <p:nvPr/>
        </p:nvSpPr>
        <p:spPr>
          <a:xfrm>
            <a:off x="457200" y="3611880"/>
            <a:ext cx="5486400" cy="2651760"/>
          </a:xfrm>
          <a:prstGeom prst="rect">
            <a:avLst/>
          </a:prstGeom>
          <a:solidFill>
            <a:srgbClr val="FFF7F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9" name="Oval 8"/>
          <p:cNvSpPr/>
          <p:nvPr/>
        </p:nvSpPr>
        <p:spPr>
          <a:xfrm>
            <a:off x="640080" y="3794760"/>
            <a:ext cx="420624" cy="420624"/>
          </a:xfrm>
          <a:prstGeom prst="ellipse">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600" b="1">
                <a:solidFill>
                  <a:srgbClr val="FFFFFF"/>
                </a:solidFill>
                <a:latin typeface="Open Sans"/>
                <a:ea typeface="Open Sans"/>
                <a:cs typeface="Open Sans"/>
              </a:rPr>
              <a:t>1</a:t>
            </a:r>
            <a:endParaRPr sz="1600" b="1">
              <a:solidFill>
                <a:srgbClr val="FFFFFF"/>
              </a:solidFill>
              <a:latin typeface="Open Sans"/>
              <a:ea typeface="Open Sans"/>
              <a:cs typeface="Open Sans"/>
            </a:endParaRPr>
          </a:p>
        </p:txBody>
      </p:sp>
      <p:sp>
        <p:nvSpPr>
          <p:cNvPr id="10" name="TextBox 9"/>
          <p:cNvSpPr txBox="1"/>
          <p:nvPr/>
        </p:nvSpPr>
        <p:spPr>
          <a:xfrm>
            <a:off x="1188720" y="3749039"/>
            <a:ext cx="4572000" cy="502920"/>
          </a:xfrm>
          <a:prstGeom prst="rect">
            <a:avLst/>
          </a:prstGeom>
          <a:noFill/>
        </p:spPr>
        <p:txBody>
          <a:bodyPr wrap="square" lIns="36576" tIns="36576" rIns="36576" bIns="36576" anchor="ctr">
            <a:spAutoFit/>
          </a:bodyPr>
          <a:lstStyle/>
          <a:p>
            <a:pPr algn="l">
              <a:spcAft>
                <a:spcPts val="400"/>
              </a:spcAft>
            </a:pPr>
            <a:r>
              <a:rPr sz="1700" b="1">
                <a:solidFill>
                  <a:srgbClr val="BB2019"/>
                </a:solidFill>
                <a:latin typeface="Open Sans"/>
                <a:ea typeface="Open Sans"/>
                <a:cs typeface="Open Sans"/>
              </a:rPr>
              <a:t>Máy trạng thái hữu hạn</a:t>
            </a:r>
            <a:endParaRPr sz="1700" b="1">
              <a:solidFill>
                <a:srgbClr val="BB2019"/>
              </a:solidFill>
              <a:latin typeface="Open Sans"/>
              <a:ea typeface="Open Sans"/>
              <a:cs typeface="Open Sans"/>
            </a:endParaRPr>
          </a:p>
        </p:txBody>
      </p:sp>
      <p:sp>
        <p:nvSpPr>
          <p:cNvPr id="11" name="TextBox 10"/>
          <p:cNvSpPr txBox="1"/>
          <p:nvPr/>
        </p:nvSpPr>
        <p:spPr>
          <a:xfrm>
            <a:off x="640080" y="4389120"/>
            <a:ext cx="5120640" cy="1783080"/>
          </a:xfrm>
          <a:prstGeom prst="rect">
            <a:avLst/>
          </a:prstGeom>
          <a:noFill/>
        </p:spPr>
        <p:txBody>
          <a:bodyPr wrap="square" lIns="36576" tIns="36576" rIns="36576" bIns="36576" anchor="t">
            <a:spAutoFit/>
          </a:bodyPr>
          <a:lstStyle/>
          <a:p>
            <a:pPr algn="l">
              <a:spcAft>
                <a:spcPts val="400"/>
              </a:spcAft>
            </a:pPr>
            <a:r>
              <a:rPr sz="1400">
                <a:solidFill>
                  <a:srgbClr val="262626"/>
                </a:solidFill>
                <a:latin typeface="Open Sans"/>
                <a:ea typeface="Open Sans"/>
                <a:cs typeface="Open Sans"/>
              </a:rPr>
              <a:t>Một luồng nhận sự kiện, phát lệnh I/O không chặn, ghi nhớ trạng thái rồi phục vụ yêu cầu khác. Đây là mô hình của Node.js — nền tảng của toàn bộ hệ thống đặt vé.</a:t>
            </a:r>
            <a:endParaRPr sz="1400">
              <a:solidFill>
                <a:srgbClr val="262626"/>
              </a:solidFill>
              <a:latin typeface="Open Sans"/>
              <a:ea typeface="Open Sans"/>
              <a:cs typeface="Open Sans"/>
            </a:endParaRPr>
          </a:p>
        </p:txBody>
      </p:sp>
      <p:sp>
        <p:nvSpPr>
          <p:cNvPr id="12" name="Rectangle 11"/>
          <p:cNvSpPr/>
          <p:nvPr/>
        </p:nvSpPr>
        <p:spPr>
          <a:xfrm>
            <a:off x="6172200" y="3611880"/>
            <a:ext cx="5486400" cy="2651760"/>
          </a:xfrm>
          <a:prstGeom prst="rect">
            <a:avLst/>
          </a:prstGeom>
          <a:solidFill>
            <a:srgbClr val="FFF7F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13" name="Oval 12"/>
          <p:cNvSpPr/>
          <p:nvPr/>
        </p:nvSpPr>
        <p:spPr>
          <a:xfrm>
            <a:off x="6355080" y="3794760"/>
            <a:ext cx="420624" cy="420624"/>
          </a:xfrm>
          <a:prstGeom prst="ellipse">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600" b="1">
                <a:solidFill>
                  <a:srgbClr val="FFFFFF"/>
                </a:solidFill>
                <a:latin typeface="Open Sans"/>
                <a:ea typeface="Open Sans"/>
                <a:cs typeface="Open Sans"/>
              </a:rPr>
              <a:t>2</a:t>
            </a:r>
            <a:endParaRPr sz="1600" b="1">
              <a:solidFill>
                <a:srgbClr val="FFFFFF"/>
              </a:solidFill>
              <a:latin typeface="Open Sans"/>
              <a:ea typeface="Open Sans"/>
              <a:cs typeface="Open Sans"/>
            </a:endParaRPr>
          </a:p>
        </p:txBody>
      </p:sp>
      <p:sp>
        <p:nvSpPr>
          <p:cNvPr id="14" name="TextBox 13"/>
          <p:cNvSpPr txBox="1"/>
          <p:nvPr/>
        </p:nvSpPr>
        <p:spPr>
          <a:xfrm>
            <a:off x="6903720" y="3749039"/>
            <a:ext cx="4572000" cy="502920"/>
          </a:xfrm>
          <a:prstGeom prst="rect">
            <a:avLst/>
          </a:prstGeom>
          <a:noFill/>
        </p:spPr>
        <p:txBody>
          <a:bodyPr wrap="square" lIns="36576" tIns="36576" rIns="36576" bIns="36576" anchor="ctr">
            <a:spAutoFit/>
          </a:bodyPr>
          <a:lstStyle/>
          <a:p>
            <a:pPr algn="l">
              <a:spcAft>
                <a:spcPts val="400"/>
              </a:spcAft>
            </a:pPr>
            <a:r>
              <a:rPr sz="1700" b="1">
                <a:solidFill>
                  <a:srgbClr val="BB2019"/>
                </a:solidFill>
                <a:latin typeface="Open Sans"/>
                <a:ea typeface="Open Sans"/>
                <a:cs typeface="Open Sans"/>
              </a:rPr>
              <a:t>Server đa tiến trình</a:t>
            </a:r>
            <a:endParaRPr sz="1700" b="1">
              <a:solidFill>
                <a:srgbClr val="BB2019"/>
              </a:solidFill>
              <a:latin typeface="Open Sans"/>
              <a:ea typeface="Open Sans"/>
              <a:cs typeface="Open Sans"/>
            </a:endParaRPr>
          </a:p>
        </p:txBody>
      </p:sp>
      <p:sp>
        <p:nvSpPr>
          <p:cNvPr id="15" name="TextBox 14"/>
          <p:cNvSpPr txBox="1"/>
          <p:nvPr/>
        </p:nvSpPr>
        <p:spPr>
          <a:xfrm>
            <a:off x="6355080" y="4389120"/>
            <a:ext cx="5120640" cy="1783080"/>
          </a:xfrm>
          <a:prstGeom prst="rect">
            <a:avLst/>
          </a:prstGeom>
          <a:noFill/>
        </p:spPr>
        <p:txBody>
          <a:bodyPr wrap="square" lIns="36576" tIns="36576" rIns="36576" bIns="36576" anchor="t">
            <a:spAutoFit/>
          </a:bodyPr>
          <a:lstStyle/>
          <a:p>
            <a:pPr algn="l">
              <a:spcAft>
                <a:spcPts val="400"/>
              </a:spcAft>
            </a:pPr>
            <a:r>
              <a:rPr sz="1400">
                <a:solidFill>
                  <a:srgbClr val="262626"/>
                </a:solidFill>
                <a:latin typeface="Open Sans"/>
                <a:ea typeface="Open Sans"/>
                <a:cs typeface="Open Sans"/>
              </a:rPr>
              <a:t>Thay luồng bằng nhiều tiến trình (vd. Apache): hệ điều hành bảo vệ dữ liệu tốt hơn, nhưng giao tiếp nhiều thì hiệu năng giảm.</a:t>
            </a:r>
            <a:endParaRPr sz="1400">
              <a:solidFill>
                <a:srgbClr val="262626"/>
              </a:solidFill>
              <a:latin typeface="Open Sans"/>
              <a:ea typeface="Open Sans"/>
              <a:cs typeface="Open Sans"/>
            </a:endParaRPr>
          </a:p>
        </p:txBody>
      </p:sp>
      <p:sp>
        <p:nvSpPr>
          <p:cNvPr id="16" name="Rounded Rectangle 15"/>
          <p:cNvSpPr/>
          <p:nvPr/>
        </p:nvSpPr>
        <p:spPr>
          <a:xfrm>
            <a:off x="10332719" y="347472"/>
            <a:ext cx="1417320" cy="292608"/>
          </a:xfrm>
          <a:prstGeom prst="roundRect">
            <a:avLst>
              <a:gd name="adj" fmla="val 50000"/>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spcAft>
                <a:spcPts val="200"/>
              </a:spcAft>
            </a:pPr>
            <a:r>
              <a:rPr sz="1150" b="1">
                <a:solidFill>
                  <a:srgbClr val="FFFFFF"/>
                </a:solidFill>
                <a:latin typeface="Open Sans"/>
                <a:ea typeface="Open Sans"/>
                <a:cs typeface="Open Sans"/>
              </a:rPr>
              <a:t>Demo 03 · 05</a:t>
            </a:r>
            <a:endParaRPr sz="1150" b="1">
              <a:solidFill>
                <a:srgbClr val="FFFFFF"/>
              </a:solidFill>
              <a:latin typeface="Open Sans"/>
              <a:ea typeface="Open Sans"/>
              <a:cs typeface="Open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3.2 Ảo hoá (Virtualization)</a:t>
            </a:r>
          </a:p>
        </p:txBody>
      </p:sp>
      <p:sp>
        <p:nvSpPr>
          <p:cNvPr id="3" name="Text Placeholder 2"/>
          <p:cNvSpPr>
            <a:spLocks noGrp="1"/>
          </p:cNvSpPr>
          <p:nvPr>
            <p:ph type="body" sz="quarter" idx="13"/>
          </p:nvPr>
        </p:nvSpPr>
        <p:spPr/>
        <p:txBody>
          <a:bodyPr/>
          <a:lstStyle/>
          <a:p>
            <a:r>
              <a:t>Nguyên lý ảo hoá: các loại giao diện, máy ảo tiến trình, VMM native và hosted</a:t>
            </a:r>
          </a:p>
          <a:p>
            <a:r>
              <a:t>Container: namespaces, union file system, cgroups · ví dụ PlanetLab</a:t>
            </a:r>
          </a:p>
          <a:p>
            <a:r>
              <a:t>So sánh máy ảo và container</a:t>
            </a:r>
          </a:p>
          <a:p>
            <a:r>
              <a:t>Ứng dụng ảo hoá trong hệ phân tán: điện toán đám mây (IaaS, EC2)</a:t>
            </a:r>
          </a:p>
        </p:txBody>
      </p:sp>
      <p:sp>
        <p:nvSpPr>
          <p:cNvPr id="4" name="Slide Number Placeholder 3"/>
          <p:cNvSpPr>
            <a:spLocks noGrp="1"/>
          </p:cNvSpPr>
          <p:nvPr>
            <p:ph type="sldNum" sz="quarter" idx="12"/>
          </p:nvPr>
        </p:nvSpPr>
        <p:spPr/>
        <p:txBody>
          <a:bodyPr/>
          <a:lstStyle/>
          <a:p>
            <a:fld id="{D92DDFE6-74DA-46A1-A171-CE3314B0D579}" type="slidenum">
              <a:rPr lang="en-US" smtClean="0"/>
            </a:fld>
            <a:endParaRPr lang="en-US" dirty="0"/>
          </a:p>
        </p:txBody>
      </p:sp>
      <p:sp>
        <p:nvSpPr>
          <p:cNvPr id="5" name="Date Placeholder 4"/>
          <p:cNvSpPr>
            <a:spLocks noGrp="1"/>
          </p:cNvSpPr>
          <p:nvPr>
            <p:ph type="dt" sz="half" idx="10"/>
          </p:nvPr>
        </p:nvSpPr>
        <p:spPr/>
        <p:txBody>
          <a:bodyPr/>
          <a:lstStyle/>
          <a:p>
            <a:fld id="{2933FCAF-43A6-4F1B-B43D-A70C2A597932}" type="datetime1">
              <a:rPr lang="vi-VN" smtClean="0"/>
            </a:fld>
            <a:endParaRPr lang="en-US"/>
          </a:p>
        </p:txBody>
      </p:sp>
      <p:sp>
        <p:nvSpPr>
          <p:cNvPr id="6" name="Footer Placeholder 5"/>
          <p:cNvSpPr>
            <a:spLocks noGrp="1"/>
          </p:cNvSpPr>
          <p:nvPr>
            <p:ph type="ftr" sz="quarter" idx="11"/>
          </p:nvPr>
        </p:nvSpPr>
        <p:spPr/>
        <p:txBody>
          <a:bodyPr/>
          <a:lstStyle/>
          <a:p>
            <a:r>
              <a:rPr lang="en-US"/>
              <a:t>Chương 3 · Tiến trình: Luồng &amp; Ảo hoá</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Nguyên lý ảo hoá</a:t>
            </a:r>
          </a:p>
        </p:txBody>
      </p:sp>
      <p:sp>
        <p:nvSpPr>
          <p:cNvPr id="3" name="Text Placeholder 2"/>
          <p:cNvSpPr>
            <a:spLocks noGrp="1"/>
          </p:cNvSpPr>
          <p:nvPr>
            <p:ph type="body" sz="quarter" idx="13"/>
          </p:nvPr>
        </p:nvSpPr>
        <p:spPr/>
        <p:txBody>
          <a:bodyPr/>
          <a:lstStyle/>
          <a:p>
            <a:r>
              <a:t>Hình 3.8 · mở rộng hoặc thay thế một giao diện để mô phỏng hành vi của hệ thống khác</a:t>
            </a:r>
          </a:p>
        </p:txBody>
      </p:sp>
      <p:sp>
        <p:nvSpPr>
          <p:cNvPr id="4" name="Slide Number Placeholder 3"/>
          <p:cNvSpPr>
            <a:spLocks noGrp="1"/>
          </p:cNvSpPr>
          <p:nvPr>
            <p:ph type="sldNum" sz="quarter" idx="12"/>
          </p:nvPr>
        </p:nvSpPr>
        <p:spPr/>
        <p:txBody>
          <a:bodyPr/>
          <a:lstStyle/>
          <a:p>
            <a:fld id="{D92DDFE6-74DA-46A1-A171-CE3314B0D579}" type="slidenum">
              <a:rPr lang="en-US" smtClean="0"/>
            </a:fld>
            <a:endParaRPr lang="en-US" dirty="0"/>
          </a:p>
        </p:txBody>
      </p:sp>
      <p:sp>
        <p:nvSpPr>
          <p:cNvPr id="5" name="Date Placeholder 4"/>
          <p:cNvSpPr>
            <a:spLocks noGrp="1"/>
          </p:cNvSpPr>
          <p:nvPr>
            <p:ph type="dt" sz="half" idx="10"/>
          </p:nvPr>
        </p:nvSpPr>
        <p:spPr/>
        <p:txBody>
          <a:bodyPr/>
          <a:lstStyle/>
          <a:p>
            <a:fld id="{2933FCAF-43A6-4F1B-B43D-A70C2A597932}" type="datetime1">
              <a:rPr lang="vi-VN" smtClean="0"/>
            </a:fld>
            <a:endParaRPr lang="en-US"/>
          </a:p>
        </p:txBody>
      </p:sp>
      <p:sp>
        <p:nvSpPr>
          <p:cNvPr id="6" name="Footer Placeholder 5"/>
          <p:cNvSpPr>
            <a:spLocks noGrp="1"/>
          </p:cNvSpPr>
          <p:nvPr>
            <p:ph type="ftr" sz="quarter" idx="11"/>
          </p:nvPr>
        </p:nvSpPr>
        <p:spPr/>
        <p:txBody>
          <a:bodyPr/>
          <a:lstStyle/>
          <a:p>
            <a:r>
              <a:rPr lang="en-US"/>
              <a:t>Chương 3 · Tiến trình: Luồng &amp; Ảo hoá</a:t>
            </a:r>
            <a:endParaRPr lang="en-US" dirty="0"/>
          </a:p>
        </p:txBody>
      </p:sp>
      <p:sp>
        <p:nvSpPr>
          <p:cNvPr id="7" name="Rectangle 6"/>
          <p:cNvSpPr/>
          <p:nvPr/>
        </p:nvSpPr>
        <p:spPr>
          <a:xfrm>
            <a:off x="457200" y="1737360"/>
            <a:ext cx="2468880" cy="731520"/>
          </a:xfrm>
          <a:prstGeom prst="rect">
            <a:avLst/>
          </a:prstGeom>
          <a:solidFill>
            <a:srgbClr val="FDECEB"/>
          </a:solidFill>
          <a:ln w="12700">
            <a:solidFill>
              <a:srgbClr val="BB2019"/>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200"/>
              </a:spcAft>
            </a:pPr>
            <a:r>
              <a:rPr sz="1300" b="1">
                <a:solidFill>
                  <a:srgbClr val="BB2019"/>
                </a:solidFill>
                <a:latin typeface="Open Sans"/>
                <a:ea typeface="Open Sans"/>
                <a:cs typeface="Open Sans"/>
              </a:rPr>
              <a:t>Chương trình</a:t>
            </a:r>
            <a:endParaRPr sz="1300" b="1">
              <a:solidFill>
                <a:srgbClr val="BB2019"/>
              </a:solidFill>
              <a:latin typeface="Open Sans"/>
              <a:ea typeface="Open Sans"/>
              <a:cs typeface="Open Sans"/>
            </a:endParaRPr>
          </a:p>
        </p:txBody>
      </p:sp>
      <p:sp>
        <p:nvSpPr>
          <p:cNvPr id="8" name="Rectangle 7"/>
          <p:cNvSpPr/>
          <p:nvPr/>
        </p:nvSpPr>
        <p:spPr>
          <a:xfrm>
            <a:off x="457200" y="2523744"/>
            <a:ext cx="2468880" cy="731520"/>
          </a:xfrm>
          <a:prstGeom prst="rect">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200"/>
              </a:spcAft>
            </a:pPr>
            <a:r>
              <a:rPr sz="1300" b="1">
                <a:solidFill>
                  <a:srgbClr val="FFFFFF"/>
                </a:solidFill>
                <a:latin typeface="Open Sans"/>
                <a:ea typeface="Open Sans"/>
                <a:cs typeface="Open Sans"/>
              </a:rPr>
              <a:t>Giao diện A</a:t>
            </a:r>
            <a:endParaRPr sz="1300" b="1">
              <a:solidFill>
                <a:srgbClr val="FFFFFF"/>
              </a:solidFill>
              <a:latin typeface="Open Sans"/>
              <a:ea typeface="Open Sans"/>
              <a:cs typeface="Open Sans"/>
            </a:endParaRPr>
          </a:p>
        </p:txBody>
      </p:sp>
      <p:sp>
        <p:nvSpPr>
          <p:cNvPr id="9" name="Rectangle 8"/>
          <p:cNvSpPr/>
          <p:nvPr/>
        </p:nvSpPr>
        <p:spPr>
          <a:xfrm>
            <a:off x="457200" y="3310128"/>
            <a:ext cx="2468880" cy="731520"/>
          </a:xfrm>
          <a:prstGeom prst="rect">
            <a:avLst/>
          </a:prstGeom>
          <a:solidFill>
            <a:srgbClr val="4A1A1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200"/>
              </a:spcAft>
            </a:pPr>
            <a:r>
              <a:rPr sz="1300" b="1">
                <a:solidFill>
                  <a:srgbClr val="FFFFFF"/>
                </a:solidFill>
                <a:latin typeface="Open Sans"/>
                <a:ea typeface="Open Sans"/>
                <a:cs typeface="Open Sans"/>
              </a:rPr>
              <a:t>Hệ thống A</a:t>
            </a:r>
            <a:endParaRPr sz="1300" b="1">
              <a:solidFill>
                <a:srgbClr val="FFFFFF"/>
              </a:solidFill>
              <a:latin typeface="Open Sans"/>
              <a:ea typeface="Open Sans"/>
              <a:cs typeface="Open Sans"/>
            </a:endParaRPr>
          </a:p>
        </p:txBody>
      </p:sp>
      <p:sp>
        <p:nvSpPr>
          <p:cNvPr id="10" name="TextBox 9"/>
          <p:cNvSpPr txBox="1"/>
          <p:nvPr/>
        </p:nvSpPr>
        <p:spPr>
          <a:xfrm>
            <a:off x="457200" y="4206240"/>
            <a:ext cx="2468880" cy="365760"/>
          </a:xfrm>
          <a:prstGeom prst="rect">
            <a:avLst/>
          </a:prstGeom>
          <a:noFill/>
        </p:spPr>
        <p:txBody>
          <a:bodyPr wrap="square" lIns="36576" tIns="36576" rIns="36576" bIns="36576" anchor="t">
            <a:spAutoFit/>
          </a:bodyPr>
          <a:lstStyle/>
          <a:p>
            <a:pPr algn="ctr">
              <a:spcAft>
                <a:spcPts val="400"/>
              </a:spcAft>
            </a:pPr>
            <a:r>
              <a:rPr sz="1200">
                <a:solidFill>
                  <a:srgbClr val="6B5F5D"/>
                </a:solidFill>
                <a:latin typeface="Open Sans"/>
                <a:ea typeface="Open Sans"/>
                <a:cs typeface="Open Sans"/>
              </a:rPr>
              <a:t>(a) Tổ chức thông thường</a:t>
            </a:r>
            <a:endParaRPr sz="1200">
              <a:solidFill>
                <a:srgbClr val="6B5F5D"/>
              </a:solidFill>
              <a:latin typeface="Open Sans"/>
              <a:ea typeface="Open Sans"/>
              <a:cs typeface="Open Sans"/>
            </a:endParaRPr>
          </a:p>
        </p:txBody>
      </p:sp>
      <p:sp>
        <p:nvSpPr>
          <p:cNvPr id="11" name="Rectangle 10"/>
          <p:cNvSpPr/>
          <p:nvPr/>
        </p:nvSpPr>
        <p:spPr>
          <a:xfrm>
            <a:off x="3291840" y="1737360"/>
            <a:ext cx="2651760" cy="566928"/>
          </a:xfrm>
          <a:prstGeom prst="rect">
            <a:avLst/>
          </a:prstGeom>
          <a:solidFill>
            <a:srgbClr val="FDECEB"/>
          </a:solidFill>
          <a:ln w="12700">
            <a:solidFill>
              <a:srgbClr val="BB2019"/>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200"/>
              </a:spcAft>
            </a:pPr>
            <a:r>
              <a:rPr sz="1300" b="1">
                <a:solidFill>
                  <a:srgbClr val="BB2019"/>
                </a:solidFill>
                <a:latin typeface="Open Sans"/>
                <a:ea typeface="Open Sans"/>
                <a:cs typeface="Open Sans"/>
              </a:rPr>
              <a:t>Chương trình</a:t>
            </a:r>
            <a:endParaRPr sz="1300" b="1">
              <a:solidFill>
                <a:srgbClr val="BB2019"/>
              </a:solidFill>
              <a:latin typeface="Open Sans"/>
              <a:ea typeface="Open Sans"/>
              <a:cs typeface="Open Sans"/>
            </a:endParaRPr>
          </a:p>
        </p:txBody>
      </p:sp>
      <p:sp>
        <p:nvSpPr>
          <p:cNvPr id="12" name="Rectangle 11"/>
          <p:cNvSpPr/>
          <p:nvPr/>
        </p:nvSpPr>
        <p:spPr>
          <a:xfrm>
            <a:off x="3291840" y="2359152"/>
            <a:ext cx="2651760" cy="566928"/>
          </a:xfrm>
          <a:prstGeom prst="rect">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200"/>
              </a:spcAft>
            </a:pPr>
            <a:r>
              <a:rPr sz="1300" b="1">
                <a:solidFill>
                  <a:srgbClr val="FFFFFF"/>
                </a:solidFill>
                <a:latin typeface="Open Sans"/>
                <a:ea typeface="Open Sans"/>
                <a:cs typeface="Open Sans"/>
              </a:rPr>
              <a:t>Giao diện A</a:t>
            </a:r>
            <a:endParaRPr sz="1300" b="1">
              <a:solidFill>
                <a:srgbClr val="FFFFFF"/>
              </a:solidFill>
              <a:latin typeface="Open Sans"/>
              <a:ea typeface="Open Sans"/>
              <a:cs typeface="Open Sans"/>
            </a:endParaRPr>
          </a:p>
        </p:txBody>
      </p:sp>
      <p:sp>
        <p:nvSpPr>
          <p:cNvPr id="13" name="Rectangle 12"/>
          <p:cNvSpPr/>
          <p:nvPr/>
        </p:nvSpPr>
        <p:spPr>
          <a:xfrm>
            <a:off x="3291840" y="2980944"/>
            <a:ext cx="2651760" cy="566928"/>
          </a:xfrm>
          <a:prstGeom prst="rect">
            <a:avLst/>
          </a:prstGeom>
          <a:solidFill>
            <a:srgbClr val="FFF7F7"/>
          </a:solidFill>
          <a:ln w="12700">
            <a:solidFill>
              <a:srgbClr val="BB2019"/>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200"/>
              </a:spcAft>
            </a:pPr>
            <a:r>
              <a:rPr sz="1300" b="1">
                <a:solidFill>
                  <a:srgbClr val="BB2019"/>
                </a:solidFill>
                <a:latin typeface="Open Sans"/>
                <a:ea typeface="Open Sans"/>
                <a:cs typeface="Open Sans"/>
              </a:rPr>
              <a:t>Cài đặt mô phỏng A trên B</a:t>
            </a:r>
            <a:endParaRPr sz="1300" b="1">
              <a:solidFill>
                <a:srgbClr val="BB2019"/>
              </a:solidFill>
              <a:latin typeface="Open Sans"/>
              <a:ea typeface="Open Sans"/>
              <a:cs typeface="Open Sans"/>
            </a:endParaRPr>
          </a:p>
        </p:txBody>
      </p:sp>
      <p:sp>
        <p:nvSpPr>
          <p:cNvPr id="14" name="Rectangle 13"/>
          <p:cNvSpPr/>
          <p:nvPr/>
        </p:nvSpPr>
        <p:spPr>
          <a:xfrm>
            <a:off x="3291840" y="3602736"/>
            <a:ext cx="2651760" cy="566928"/>
          </a:xfrm>
          <a:prstGeom prst="rect">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200"/>
              </a:spcAft>
            </a:pPr>
            <a:r>
              <a:rPr sz="1300" b="1">
                <a:solidFill>
                  <a:srgbClr val="FFFFFF"/>
                </a:solidFill>
                <a:latin typeface="Open Sans"/>
                <a:ea typeface="Open Sans"/>
                <a:cs typeface="Open Sans"/>
              </a:rPr>
              <a:t>Giao diện B</a:t>
            </a:r>
            <a:endParaRPr sz="1300" b="1">
              <a:solidFill>
                <a:srgbClr val="FFFFFF"/>
              </a:solidFill>
              <a:latin typeface="Open Sans"/>
              <a:ea typeface="Open Sans"/>
              <a:cs typeface="Open Sans"/>
            </a:endParaRPr>
          </a:p>
        </p:txBody>
      </p:sp>
      <p:sp>
        <p:nvSpPr>
          <p:cNvPr id="15" name="Rectangle 14"/>
          <p:cNvSpPr/>
          <p:nvPr/>
        </p:nvSpPr>
        <p:spPr>
          <a:xfrm>
            <a:off x="3291840" y="4224527"/>
            <a:ext cx="2651760" cy="566928"/>
          </a:xfrm>
          <a:prstGeom prst="rect">
            <a:avLst/>
          </a:prstGeom>
          <a:solidFill>
            <a:srgbClr val="4A1A1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200"/>
              </a:spcAft>
            </a:pPr>
            <a:r>
              <a:rPr sz="1300" b="1">
                <a:solidFill>
                  <a:srgbClr val="FFFFFF"/>
                </a:solidFill>
                <a:latin typeface="Open Sans"/>
                <a:ea typeface="Open Sans"/>
                <a:cs typeface="Open Sans"/>
              </a:rPr>
              <a:t>Hệ thống B</a:t>
            </a:r>
            <a:endParaRPr sz="1300" b="1">
              <a:solidFill>
                <a:srgbClr val="FFFFFF"/>
              </a:solidFill>
              <a:latin typeface="Open Sans"/>
              <a:ea typeface="Open Sans"/>
              <a:cs typeface="Open Sans"/>
            </a:endParaRPr>
          </a:p>
        </p:txBody>
      </p:sp>
      <p:sp>
        <p:nvSpPr>
          <p:cNvPr id="16" name="TextBox 15"/>
          <p:cNvSpPr txBox="1"/>
          <p:nvPr/>
        </p:nvSpPr>
        <p:spPr>
          <a:xfrm>
            <a:off x="3291840" y="4846320"/>
            <a:ext cx="2651760" cy="365760"/>
          </a:xfrm>
          <a:prstGeom prst="rect">
            <a:avLst/>
          </a:prstGeom>
          <a:noFill/>
        </p:spPr>
        <p:txBody>
          <a:bodyPr wrap="square" lIns="36576" tIns="36576" rIns="36576" bIns="36576" anchor="t">
            <a:spAutoFit/>
          </a:bodyPr>
          <a:lstStyle/>
          <a:p>
            <a:pPr algn="ctr">
              <a:spcAft>
                <a:spcPts val="400"/>
              </a:spcAft>
            </a:pPr>
            <a:r>
              <a:rPr sz="1200">
                <a:solidFill>
                  <a:srgbClr val="6B5F5D"/>
                </a:solidFill>
                <a:latin typeface="Open Sans"/>
                <a:ea typeface="Open Sans"/>
                <a:cs typeface="Open Sans"/>
              </a:rPr>
              <a:t>(b) Ảo hoá A trên nền B</a:t>
            </a:r>
            <a:endParaRPr sz="1200">
              <a:solidFill>
                <a:srgbClr val="6B5F5D"/>
              </a:solidFill>
              <a:latin typeface="Open Sans"/>
              <a:ea typeface="Open Sans"/>
              <a:cs typeface="Open Sans"/>
            </a:endParaRPr>
          </a:p>
        </p:txBody>
      </p:sp>
      <p:sp>
        <p:nvSpPr>
          <p:cNvPr id="17" name="Rectangle 16"/>
          <p:cNvSpPr/>
          <p:nvPr/>
        </p:nvSpPr>
        <p:spPr>
          <a:xfrm>
            <a:off x="6355080" y="1280160"/>
            <a:ext cx="5394960" cy="1508760"/>
          </a:xfrm>
          <a:prstGeom prst="rect">
            <a:avLst/>
          </a:prstGeom>
          <a:solidFill>
            <a:srgbClr val="FFF7F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18" name="Oval 17"/>
          <p:cNvSpPr/>
          <p:nvPr/>
        </p:nvSpPr>
        <p:spPr>
          <a:xfrm>
            <a:off x="6510528" y="1435607"/>
            <a:ext cx="402336" cy="402336"/>
          </a:xfrm>
          <a:prstGeom prst="ellipse">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500" b="1">
                <a:solidFill>
                  <a:srgbClr val="FFFFFF"/>
                </a:solidFill>
                <a:latin typeface="Open Sans"/>
                <a:ea typeface="Open Sans"/>
                <a:cs typeface="Open Sans"/>
              </a:rPr>
              <a:t>1</a:t>
            </a:r>
            <a:endParaRPr sz="1500" b="1">
              <a:solidFill>
                <a:srgbClr val="FFFFFF"/>
              </a:solidFill>
              <a:latin typeface="Open Sans"/>
              <a:ea typeface="Open Sans"/>
              <a:cs typeface="Open Sans"/>
            </a:endParaRPr>
          </a:p>
        </p:txBody>
      </p:sp>
      <p:sp>
        <p:nvSpPr>
          <p:cNvPr id="19" name="TextBox 18"/>
          <p:cNvSpPr txBox="1"/>
          <p:nvPr/>
        </p:nvSpPr>
        <p:spPr>
          <a:xfrm>
            <a:off x="7040880" y="1371600"/>
            <a:ext cx="4572000" cy="502920"/>
          </a:xfrm>
          <a:prstGeom prst="rect">
            <a:avLst/>
          </a:prstGeom>
          <a:noFill/>
        </p:spPr>
        <p:txBody>
          <a:bodyPr wrap="square" lIns="36576" tIns="36576" rIns="36576" bIns="36576" anchor="ctr">
            <a:spAutoFit/>
          </a:bodyPr>
          <a:lstStyle/>
          <a:p>
            <a:pPr algn="l">
              <a:spcAft>
                <a:spcPts val="400"/>
              </a:spcAft>
            </a:pPr>
            <a:r>
              <a:rPr sz="1500" b="1">
                <a:solidFill>
                  <a:srgbClr val="BB2019"/>
                </a:solidFill>
                <a:latin typeface="Open Sans"/>
                <a:ea typeface="Open Sans"/>
                <a:cs typeface="Open Sans"/>
              </a:rPr>
              <a:t>Phần mềm cũ sống lâu hơn nền tảng</a:t>
            </a:r>
            <a:endParaRPr sz="1500" b="1">
              <a:solidFill>
                <a:srgbClr val="BB2019"/>
              </a:solidFill>
              <a:latin typeface="Open Sans"/>
              <a:ea typeface="Open Sans"/>
              <a:cs typeface="Open Sans"/>
            </a:endParaRPr>
          </a:p>
        </p:txBody>
      </p:sp>
      <p:sp>
        <p:nvSpPr>
          <p:cNvPr id="20" name="TextBox 19"/>
          <p:cNvSpPr txBox="1"/>
          <p:nvPr/>
        </p:nvSpPr>
        <p:spPr>
          <a:xfrm>
            <a:off x="6510528" y="1901952"/>
            <a:ext cx="5120640" cy="868680"/>
          </a:xfrm>
          <a:prstGeom prst="rect">
            <a:avLst/>
          </a:prstGeom>
          <a:noFill/>
        </p:spPr>
        <p:txBody>
          <a:bodyPr wrap="square" lIns="36576" tIns="36576" rIns="36576" bIns="36576" anchor="t">
            <a:spAutoFit/>
          </a:bodyPr>
          <a:lstStyle/>
          <a:p>
            <a:pPr algn="l">
              <a:spcAft>
                <a:spcPts val="400"/>
              </a:spcAft>
            </a:pPr>
            <a:r>
              <a:rPr sz="1250">
                <a:solidFill>
                  <a:srgbClr val="262626"/>
                </a:solidFill>
                <a:latin typeface="Open Sans"/>
                <a:ea typeface="Open Sans"/>
                <a:cs typeface="Open Sans"/>
              </a:rPr>
              <a:t>Phần cứng và phần mềm hệ thống thay đổi nhanh; ứng dụng, middleware ổn định hơn → chuyển giao diện cũ sang nền mới (IBM 370, thập niên 1970).</a:t>
            </a:r>
            <a:endParaRPr sz="1250">
              <a:solidFill>
                <a:srgbClr val="262626"/>
              </a:solidFill>
              <a:latin typeface="Open Sans"/>
              <a:ea typeface="Open Sans"/>
              <a:cs typeface="Open Sans"/>
            </a:endParaRPr>
          </a:p>
        </p:txBody>
      </p:sp>
      <p:sp>
        <p:nvSpPr>
          <p:cNvPr id="21" name="Rectangle 20"/>
          <p:cNvSpPr/>
          <p:nvPr/>
        </p:nvSpPr>
        <p:spPr>
          <a:xfrm>
            <a:off x="6355080" y="2944368"/>
            <a:ext cx="5394960" cy="1508760"/>
          </a:xfrm>
          <a:prstGeom prst="rect">
            <a:avLst/>
          </a:prstGeom>
          <a:solidFill>
            <a:srgbClr val="FFF7F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22" name="Oval 21"/>
          <p:cNvSpPr/>
          <p:nvPr/>
        </p:nvSpPr>
        <p:spPr>
          <a:xfrm>
            <a:off x="6510528" y="3099815"/>
            <a:ext cx="402336" cy="402336"/>
          </a:xfrm>
          <a:prstGeom prst="ellipse">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500" b="1">
                <a:solidFill>
                  <a:srgbClr val="FFFFFF"/>
                </a:solidFill>
                <a:latin typeface="Open Sans"/>
                <a:ea typeface="Open Sans"/>
                <a:cs typeface="Open Sans"/>
              </a:rPr>
              <a:t>2</a:t>
            </a:r>
            <a:endParaRPr sz="1500" b="1">
              <a:solidFill>
                <a:srgbClr val="FFFFFF"/>
              </a:solidFill>
              <a:latin typeface="Open Sans"/>
              <a:ea typeface="Open Sans"/>
              <a:cs typeface="Open Sans"/>
            </a:endParaRPr>
          </a:p>
        </p:txBody>
      </p:sp>
      <p:sp>
        <p:nvSpPr>
          <p:cNvPr id="23" name="TextBox 22"/>
          <p:cNvSpPr txBox="1"/>
          <p:nvPr/>
        </p:nvSpPr>
        <p:spPr>
          <a:xfrm>
            <a:off x="7040880" y="3035808"/>
            <a:ext cx="4572000" cy="502920"/>
          </a:xfrm>
          <a:prstGeom prst="rect">
            <a:avLst/>
          </a:prstGeom>
          <a:noFill/>
        </p:spPr>
        <p:txBody>
          <a:bodyPr wrap="square" lIns="36576" tIns="36576" rIns="36576" bIns="36576" anchor="ctr">
            <a:spAutoFit/>
          </a:bodyPr>
          <a:lstStyle/>
          <a:p>
            <a:pPr algn="l">
              <a:spcAft>
                <a:spcPts val="400"/>
              </a:spcAft>
            </a:pPr>
            <a:r>
              <a:rPr sz="1500" b="1">
                <a:solidFill>
                  <a:srgbClr val="BB2019"/>
                </a:solidFill>
                <a:latin typeface="Open Sans"/>
                <a:ea typeface="Open Sans"/>
                <a:cs typeface="Open Sans"/>
              </a:rPr>
              <a:t>Khả chuyển và quản trị</a:t>
            </a:r>
            <a:endParaRPr sz="1500" b="1">
              <a:solidFill>
                <a:srgbClr val="BB2019"/>
              </a:solidFill>
              <a:latin typeface="Open Sans"/>
              <a:ea typeface="Open Sans"/>
              <a:cs typeface="Open Sans"/>
            </a:endParaRPr>
          </a:p>
        </p:txBody>
      </p:sp>
      <p:sp>
        <p:nvSpPr>
          <p:cNvPr id="24" name="TextBox 23"/>
          <p:cNvSpPr txBox="1"/>
          <p:nvPr/>
        </p:nvSpPr>
        <p:spPr>
          <a:xfrm>
            <a:off x="6510528" y="3566160"/>
            <a:ext cx="5120640" cy="868680"/>
          </a:xfrm>
          <a:prstGeom prst="rect">
            <a:avLst/>
          </a:prstGeom>
          <a:noFill/>
        </p:spPr>
        <p:txBody>
          <a:bodyPr wrap="square" lIns="36576" tIns="36576" rIns="36576" bIns="36576" anchor="t">
            <a:spAutoFit/>
          </a:bodyPr>
          <a:lstStyle/>
          <a:p>
            <a:pPr algn="l">
              <a:spcAft>
                <a:spcPts val="400"/>
              </a:spcAft>
            </a:pPr>
            <a:r>
              <a:rPr sz="1250">
                <a:solidFill>
                  <a:srgbClr val="262626"/>
                </a:solidFill>
                <a:latin typeface="Open Sans"/>
                <a:ea typeface="Open Sans"/>
                <a:cs typeface="Open Sans"/>
              </a:rPr>
              <a:t>Mỗi ứng dụng chạy trong máy ảo riêng cùng thư viện và hệ điều hành của nó, trên một nền tảng chung — giảm sự đa dạng máy chủ.</a:t>
            </a:r>
            <a:endParaRPr sz="1250">
              <a:solidFill>
                <a:srgbClr val="262626"/>
              </a:solidFill>
              <a:latin typeface="Open Sans"/>
              <a:ea typeface="Open Sans"/>
              <a:cs typeface="Open Sans"/>
            </a:endParaRPr>
          </a:p>
        </p:txBody>
      </p:sp>
      <p:sp>
        <p:nvSpPr>
          <p:cNvPr id="25" name="Rectangle 24"/>
          <p:cNvSpPr/>
          <p:nvPr/>
        </p:nvSpPr>
        <p:spPr>
          <a:xfrm>
            <a:off x="6355080" y="4608576"/>
            <a:ext cx="5394960" cy="1508760"/>
          </a:xfrm>
          <a:prstGeom prst="rect">
            <a:avLst/>
          </a:prstGeom>
          <a:solidFill>
            <a:srgbClr val="FFF7F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26" name="Oval 25"/>
          <p:cNvSpPr/>
          <p:nvPr/>
        </p:nvSpPr>
        <p:spPr>
          <a:xfrm>
            <a:off x="6510528" y="4764024"/>
            <a:ext cx="402336" cy="402336"/>
          </a:xfrm>
          <a:prstGeom prst="ellipse">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500" b="1">
                <a:solidFill>
                  <a:srgbClr val="FFFFFF"/>
                </a:solidFill>
                <a:latin typeface="Open Sans"/>
                <a:ea typeface="Open Sans"/>
                <a:cs typeface="Open Sans"/>
              </a:rPr>
              <a:t>3</a:t>
            </a:r>
            <a:endParaRPr sz="1500" b="1">
              <a:solidFill>
                <a:srgbClr val="FFFFFF"/>
              </a:solidFill>
              <a:latin typeface="Open Sans"/>
              <a:ea typeface="Open Sans"/>
              <a:cs typeface="Open Sans"/>
            </a:endParaRPr>
          </a:p>
        </p:txBody>
      </p:sp>
      <p:sp>
        <p:nvSpPr>
          <p:cNvPr id="27" name="TextBox 26"/>
          <p:cNvSpPr txBox="1"/>
          <p:nvPr/>
        </p:nvSpPr>
        <p:spPr>
          <a:xfrm>
            <a:off x="7040880" y="4700016"/>
            <a:ext cx="4572000" cy="502920"/>
          </a:xfrm>
          <a:prstGeom prst="rect">
            <a:avLst/>
          </a:prstGeom>
          <a:noFill/>
        </p:spPr>
        <p:txBody>
          <a:bodyPr wrap="square" lIns="36576" tIns="36576" rIns="36576" bIns="36576" anchor="ctr">
            <a:spAutoFit/>
          </a:bodyPr>
          <a:lstStyle/>
          <a:p>
            <a:pPr algn="l">
              <a:spcAft>
                <a:spcPts val="400"/>
              </a:spcAft>
            </a:pPr>
            <a:r>
              <a:rPr sz="1500" b="1">
                <a:solidFill>
                  <a:srgbClr val="BB2019"/>
                </a:solidFill>
                <a:latin typeface="Open Sans"/>
                <a:ea typeface="Open Sans"/>
                <a:cs typeface="Open Sans"/>
              </a:rPr>
              <a:t>Cô lập mã</a:t>
            </a:r>
            <a:endParaRPr sz="1500" b="1">
              <a:solidFill>
                <a:srgbClr val="BB2019"/>
              </a:solidFill>
              <a:latin typeface="Open Sans"/>
              <a:ea typeface="Open Sans"/>
              <a:cs typeface="Open Sans"/>
            </a:endParaRPr>
          </a:p>
        </p:txBody>
      </p:sp>
      <p:sp>
        <p:nvSpPr>
          <p:cNvPr id="28" name="TextBox 27"/>
          <p:cNvSpPr txBox="1"/>
          <p:nvPr/>
        </p:nvSpPr>
        <p:spPr>
          <a:xfrm>
            <a:off x="6510528" y="5230368"/>
            <a:ext cx="5120640" cy="868680"/>
          </a:xfrm>
          <a:prstGeom prst="rect">
            <a:avLst/>
          </a:prstGeom>
          <a:noFill/>
        </p:spPr>
        <p:txBody>
          <a:bodyPr wrap="square" lIns="36576" tIns="36576" rIns="36576" bIns="36576" anchor="t">
            <a:spAutoFit/>
          </a:bodyPr>
          <a:lstStyle/>
          <a:p>
            <a:pPr algn="l">
              <a:spcAft>
                <a:spcPts val="400"/>
              </a:spcAft>
            </a:pPr>
            <a:r>
              <a:rPr sz="1250">
                <a:solidFill>
                  <a:srgbClr val="262626"/>
                </a:solidFill>
                <a:latin typeface="Open Sans"/>
                <a:ea typeface="Open Sans"/>
                <a:cs typeface="Open Sans"/>
              </a:rPr>
              <a:t>Lỗi hay tấn công không ảnh hưởng cả máy — then chốt cho đám mây. Đổi lại: xuất hiện mối đe doạ bảo mật mới.</a:t>
            </a:r>
            <a:endParaRPr sz="1250">
              <a:solidFill>
                <a:srgbClr val="262626"/>
              </a:solidFill>
              <a:latin typeface="Open Sans"/>
              <a:ea typeface="Open Sans"/>
              <a:cs typeface="Open Sans"/>
            </a:endParaRPr>
          </a:p>
        </p:txBody>
      </p:sp>
      <p:sp>
        <p:nvSpPr>
          <p:cNvPr id="29" name="TextBox 28"/>
          <p:cNvSpPr txBox="1"/>
          <p:nvPr/>
        </p:nvSpPr>
        <p:spPr>
          <a:xfrm>
            <a:off x="457200" y="5440680"/>
            <a:ext cx="5669280" cy="822960"/>
          </a:xfrm>
          <a:prstGeom prst="rect">
            <a:avLst/>
          </a:prstGeom>
          <a:noFill/>
        </p:spPr>
        <p:txBody>
          <a:bodyPr wrap="square" lIns="36576" tIns="36576" rIns="36576" bIns="36576" anchor="t">
            <a:spAutoFit/>
          </a:bodyPr>
          <a:lstStyle/>
          <a:p>
            <a:pPr algn="l">
              <a:spcAft>
                <a:spcPts val="400"/>
              </a:spcAft>
            </a:pPr>
            <a:r>
              <a:rPr sz="1350" b="1">
                <a:solidFill>
                  <a:srgbClr val="BB2019"/>
                </a:solidFill>
                <a:latin typeface="Open Sans"/>
                <a:ea typeface="Open Sans"/>
                <a:cs typeface="Open Sans"/>
              </a:rPr>
              <a:t>Ý tưởng gốc: </a:t>
            </a:r>
            <a:r>
              <a:rPr sz="1350">
                <a:solidFill>
                  <a:srgbClr val="262626"/>
                </a:solidFill>
                <a:latin typeface="Open Sans"/>
                <a:ea typeface="Open Sans"/>
                <a:cs typeface="Open Sans"/>
              </a:rPr>
              <a:t>CPU đơn lõi giả lập nhiều luồng chạy cùng lúc; ảo hoá mở rộng ảo giác đó sang mọi tài nguyên.</a:t>
            </a:r>
            <a:endParaRPr sz="1350">
              <a:solidFill>
                <a:srgbClr val="262626"/>
              </a:solidFill>
              <a:latin typeface="Open Sans"/>
              <a:ea typeface="Open Sans"/>
              <a:cs typeface="Open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Bốn giao diện ở ba mức</a:t>
            </a:r>
          </a:p>
        </p:txBody>
      </p:sp>
      <p:sp>
        <p:nvSpPr>
          <p:cNvPr id="3" name="Text Placeholder 2"/>
          <p:cNvSpPr>
            <a:spLocks noGrp="1"/>
          </p:cNvSpPr>
          <p:nvPr>
            <p:ph type="body" sz="quarter" idx="13"/>
          </p:nvPr>
        </p:nvSpPr>
        <p:spPr/>
        <p:txBody>
          <a:bodyPr/>
          <a:lstStyle/>
          <a:p>
            <a:r>
              <a:t>Hình 3.9 · bản chất của ảo hoá là mô phỏng hành vi của các giao diện này</a:t>
            </a:r>
          </a:p>
        </p:txBody>
      </p:sp>
      <p:sp>
        <p:nvSpPr>
          <p:cNvPr id="4" name="Slide Number Placeholder 3"/>
          <p:cNvSpPr>
            <a:spLocks noGrp="1"/>
          </p:cNvSpPr>
          <p:nvPr>
            <p:ph type="sldNum" sz="quarter" idx="12"/>
          </p:nvPr>
        </p:nvSpPr>
        <p:spPr/>
        <p:txBody>
          <a:bodyPr/>
          <a:lstStyle/>
          <a:p>
            <a:fld id="{D92DDFE6-74DA-46A1-A171-CE3314B0D579}" type="slidenum">
              <a:rPr lang="en-US" smtClean="0"/>
            </a:fld>
            <a:endParaRPr lang="en-US" dirty="0"/>
          </a:p>
        </p:txBody>
      </p:sp>
      <p:sp>
        <p:nvSpPr>
          <p:cNvPr id="5" name="Date Placeholder 4"/>
          <p:cNvSpPr>
            <a:spLocks noGrp="1"/>
          </p:cNvSpPr>
          <p:nvPr>
            <p:ph type="dt" sz="half" idx="10"/>
          </p:nvPr>
        </p:nvSpPr>
        <p:spPr/>
        <p:txBody>
          <a:bodyPr/>
          <a:lstStyle/>
          <a:p>
            <a:fld id="{2933FCAF-43A6-4F1B-B43D-A70C2A597932}" type="datetime1">
              <a:rPr lang="vi-VN" smtClean="0"/>
            </a:fld>
            <a:endParaRPr lang="en-US"/>
          </a:p>
        </p:txBody>
      </p:sp>
      <p:sp>
        <p:nvSpPr>
          <p:cNvPr id="6" name="Footer Placeholder 5"/>
          <p:cNvSpPr>
            <a:spLocks noGrp="1"/>
          </p:cNvSpPr>
          <p:nvPr>
            <p:ph type="ftr" sz="quarter" idx="11"/>
          </p:nvPr>
        </p:nvSpPr>
        <p:spPr/>
        <p:txBody>
          <a:bodyPr/>
          <a:lstStyle/>
          <a:p>
            <a:r>
              <a:rPr lang="en-US"/>
              <a:t>Chương 3 · Tiến trình: Luồng &amp; Ảo hoá</a:t>
            </a:r>
            <a:endParaRPr lang="en-US" dirty="0"/>
          </a:p>
        </p:txBody>
      </p:sp>
      <p:sp>
        <p:nvSpPr>
          <p:cNvPr id="7" name="Rectangle 6"/>
          <p:cNvSpPr/>
          <p:nvPr/>
        </p:nvSpPr>
        <p:spPr>
          <a:xfrm>
            <a:off x="548640" y="1371600"/>
            <a:ext cx="5486400" cy="685800"/>
          </a:xfrm>
          <a:prstGeom prst="rect">
            <a:avLst/>
          </a:prstGeom>
          <a:solidFill>
            <a:srgbClr val="FDECEB"/>
          </a:solidFill>
          <a:ln w="12700">
            <a:solidFill>
              <a:srgbClr val="BB2019"/>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200"/>
              </a:spcAft>
            </a:pPr>
            <a:r>
              <a:rPr sz="1500" b="1">
                <a:solidFill>
                  <a:srgbClr val="BB2019"/>
                </a:solidFill>
                <a:latin typeface="Open Sans"/>
                <a:ea typeface="Open Sans"/>
                <a:cs typeface="Open Sans"/>
              </a:rPr>
              <a:t>Ứng dụng</a:t>
            </a:r>
            <a:endParaRPr sz="1500" b="1">
              <a:solidFill>
                <a:srgbClr val="BB2019"/>
              </a:solidFill>
              <a:latin typeface="Open Sans"/>
              <a:ea typeface="Open Sans"/>
              <a:cs typeface="Open Sans"/>
            </a:endParaRPr>
          </a:p>
        </p:txBody>
      </p:sp>
      <p:sp>
        <p:nvSpPr>
          <p:cNvPr id="8" name="Rectangle 7"/>
          <p:cNvSpPr/>
          <p:nvPr/>
        </p:nvSpPr>
        <p:spPr>
          <a:xfrm>
            <a:off x="548640" y="2423160"/>
            <a:ext cx="5486400" cy="685800"/>
          </a:xfrm>
          <a:prstGeom prst="rect">
            <a:avLst/>
          </a:prstGeom>
          <a:solidFill>
            <a:srgbClr val="FFF7F7"/>
          </a:solidFill>
          <a:ln w="12700">
            <a:solidFill>
              <a:srgbClr val="BB2019"/>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200"/>
              </a:spcAft>
            </a:pPr>
            <a:r>
              <a:rPr sz="1500" b="1">
                <a:solidFill>
                  <a:srgbClr val="BB2019"/>
                </a:solidFill>
                <a:latin typeface="Open Sans"/>
                <a:ea typeface="Open Sans"/>
                <a:cs typeface="Open Sans"/>
              </a:rPr>
              <a:t>Hàm thư viện</a:t>
            </a:r>
            <a:endParaRPr sz="1500" b="1">
              <a:solidFill>
                <a:srgbClr val="BB2019"/>
              </a:solidFill>
              <a:latin typeface="Open Sans"/>
              <a:ea typeface="Open Sans"/>
              <a:cs typeface="Open Sans"/>
            </a:endParaRPr>
          </a:p>
        </p:txBody>
      </p:sp>
      <p:sp>
        <p:nvSpPr>
          <p:cNvPr id="9" name="Rectangle 8"/>
          <p:cNvSpPr/>
          <p:nvPr/>
        </p:nvSpPr>
        <p:spPr>
          <a:xfrm>
            <a:off x="548640" y="3474720"/>
            <a:ext cx="5486400" cy="685800"/>
          </a:xfrm>
          <a:prstGeom prst="rect">
            <a:avLst/>
          </a:prstGeom>
          <a:solidFill>
            <a:srgbClr val="4A1A1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200"/>
              </a:spcAft>
            </a:pPr>
            <a:r>
              <a:rPr sz="1500" b="1">
                <a:solidFill>
                  <a:srgbClr val="FFFFFF"/>
                </a:solidFill>
                <a:latin typeface="Open Sans"/>
                <a:ea typeface="Open Sans"/>
                <a:cs typeface="Open Sans"/>
              </a:rPr>
              <a:t>Hệ điều hành</a:t>
            </a:r>
            <a:endParaRPr sz="1500" b="1">
              <a:solidFill>
                <a:srgbClr val="FFFFFF"/>
              </a:solidFill>
              <a:latin typeface="Open Sans"/>
              <a:ea typeface="Open Sans"/>
              <a:cs typeface="Open Sans"/>
            </a:endParaRPr>
          </a:p>
        </p:txBody>
      </p:sp>
      <p:sp>
        <p:nvSpPr>
          <p:cNvPr id="10" name="Rectangle 9"/>
          <p:cNvSpPr/>
          <p:nvPr/>
        </p:nvSpPr>
        <p:spPr>
          <a:xfrm>
            <a:off x="548640" y="4526280"/>
            <a:ext cx="2651760" cy="685800"/>
          </a:xfrm>
          <a:prstGeom prst="rect">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200"/>
              </a:spcAft>
            </a:pPr>
            <a:r>
              <a:rPr sz="1400" b="1">
                <a:solidFill>
                  <a:srgbClr val="FFFFFF"/>
                </a:solidFill>
                <a:latin typeface="Open Sans"/>
                <a:ea typeface="Open Sans"/>
                <a:cs typeface="Open Sans"/>
              </a:rPr>
              <a:t>Lệnh đặc quyền</a:t>
            </a:r>
            <a:endParaRPr sz="1400" b="1">
              <a:solidFill>
                <a:srgbClr val="FFFFFF"/>
              </a:solidFill>
              <a:latin typeface="Open Sans"/>
              <a:ea typeface="Open Sans"/>
              <a:cs typeface="Open Sans"/>
            </a:endParaRPr>
          </a:p>
        </p:txBody>
      </p:sp>
      <p:sp>
        <p:nvSpPr>
          <p:cNvPr id="11" name="Rectangle 10"/>
          <p:cNvSpPr/>
          <p:nvPr/>
        </p:nvSpPr>
        <p:spPr>
          <a:xfrm>
            <a:off x="3383280" y="4526280"/>
            <a:ext cx="2651760" cy="685800"/>
          </a:xfrm>
          <a:prstGeom prst="rect">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200"/>
              </a:spcAft>
            </a:pPr>
            <a:r>
              <a:rPr sz="1400" b="1">
                <a:solidFill>
                  <a:srgbClr val="FFFFFF"/>
                </a:solidFill>
                <a:latin typeface="Open Sans"/>
                <a:ea typeface="Open Sans"/>
                <a:cs typeface="Open Sans"/>
              </a:rPr>
              <a:t>Lệnh thông thường</a:t>
            </a:r>
            <a:endParaRPr sz="1400" b="1">
              <a:solidFill>
                <a:srgbClr val="FFFFFF"/>
              </a:solidFill>
              <a:latin typeface="Open Sans"/>
              <a:ea typeface="Open Sans"/>
              <a:cs typeface="Open Sans"/>
            </a:endParaRPr>
          </a:p>
        </p:txBody>
      </p:sp>
      <p:sp>
        <p:nvSpPr>
          <p:cNvPr id="12" name="Rectangle 11"/>
          <p:cNvSpPr/>
          <p:nvPr/>
        </p:nvSpPr>
        <p:spPr>
          <a:xfrm>
            <a:off x="548640" y="5532120"/>
            <a:ext cx="5486400" cy="640080"/>
          </a:xfrm>
          <a:prstGeom prst="rect">
            <a:avLst/>
          </a:prstGeom>
          <a:solidFill>
            <a:srgbClr val="6B5F5D"/>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200"/>
              </a:spcAft>
            </a:pPr>
            <a:r>
              <a:rPr sz="1500" b="1">
                <a:solidFill>
                  <a:srgbClr val="FFFFFF"/>
                </a:solidFill>
                <a:latin typeface="Open Sans"/>
                <a:ea typeface="Open Sans"/>
                <a:cs typeface="Open Sans"/>
              </a:rPr>
              <a:t>Phần cứng</a:t>
            </a:r>
            <a:endParaRPr sz="1500" b="1">
              <a:solidFill>
                <a:srgbClr val="FFFFFF"/>
              </a:solidFill>
              <a:latin typeface="Open Sans"/>
              <a:ea typeface="Open Sans"/>
              <a:cs typeface="Open Sans"/>
            </a:endParaRPr>
          </a:p>
        </p:txBody>
      </p:sp>
      <p:sp>
        <p:nvSpPr>
          <p:cNvPr id="13" name="TextBox 12"/>
          <p:cNvSpPr txBox="1"/>
          <p:nvPr/>
        </p:nvSpPr>
        <p:spPr>
          <a:xfrm>
            <a:off x="6172200" y="1984248"/>
            <a:ext cx="2377440" cy="365760"/>
          </a:xfrm>
          <a:prstGeom prst="rect">
            <a:avLst/>
          </a:prstGeom>
          <a:noFill/>
        </p:spPr>
        <p:txBody>
          <a:bodyPr wrap="square" lIns="36576" tIns="36576" rIns="36576" bIns="36576" anchor="t">
            <a:spAutoFit/>
          </a:bodyPr>
          <a:lstStyle/>
          <a:p>
            <a:pPr algn="l">
              <a:spcAft>
                <a:spcPts val="400"/>
              </a:spcAft>
            </a:pPr>
            <a:r>
              <a:rPr sz="1250" b="1">
                <a:solidFill>
                  <a:srgbClr val="BB2019"/>
                </a:solidFill>
                <a:latin typeface="Open Sans"/>
                <a:ea typeface="Open Sans"/>
                <a:cs typeface="Open Sans"/>
              </a:rPr>
              <a:t>③ Thư viện / API</a:t>
            </a:r>
            <a:endParaRPr sz="1250" b="1">
              <a:solidFill>
                <a:srgbClr val="BB2019"/>
              </a:solidFill>
              <a:latin typeface="Open Sans"/>
              <a:ea typeface="Open Sans"/>
              <a:cs typeface="Open Sans"/>
            </a:endParaRPr>
          </a:p>
        </p:txBody>
      </p:sp>
      <p:cxnSp>
        <p:nvCxnSpPr>
          <p:cNvPr id="14" name="Connector 13"/>
          <p:cNvCxnSpPr/>
          <p:nvPr/>
        </p:nvCxnSpPr>
        <p:spPr>
          <a:xfrm>
            <a:off x="5669279" y="2167128"/>
            <a:ext cx="475489" cy="0"/>
          </a:xfrm>
          <a:prstGeom prst="line">
            <a:avLst/>
          </a:prstGeom>
          <a:ln w="12700">
            <a:solidFill>
              <a:srgbClr val="BFB3B1"/>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172200" y="3035808"/>
            <a:ext cx="2377440" cy="365760"/>
          </a:xfrm>
          <a:prstGeom prst="rect">
            <a:avLst/>
          </a:prstGeom>
          <a:noFill/>
        </p:spPr>
        <p:txBody>
          <a:bodyPr wrap="square" lIns="36576" tIns="36576" rIns="36576" bIns="36576" anchor="t">
            <a:spAutoFit/>
          </a:bodyPr>
          <a:lstStyle/>
          <a:p>
            <a:pPr algn="l">
              <a:spcAft>
                <a:spcPts val="400"/>
              </a:spcAft>
            </a:pPr>
            <a:r>
              <a:rPr sz="1250" b="1">
                <a:solidFill>
                  <a:srgbClr val="BB2019"/>
                </a:solidFill>
                <a:latin typeface="Open Sans"/>
                <a:ea typeface="Open Sans"/>
                <a:cs typeface="Open Sans"/>
              </a:rPr>
              <a:t>② Lời gọi hệ thống</a:t>
            </a:r>
            <a:endParaRPr sz="1250" b="1">
              <a:solidFill>
                <a:srgbClr val="BB2019"/>
              </a:solidFill>
              <a:latin typeface="Open Sans"/>
              <a:ea typeface="Open Sans"/>
              <a:cs typeface="Open Sans"/>
            </a:endParaRPr>
          </a:p>
        </p:txBody>
      </p:sp>
      <p:cxnSp>
        <p:nvCxnSpPr>
          <p:cNvPr id="16" name="Connector 15"/>
          <p:cNvCxnSpPr/>
          <p:nvPr/>
        </p:nvCxnSpPr>
        <p:spPr>
          <a:xfrm>
            <a:off x="5669279" y="3218688"/>
            <a:ext cx="475489" cy="0"/>
          </a:xfrm>
          <a:prstGeom prst="line">
            <a:avLst/>
          </a:prstGeom>
          <a:ln w="12700">
            <a:solidFill>
              <a:srgbClr val="BFB3B1"/>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172200" y="4087368"/>
            <a:ext cx="2377440" cy="365760"/>
          </a:xfrm>
          <a:prstGeom prst="rect">
            <a:avLst/>
          </a:prstGeom>
          <a:noFill/>
        </p:spPr>
        <p:txBody>
          <a:bodyPr wrap="square" lIns="36576" tIns="36576" rIns="36576" bIns="36576" anchor="t">
            <a:spAutoFit/>
          </a:bodyPr>
          <a:lstStyle/>
          <a:p>
            <a:pPr algn="l">
              <a:spcAft>
                <a:spcPts val="400"/>
              </a:spcAft>
            </a:pPr>
            <a:r>
              <a:rPr sz="1250" b="1">
                <a:solidFill>
                  <a:srgbClr val="BB2019"/>
                </a:solidFill>
                <a:latin typeface="Open Sans"/>
                <a:ea typeface="Open Sans"/>
                <a:cs typeface="Open Sans"/>
              </a:rPr>
              <a:t>① ISA (hệ điều hành)</a:t>
            </a:r>
            <a:endParaRPr sz="1250" b="1">
              <a:solidFill>
                <a:srgbClr val="BB2019"/>
              </a:solidFill>
              <a:latin typeface="Open Sans"/>
              <a:ea typeface="Open Sans"/>
              <a:cs typeface="Open Sans"/>
            </a:endParaRPr>
          </a:p>
        </p:txBody>
      </p:sp>
      <p:cxnSp>
        <p:nvCxnSpPr>
          <p:cNvPr id="18" name="Connector 17"/>
          <p:cNvCxnSpPr/>
          <p:nvPr/>
        </p:nvCxnSpPr>
        <p:spPr>
          <a:xfrm>
            <a:off x="5669279" y="4270248"/>
            <a:ext cx="475489" cy="0"/>
          </a:xfrm>
          <a:prstGeom prst="line">
            <a:avLst/>
          </a:prstGeom>
          <a:ln w="12700">
            <a:solidFill>
              <a:srgbClr val="BFB3B1"/>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172200" y="5138928"/>
            <a:ext cx="2377440" cy="365760"/>
          </a:xfrm>
          <a:prstGeom prst="rect">
            <a:avLst/>
          </a:prstGeom>
          <a:noFill/>
        </p:spPr>
        <p:txBody>
          <a:bodyPr wrap="square" lIns="36576" tIns="36576" rIns="36576" bIns="36576" anchor="t">
            <a:spAutoFit/>
          </a:bodyPr>
          <a:lstStyle/>
          <a:p>
            <a:pPr algn="l">
              <a:spcAft>
                <a:spcPts val="400"/>
              </a:spcAft>
            </a:pPr>
            <a:r>
              <a:rPr sz="1250" b="1">
                <a:solidFill>
                  <a:srgbClr val="BB2019"/>
                </a:solidFill>
                <a:latin typeface="Open Sans"/>
                <a:ea typeface="Open Sans"/>
                <a:cs typeface="Open Sans"/>
              </a:rPr>
              <a:t>① ISA (mọi chương trình)</a:t>
            </a:r>
            <a:endParaRPr sz="1250" b="1">
              <a:solidFill>
                <a:srgbClr val="BB2019"/>
              </a:solidFill>
              <a:latin typeface="Open Sans"/>
              <a:ea typeface="Open Sans"/>
              <a:cs typeface="Open Sans"/>
            </a:endParaRPr>
          </a:p>
        </p:txBody>
      </p:sp>
      <p:cxnSp>
        <p:nvCxnSpPr>
          <p:cNvPr id="20" name="Connector 19"/>
          <p:cNvCxnSpPr/>
          <p:nvPr/>
        </p:nvCxnSpPr>
        <p:spPr>
          <a:xfrm>
            <a:off x="5669279" y="5321807"/>
            <a:ext cx="475489" cy="0"/>
          </a:xfrm>
          <a:prstGeom prst="line">
            <a:avLst/>
          </a:prstGeom>
          <a:ln w="12700">
            <a:solidFill>
              <a:srgbClr val="BFB3B1"/>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8641080" y="1371600"/>
            <a:ext cx="3108960" cy="42062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28016" rIns="128016" bIns="128016" rtlCol="0" anchor="ctr"/>
          <a:lstStyle/>
          <a:p>
            <a:pPr algn="l">
              <a:spcAft>
                <a:spcPts val="200"/>
              </a:spcAft>
            </a:pPr>
            <a:r>
              <a:rPr sz="1400" b="1">
                <a:solidFill>
                  <a:srgbClr val="FFFFFF"/>
                </a:solidFill>
                <a:latin typeface="Open Sans"/>
                <a:ea typeface="Open Sans"/>
                <a:cs typeface="Open Sans"/>
              </a:rPr>
              <a:t>Ba mức giao diện</a:t>
            </a:r>
            <a:endParaRPr sz="1400" b="1">
              <a:solidFill>
                <a:srgbClr val="FFFFFF"/>
              </a:solidFill>
              <a:latin typeface="Open Sans"/>
              <a:ea typeface="Open Sans"/>
              <a:cs typeface="Open Sans"/>
            </a:endParaRPr>
          </a:p>
        </p:txBody>
      </p:sp>
      <p:sp>
        <p:nvSpPr>
          <p:cNvPr id="22" name="Rectangle 21"/>
          <p:cNvSpPr/>
          <p:nvPr/>
        </p:nvSpPr>
        <p:spPr>
          <a:xfrm>
            <a:off x="8641080" y="1792224"/>
            <a:ext cx="3108960" cy="4379976"/>
          </a:xfrm>
          <a:prstGeom prst="rect">
            <a:avLst/>
          </a:prstGeom>
          <a:solidFill>
            <a:srgbClr val="FFF7F7"/>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28016" rIns="128016" bIns="128016" rtlCol="0" anchor="t"/>
          <a:lstStyle/>
          <a:p>
            <a:pPr marL="237490" indent="-201295" algn="l">
              <a:spcAft>
                <a:spcPts val="200"/>
              </a:spcAft>
              <a:buClr>
                <a:srgbClr val="BB2019"/>
              </a:buClr>
              <a:buFont typeface="Arial" panose="020B0604020202020204"/>
              <a:buChar char="•"/>
            </a:pPr>
            <a:r>
              <a:rPr sz="1300" b="1">
                <a:solidFill>
                  <a:srgbClr val="262626"/>
                </a:solidFill>
                <a:latin typeface="Open Sans"/>
                <a:ea typeface="Open Sans"/>
                <a:cs typeface="Open Sans"/>
              </a:rPr>
              <a:t>ISA: </a:t>
            </a:r>
            <a:r>
              <a:rPr sz="1300">
                <a:solidFill>
                  <a:srgbClr val="262626"/>
                </a:solidFill>
                <a:latin typeface="Open Sans"/>
                <a:ea typeface="Open Sans"/>
                <a:cs typeface="Open Sans"/>
              </a:rPr>
              <a:t>tập lệnh máy, gồm lệnh đặc quyền (chỉ hệ điều hành) và lệnh thông thường</a:t>
            </a:r>
            <a:endParaRPr sz="1300">
              <a:solidFill>
                <a:srgbClr val="262626"/>
              </a:solidFill>
              <a:latin typeface="Open Sans"/>
              <a:ea typeface="Open Sans"/>
              <a:cs typeface="Open Sans"/>
            </a:endParaRPr>
          </a:p>
          <a:p>
            <a:pPr marL="237490" indent="-201295" algn="l">
              <a:spcAft>
                <a:spcPts val="200"/>
              </a:spcAft>
              <a:buClr>
                <a:srgbClr val="BB2019"/>
              </a:buClr>
              <a:buFont typeface="Arial" panose="020B0604020202020204"/>
              <a:buChar char="•"/>
            </a:pPr>
            <a:r>
              <a:rPr sz="1300" b="1">
                <a:solidFill>
                  <a:srgbClr val="262626"/>
                </a:solidFill>
                <a:latin typeface="Open Sans"/>
                <a:ea typeface="Open Sans"/>
                <a:cs typeface="Open Sans"/>
              </a:rPr>
              <a:t>System call: </a:t>
            </a:r>
            <a:r>
              <a:rPr sz="1300">
                <a:solidFill>
                  <a:srgbClr val="262626"/>
                </a:solidFill>
                <a:latin typeface="Open Sans"/>
                <a:ea typeface="Open Sans"/>
                <a:cs typeface="Open Sans"/>
              </a:rPr>
              <a:t>dịch vụ do hệ điều hành cung cấp</a:t>
            </a:r>
            <a:endParaRPr sz="1300">
              <a:solidFill>
                <a:srgbClr val="262626"/>
              </a:solidFill>
              <a:latin typeface="Open Sans"/>
              <a:ea typeface="Open Sans"/>
              <a:cs typeface="Open Sans"/>
            </a:endParaRPr>
          </a:p>
          <a:p>
            <a:pPr marL="237490" indent="-201295" algn="l">
              <a:spcAft>
                <a:spcPts val="200"/>
              </a:spcAft>
              <a:buClr>
                <a:srgbClr val="BB2019"/>
              </a:buClr>
              <a:buFont typeface="Arial" panose="020B0604020202020204"/>
              <a:buChar char="•"/>
            </a:pPr>
            <a:r>
              <a:rPr sz="1300" b="1">
                <a:solidFill>
                  <a:srgbClr val="262626"/>
                </a:solidFill>
                <a:latin typeface="Open Sans"/>
                <a:ea typeface="Open Sans"/>
                <a:cs typeface="Open Sans"/>
              </a:rPr>
              <a:t>API: </a:t>
            </a:r>
            <a:r>
              <a:rPr sz="1300">
                <a:solidFill>
                  <a:srgbClr val="262626"/>
                </a:solidFill>
                <a:latin typeface="Open Sans"/>
                <a:ea typeface="Open Sans"/>
                <a:cs typeface="Open Sans"/>
              </a:rPr>
              <a:t>lời gọi thư viện, thường che giấu system call</a:t>
            </a:r>
            <a:endParaRPr sz="1300">
              <a:solidFill>
                <a:srgbClr val="262626"/>
              </a:solidFill>
              <a:latin typeface="Open Sans"/>
              <a:ea typeface="Open Sans"/>
              <a:cs typeface="Open Sans"/>
            </a:endParaRPr>
          </a:p>
          <a:p>
            <a:pPr algn="l">
              <a:spcAft>
                <a:spcPts val="200"/>
              </a:spcAft>
            </a:pPr>
            <a:r>
              <a:rPr sz="1300" b="1">
                <a:solidFill>
                  <a:srgbClr val="BB2019"/>
                </a:solidFill>
                <a:latin typeface="Open Sans"/>
                <a:ea typeface="Open Sans"/>
                <a:cs typeface="Open Sans"/>
              </a:rPr>
              <a:t>Container ảo hoá quanh mức ②; máy ảo ảo hoá mức ①.</a:t>
            </a:r>
            <a:endParaRPr sz="1300" b="1">
              <a:solidFill>
                <a:srgbClr val="BB2019"/>
              </a:solidFill>
              <a:latin typeface="Open Sans"/>
              <a:ea typeface="Open Sans"/>
              <a:cs typeface="Open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Máy ảo tiến trình và bộ giám sát máy ảo (VMM)</a:t>
            </a:r>
          </a:p>
        </p:txBody>
      </p:sp>
      <p:sp>
        <p:nvSpPr>
          <p:cNvPr id="3" name="Text Placeholder 2"/>
          <p:cNvSpPr>
            <a:spLocks noGrp="1"/>
          </p:cNvSpPr>
          <p:nvPr>
            <p:ph type="body" sz="quarter" idx="13"/>
          </p:nvPr>
        </p:nvSpPr>
        <p:spPr/>
        <p:txBody>
          <a:bodyPr/>
          <a:lstStyle/>
          <a:p>
            <a:r>
              <a:t>Hình 3.10 · (a) process VM · (b) native VMM · (c) hosted VMM</a:t>
            </a:r>
          </a:p>
        </p:txBody>
      </p:sp>
      <p:sp>
        <p:nvSpPr>
          <p:cNvPr id="4" name="Slide Number Placeholder 3"/>
          <p:cNvSpPr>
            <a:spLocks noGrp="1"/>
          </p:cNvSpPr>
          <p:nvPr>
            <p:ph type="sldNum" sz="quarter" idx="12"/>
          </p:nvPr>
        </p:nvSpPr>
        <p:spPr/>
        <p:txBody>
          <a:bodyPr/>
          <a:lstStyle/>
          <a:p>
            <a:fld id="{D92DDFE6-74DA-46A1-A171-CE3314B0D579}" type="slidenum">
              <a:rPr lang="en-US" smtClean="0"/>
            </a:fld>
            <a:endParaRPr lang="en-US" dirty="0"/>
          </a:p>
        </p:txBody>
      </p:sp>
      <p:sp>
        <p:nvSpPr>
          <p:cNvPr id="5" name="Date Placeholder 4"/>
          <p:cNvSpPr>
            <a:spLocks noGrp="1"/>
          </p:cNvSpPr>
          <p:nvPr>
            <p:ph type="dt" sz="half" idx="10"/>
          </p:nvPr>
        </p:nvSpPr>
        <p:spPr/>
        <p:txBody>
          <a:bodyPr/>
          <a:lstStyle/>
          <a:p>
            <a:fld id="{2933FCAF-43A6-4F1B-B43D-A70C2A597932}" type="datetime1">
              <a:rPr lang="vi-VN" smtClean="0"/>
            </a:fld>
            <a:endParaRPr lang="en-US"/>
          </a:p>
        </p:txBody>
      </p:sp>
      <p:sp>
        <p:nvSpPr>
          <p:cNvPr id="6" name="Footer Placeholder 5"/>
          <p:cNvSpPr>
            <a:spLocks noGrp="1"/>
          </p:cNvSpPr>
          <p:nvPr>
            <p:ph type="ftr" sz="quarter" idx="11"/>
          </p:nvPr>
        </p:nvSpPr>
        <p:spPr/>
        <p:txBody>
          <a:bodyPr/>
          <a:lstStyle/>
          <a:p>
            <a:r>
              <a:rPr lang="en-US"/>
              <a:t>Chương 3 · Tiến trình: Luồng &amp; Ảo hoá</a:t>
            </a:r>
            <a:endParaRPr lang="en-US" dirty="0"/>
          </a:p>
        </p:txBody>
      </p:sp>
      <p:sp>
        <p:nvSpPr>
          <p:cNvPr id="7" name="TextBox 6"/>
          <p:cNvSpPr txBox="1"/>
          <p:nvPr/>
        </p:nvSpPr>
        <p:spPr>
          <a:xfrm>
            <a:off x="457200" y="1234440"/>
            <a:ext cx="3611880" cy="411480"/>
          </a:xfrm>
          <a:prstGeom prst="rect">
            <a:avLst/>
          </a:prstGeom>
          <a:noFill/>
        </p:spPr>
        <p:txBody>
          <a:bodyPr wrap="square" lIns="36576" tIns="36576" rIns="36576" bIns="36576" anchor="t">
            <a:spAutoFit/>
          </a:bodyPr>
          <a:lstStyle/>
          <a:p>
            <a:pPr algn="ctr">
              <a:spcAft>
                <a:spcPts val="400"/>
              </a:spcAft>
            </a:pPr>
            <a:r>
              <a:rPr sz="1600" b="1">
                <a:solidFill>
                  <a:srgbClr val="BB2019"/>
                </a:solidFill>
                <a:latin typeface="Open Sans"/>
                <a:ea typeface="Open Sans"/>
                <a:cs typeface="Open Sans"/>
              </a:rPr>
              <a:t>(a) Máy ảo tiến trình</a:t>
            </a:r>
            <a:endParaRPr sz="1600" b="1">
              <a:solidFill>
                <a:srgbClr val="BB2019"/>
              </a:solidFill>
              <a:latin typeface="Open Sans"/>
              <a:ea typeface="Open Sans"/>
              <a:cs typeface="Open Sans"/>
            </a:endParaRPr>
          </a:p>
        </p:txBody>
      </p:sp>
      <p:sp>
        <p:nvSpPr>
          <p:cNvPr id="8" name="Rectangle 7"/>
          <p:cNvSpPr/>
          <p:nvPr/>
        </p:nvSpPr>
        <p:spPr>
          <a:xfrm>
            <a:off x="731520" y="2304288"/>
            <a:ext cx="3063240" cy="512064"/>
          </a:xfrm>
          <a:prstGeom prst="rect">
            <a:avLst/>
          </a:prstGeom>
          <a:solidFill>
            <a:srgbClr val="FDECEB"/>
          </a:solidFill>
          <a:ln w="12700">
            <a:solidFill>
              <a:srgbClr val="BB2019"/>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200"/>
              </a:spcAft>
            </a:pPr>
            <a:r>
              <a:rPr sz="1300" b="1">
                <a:solidFill>
                  <a:srgbClr val="BB2019"/>
                </a:solidFill>
                <a:latin typeface="Open Sans"/>
                <a:ea typeface="Open Sans"/>
                <a:cs typeface="Open Sans"/>
              </a:rPr>
              <a:t>Ứng dụng</a:t>
            </a:r>
            <a:endParaRPr sz="1300" b="1">
              <a:solidFill>
                <a:srgbClr val="BB2019"/>
              </a:solidFill>
              <a:latin typeface="Open Sans"/>
              <a:ea typeface="Open Sans"/>
              <a:cs typeface="Open Sans"/>
            </a:endParaRPr>
          </a:p>
        </p:txBody>
      </p:sp>
      <p:sp>
        <p:nvSpPr>
          <p:cNvPr id="9" name="Rectangle 8"/>
          <p:cNvSpPr/>
          <p:nvPr/>
        </p:nvSpPr>
        <p:spPr>
          <a:xfrm>
            <a:off x="731520" y="2871216"/>
            <a:ext cx="3063240" cy="512064"/>
          </a:xfrm>
          <a:prstGeom prst="rect">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200"/>
              </a:spcAft>
            </a:pPr>
            <a:r>
              <a:rPr sz="1300" b="1">
                <a:solidFill>
                  <a:srgbClr val="FFFFFF"/>
                </a:solidFill>
                <a:latin typeface="Open Sans"/>
                <a:ea typeface="Open Sans"/>
                <a:cs typeface="Open Sans"/>
              </a:rPr>
              <a:t>Runtime (JVM…)</a:t>
            </a:r>
            <a:endParaRPr sz="1300" b="1">
              <a:solidFill>
                <a:srgbClr val="FFFFFF"/>
              </a:solidFill>
              <a:latin typeface="Open Sans"/>
              <a:ea typeface="Open Sans"/>
              <a:cs typeface="Open Sans"/>
            </a:endParaRPr>
          </a:p>
        </p:txBody>
      </p:sp>
      <p:sp>
        <p:nvSpPr>
          <p:cNvPr id="10" name="Rectangle 9"/>
          <p:cNvSpPr/>
          <p:nvPr/>
        </p:nvSpPr>
        <p:spPr>
          <a:xfrm>
            <a:off x="731520" y="3438144"/>
            <a:ext cx="3063240" cy="512064"/>
          </a:xfrm>
          <a:prstGeom prst="rect">
            <a:avLst/>
          </a:prstGeom>
          <a:solidFill>
            <a:srgbClr val="4A1A1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200"/>
              </a:spcAft>
            </a:pPr>
            <a:r>
              <a:rPr sz="1300" b="1">
                <a:solidFill>
                  <a:srgbClr val="FFFFFF"/>
                </a:solidFill>
                <a:latin typeface="Open Sans"/>
                <a:ea typeface="Open Sans"/>
                <a:cs typeface="Open Sans"/>
              </a:rPr>
              <a:t>Hệ điều hành</a:t>
            </a:r>
            <a:endParaRPr sz="1300" b="1">
              <a:solidFill>
                <a:srgbClr val="FFFFFF"/>
              </a:solidFill>
              <a:latin typeface="Open Sans"/>
              <a:ea typeface="Open Sans"/>
              <a:cs typeface="Open Sans"/>
            </a:endParaRPr>
          </a:p>
        </p:txBody>
      </p:sp>
      <p:sp>
        <p:nvSpPr>
          <p:cNvPr id="11" name="Rectangle 10"/>
          <p:cNvSpPr/>
          <p:nvPr/>
        </p:nvSpPr>
        <p:spPr>
          <a:xfrm>
            <a:off x="731520" y="4005072"/>
            <a:ext cx="3063240" cy="512064"/>
          </a:xfrm>
          <a:prstGeom prst="rect">
            <a:avLst/>
          </a:prstGeom>
          <a:solidFill>
            <a:srgbClr val="6B5F5D"/>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200"/>
              </a:spcAft>
            </a:pPr>
            <a:r>
              <a:rPr sz="1300" b="1">
                <a:solidFill>
                  <a:srgbClr val="FFFFFF"/>
                </a:solidFill>
                <a:latin typeface="Open Sans"/>
                <a:ea typeface="Open Sans"/>
                <a:cs typeface="Open Sans"/>
              </a:rPr>
              <a:t>Phần cứng</a:t>
            </a:r>
            <a:endParaRPr sz="1300" b="1">
              <a:solidFill>
                <a:srgbClr val="FFFFFF"/>
              </a:solidFill>
              <a:latin typeface="Open Sans"/>
              <a:ea typeface="Open Sans"/>
              <a:cs typeface="Open Sans"/>
            </a:endParaRPr>
          </a:p>
        </p:txBody>
      </p:sp>
      <p:sp>
        <p:nvSpPr>
          <p:cNvPr id="12" name="TextBox 11"/>
          <p:cNvSpPr txBox="1"/>
          <p:nvPr/>
        </p:nvSpPr>
        <p:spPr>
          <a:xfrm>
            <a:off x="457200" y="4617720"/>
            <a:ext cx="3611880" cy="685800"/>
          </a:xfrm>
          <a:prstGeom prst="rect">
            <a:avLst/>
          </a:prstGeom>
          <a:noFill/>
        </p:spPr>
        <p:txBody>
          <a:bodyPr wrap="square" lIns="36576" tIns="36576" rIns="36576" bIns="36576" anchor="t">
            <a:spAutoFit/>
          </a:bodyPr>
          <a:lstStyle/>
          <a:p>
            <a:pPr algn="ctr">
              <a:spcAft>
                <a:spcPts val="400"/>
              </a:spcAft>
            </a:pPr>
            <a:r>
              <a:rPr sz="1250">
                <a:solidFill>
                  <a:srgbClr val="262626"/>
                </a:solidFill>
                <a:latin typeface="Open Sans"/>
                <a:ea typeface="Open Sans"/>
                <a:cs typeface="Open Sans"/>
              </a:rPr>
              <a:t>Ảo hoá cho MỘT tiến trình: thông dịch (Java) hoặc giả lập (Wine).</a:t>
            </a:r>
            <a:endParaRPr sz="1250">
              <a:solidFill>
                <a:srgbClr val="262626"/>
              </a:solidFill>
              <a:latin typeface="Open Sans"/>
              <a:ea typeface="Open Sans"/>
              <a:cs typeface="Open Sans"/>
            </a:endParaRPr>
          </a:p>
        </p:txBody>
      </p:sp>
      <p:sp>
        <p:nvSpPr>
          <p:cNvPr id="13" name="TextBox 12"/>
          <p:cNvSpPr txBox="1"/>
          <p:nvPr/>
        </p:nvSpPr>
        <p:spPr>
          <a:xfrm>
            <a:off x="4251960" y="1234440"/>
            <a:ext cx="3611880" cy="411480"/>
          </a:xfrm>
          <a:prstGeom prst="rect">
            <a:avLst/>
          </a:prstGeom>
          <a:noFill/>
        </p:spPr>
        <p:txBody>
          <a:bodyPr wrap="square" lIns="36576" tIns="36576" rIns="36576" bIns="36576" anchor="t">
            <a:spAutoFit/>
          </a:bodyPr>
          <a:lstStyle/>
          <a:p>
            <a:pPr algn="ctr">
              <a:spcAft>
                <a:spcPts val="400"/>
              </a:spcAft>
            </a:pPr>
            <a:r>
              <a:rPr sz="1600" b="1">
                <a:solidFill>
                  <a:srgbClr val="BB2019"/>
                </a:solidFill>
                <a:latin typeface="Open Sans"/>
                <a:ea typeface="Open Sans"/>
                <a:cs typeface="Open Sans"/>
              </a:rPr>
              <a:t>(b) VMM native</a:t>
            </a:r>
            <a:endParaRPr sz="1600" b="1">
              <a:solidFill>
                <a:srgbClr val="BB2019"/>
              </a:solidFill>
              <a:latin typeface="Open Sans"/>
              <a:ea typeface="Open Sans"/>
              <a:cs typeface="Open Sans"/>
            </a:endParaRPr>
          </a:p>
        </p:txBody>
      </p:sp>
      <p:sp>
        <p:nvSpPr>
          <p:cNvPr id="14" name="Rectangle 13"/>
          <p:cNvSpPr/>
          <p:nvPr/>
        </p:nvSpPr>
        <p:spPr>
          <a:xfrm>
            <a:off x="4526280" y="2304288"/>
            <a:ext cx="3063240" cy="512064"/>
          </a:xfrm>
          <a:prstGeom prst="rect">
            <a:avLst/>
          </a:prstGeom>
          <a:solidFill>
            <a:srgbClr val="FDECEB"/>
          </a:solidFill>
          <a:ln w="12700">
            <a:solidFill>
              <a:srgbClr val="BB2019"/>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200"/>
              </a:spcAft>
            </a:pPr>
            <a:r>
              <a:rPr sz="1300" b="1">
                <a:solidFill>
                  <a:srgbClr val="BB2019"/>
                </a:solidFill>
                <a:latin typeface="Open Sans"/>
                <a:ea typeface="Open Sans"/>
                <a:cs typeface="Open Sans"/>
              </a:rPr>
              <a:t>Ứng dụng</a:t>
            </a:r>
            <a:endParaRPr sz="1300" b="1">
              <a:solidFill>
                <a:srgbClr val="BB2019"/>
              </a:solidFill>
              <a:latin typeface="Open Sans"/>
              <a:ea typeface="Open Sans"/>
              <a:cs typeface="Open Sans"/>
            </a:endParaRPr>
          </a:p>
        </p:txBody>
      </p:sp>
      <p:sp>
        <p:nvSpPr>
          <p:cNvPr id="15" name="Rectangle 14"/>
          <p:cNvSpPr/>
          <p:nvPr/>
        </p:nvSpPr>
        <p:spPr>
          <a:xfrm>
            <a:off x="4526280" y="2871216"/>
            <a:ext cx="3063240" cy="512064"/>
          </a:xfrm>
          <a:prstGeom prst="rect">
            <a:avLst/>
          </a:prstGeom>
          <a:solidFill>
            <a:srgbClr val="FFF7F7"/>
          </a:solidFill>
          <a:ln w="12700">
            <a:solidFill>
              <a:srgbClr val="BB2019"/>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200"/>
              </a:spcAft>
            </a:pPr>
            <a:r>
              <a:rPr sz="1300" b="1">
                <a:solidFill>
                  <a:srgbClr val="BB2019"/>
                </a:solidFill>
                <a:latin typeface="Open Sans"/>
                <a:ea typeface="Open Sans"/>
                <a:cs typeface="Open Sans"/>
              </a:rPr>
              <a:t>HĐH khách</a:t>
            </a:r>
            <a:endParaRPr sz="1300" b="1">
              <a:solidFill>
                <a:srgbClr val="BB2019"/>
              </a:solidFill>
              <a:latin typeface="Open Sans"/>
              <a:ea typeface="Open Sans"/>
              <a:cs typeface="Open Sans"/>
            </a:endParaRPr>
          </a:p>
        </p:txBody>
      </p:sp>
      <p:sp>
        <p:nvSpPr>
          <p:cNvPr id="16" name="Rectangle 15"/>
          <p:cNvSpPr/>
          <p:nvPr/>
        </p:nvSpPr>
        <p:spPr>
          <a:xfrm>
            <a:off x="4526280" y="3438144"/>
            <a:ext cx="3063240" cy="512064"/>
          </a:xfrm>
          <a:prstGeom prst="rect">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200"/>
              </a:spcAft>
            </a:pPr>
            <a:r>
              <a:rPr sz="1300" b="1">
                <a:solidFill>
                  <a:srgbClr val="FFFFFF"/>
                </a:solidFill>
                <a:latin typeface="Open Sans"/>
                <a:ea typeface="Open Sans"/>
                <a:cs typeface="Open Sans"/>
              </a:rPr>
              <a:t>VMM</a:t>
            </a:r>
            <a:endParaRPr sz="1300" b="1">
              <a:solidFill>
                <a:srgbClr val="FFFFFF"/>
              </a:solidFill>
              <a:latin typeface="Open Sans"/>
              <a:ea typeface="Open Sans"/>
              <a:cs typeface="Open Sans"/>
            </a:endParaRPr>
          </a:p>
        </p:txBody>
      </p:sp>
      <p:sp>
        <p:nvSpPr>
          <p:cNvPr id="17" name="Rectangle 16"/>
          <p:cNvSpPr/>
          <p:nvPr/>
        </p:nvSpPr>
        <p:spPr>
          <a:xfrm>
            <a:off x="4526280" y="4005072"/>
            <a:ext cx="3063240" cy="512064"/>
          </a:xfrm>
          <a:prstGeom prst="rect">
            <a:avLst/>
          </a:prstGeom>
          <a:solidFill>
            <a:srgbClr val="6B5F5D"/>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200"/>
              </a:spcAft>
            </a:pPr>
            <a:r>
              <a:rPr sz="1300" b="1">
                <a:solidFill>
                  <a:srgbClr val="FFFFFF"/>
                </a:solidFill>
                <a:latin typeface="Open Sans"/>
                <a:ea typeface="Open Sans"/>
                <a:cs typeface="Open Sans"/>
              </a:rPr>
              <a:t>Phần cứng</a:t>
            </a:r>
            <a:endParaRPr sz="1300" b="1">
              <a:solidFill>
                <a:srgbClr val="FFFFFF"/>
              </a:solidFill>
              <a:latin typeface="Open Sans"/>
              <a:ea typeface="Open Sans"/>
              <a:cs typeface="Open Sans"/>
            </a:endParaRPr>
          </a:p>
        </p:txBody>
      </p:sp>
      <p:sp>
        <p:nvSpPr>
          <p:cNvPr id="18" name="TextBox 17"/>
          <p:cNvSpPr txBox="1"/>
          <p:nvPr/>
        </p:nvSpPr>
        <p:spPr>
          <a:xfrm>
            <a:off x="4251960" y="4617720"/>
            <a:ext cx="3611880" cy="685800"/>
          </a:xfrm>
          <a:prstGeom prst="rect">
            <a:avLst/>
          </a:prstGeom>
          <a:noFill/>
        </p:spPr>
        <p:txBody>
          <a:bodyPr wrap="square" lIns="36576" tIns="36576" rIns="36576" bIns="36576" anchor="t">
            <a:spAutoFit/>
          </a:bodyPr>
          <a:lstStyle/>
          <a:p>
            <a:pPr algn="ctr">
              <a:spcAft>
                <a:spcPts val="400"/>
              </a:spcAft>
            </a:pPr>
            <a:r>
              <a:rPr sz="1250">
                <a:solidFill>
                  <a:srgbClr val="262626"/>
                </a:solidFill>
                <a:latin typeface="Open Sans"/>
                <a:ea typeface="Open Sans"/>
                <a:cs typeface="Open Sans"/>
              </a:rPr>
              <a:t>Chạy thẳng trên phần cứng, nhiều HĐH khách song song; phải tự có driver.</a:t>
            </a:r>
            <a:endParaRPr sz="1250">
              <a:solidFill>
                <a:srgbClr val="262626"/>
              </a:solidFill>
              <a:latin typeface="Open Sans"/>
              <a:ea typeface="Open Sans"/>
              <a:cs typeface="Open Sans"/>
            </a:endParaRPr>
          </a:p>
        </p:txBody>
      </p:sp>
      <p:sp>
        <p:nvSpPr>
          <p:cNvPr id="19" name="TextBox 18"/>
          <p:cNvSpPr txBox="1"/>
          <p:nvPr/>
        </p:nvSpPr>
        <p:spPr>
          <a:xfrm>
            <a:off x="8046720" y="1234440"/>
            <a:ext cx="3611880" cy="411480"/>
          </a:xfrm>
          <a:prstGeom prst="rect">
            <a:avLst/>
          </a:prstGeom>
          <a:noFill/>
        </p:spPr>
        <p:txBody>
          <a:bodyPr wrap="square" lIns="36576" tIns="36576" rIns="36576" bIns="36576" anchor="t">
            <a:spAutoFit/>
          </a:bodyPr>
          <a:lstStyle/>
          <a:p>
            <a:pPr algn="ctr">
              <a:spcAft>
                <a:spcPts val="400"/>
              </a:spcAft>
            </a:pPr>
            <a:r>
              <a:rPr sz="1600" b="1">
                <a:solidFill>
                  <a:srgbClr val="BB2019"/>
                </a:solidFill>
                <a:latin typeface="Open Sans"/>
                <a:ea typeface="Open Sans"/>
                <a:cs typeface="Open Sans"/>
              </a:rPr>
              <a:t>(c) VMM hosted</a:t>
            </a:r>
            <a:endParaRPr sz="1600" b="1">
              <a:solidFill>
                <a:srgbClr val="BB2019"/>
              </a:solidFill>
              <a:latin typeface="Open Sans"/>
              <a:ea typeface="Open Sans"/>
              <a:cs typeface="Open Sans"/>
            </a:endParaRPr>
          </a:p>
        </p:txBody>
      </p:sp>
      <p:sp>
        <p:nvSpPr>
          <p:cNvPr id="20" name="Rectangle 19"/>
          <p:cNvSpPr/>
          <p:nvPr/>
        </p:nvSpPr>
        <p:spPr>
          <a:xfrm>
            <a:off x="8321040" y="1737360"/>
            <a:ext cx="3063240" cy="512064"/>
          </a:xfrm>
          <a:prstGeom prst="rect">
            <a:avLst/>
          </a:prstGeom>
          <a:solidFill>
            <a:srgbClr val="FDECEB"/>
          </a:solidFill>
          <a:ln w="12700">
            <a:solidFill>
              <a:srgbClr val="BB2019"/>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200"/>
              </a:spcAft>
            </a:pPr>
            <a:r>
              <a:rPr sz="1300" b="1">
                <a:solidFill>
                  <a:srgbClr val="BB2019"/>
                </a:solidFill>
                <a:latin typeface="Open Sans"/>
                <a:ea typeface="Open Sans"/>
                <a:cs typeface="Open Sans"/>
              </a:rPr>
              <a:t>Ứng dụng</a:t>
            </a:r>
            <a:endParaRPr sz="1300" b="1">
              <a:solidFill>
                <a:srgbClr val="BB2019"/>
              </a:solidFill>
              <a:latin typeface="Open Sans"/>
              <a:ea typeface="Open Sans"/>
              <a:cs typeface="Open Sans"/>
            </a:endParaRPr>
          </a:p>
        </p:txBody>
      </p:sp>
      <p:sp>
        <p:nvSpPr>
          <p:cNvPr id="21" name="Rectangle 20"/>
          <p:cNvSpPr/>
          <p:nvPr/>
        </p:nvSpPr>
        <p:spPr>
          <a:xfrm>
            <a:off x="8321040" y="2304288"/>
            <a:ext cx="3063240" cy="512064"/>
          </a:xfrm>
          <a:prstGeom prst="rect">
            <a:avLst/>
          </a:prstGeom>
          <a:solidFill>
            <a:srgbClr val="FFF7F7"/>
          </a:solidFill>
          <a:ln w="12700">
            <a:solidFill>
              <a:srgbClr val="BB2019"/>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200"/>
              </a:spcAft>
            </a:pPr>
            <a:r>
              <a:rPr sz="1300" b="1">
                <a:solidFill>
                  <a:srgbClr val="BB2019"/>
                </a:solidFill>
                <a:latin typeface="Open Sans"/>
                <a:ea typeface="Open Sans"/>
                <a:cs typeface="Open Sans"/>
              </a:rPr>
              <a:t>HĐH khách</a:t>
            </a:r>
            <a:endParaRPr sz="1300" b="1">
              <a:solidFill>
                <a:srgbClr val="BB2019"/>
              </a:solidFill>
              <a:latin typeface="Open Sans"/>
              <a:ea typeface="Open Sans"/>
              <a:cs typeface="Open Sans"/>
            </a:endParaRPr>
          </a:p>
        </p:txBody>
      </p:sp>
      <p:sp>
        <p:nvSpPr>
          <p:cNvPr id="22" name="Rectangle 21"/>
          <p:cNvSpPr/>
          <p:nvPr/>
        </p:nvSpPr>
        <p:spPr>
          <a:xfrm>
            <a:off x="8321040" y="2871216"/>
            <a:ext cx="3063240" cy="512064"/>
          </a:xfrm>
          <a:prstGeom prst="rect">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200"/>
              </a:spcAft>
            </a:pPr>
            <a:r>
              <a:rPr sz="1300" b="1">
                <a:solidFill>
                  <a:srgbClr val="FFFFFF"/>
                </a:solidFill>
                <a:latin typeface="Open Sans"/>
                <a:ea typeface="Open Sans"/>
                <a:cs typeface="Open Sans"/>
              </a:rPr>
              <a:t>VMM</a:t>
            </a:r>
            <a:endParaRPr sz="1300" b="1">
              <a:solidFill>
                <a:srgbClr val="FFFFFF"/>
              </a:solidFill>
              <a:latin typeface="Open Sans"/>
              <a:ea typeface="Open Sans"/>
              <a:cs typeface="Open Sans"/>
            </a:endParaRPr>
          </a:p>
        </p:txBody>
      </p:sp>
      <p:sp>
        <p:nvSpPr>
          <p:cNvPr id="23" name="Rectangle 22"/>
          <p:cNvSpPr/>
          <p:nvPr/>
        </p:nvSpPr>
        <p:spPr>
          <a:xfrm>
            <a:off x="8321040" y="3438144"/>
            <a:ext cx="3063240" cy="512064"/>
          </a:xfrm>
          <a:prstGeom prst="rect">
            <a:avLst/>
          </a:prstGeom>
          <a:solidFill>
            <a:srgbClr val="4A1A1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200"/>
              </a:spcAft>
            </a:pPr>
            <a:r>
              <a:rPr sz="1300" b="1">
                <a:solidFill>
                  <a:srgbClr val="FFFFFF"/>
                </a:solidFill>
                <a:latin typeface="Open Sans"/>
                <a:ea typeface="Open Sans"/>
                <a:cs typeface="Open Sans"/>
              </a:rPr>
              <a:t>HĐH chủ</a:t>
            </a:r>
            <a:endParaRPr sz="1300" b="1">
              <a:solidFill>
                <a:srgbClr val="FFFFFF"/>
              </a:solidFill>
              <a:latin typeface="Open Sans"/>
              <a:ea typeface="Open Sans"/>
              <a:cs typeface="Open Sans"/>
            </a:endParaRPr>
          </a:p>
        </p:txBody>
      </p:sp>
      <p:sp>
        <p:nvSpPr>
          <p:cNvPr id="24" name="Rectangle 23"/>
          <p:cNvSpPr/>
          <p:nvPr/>
        </p:nvSpPr>
        <p:spPr>
          <a:xfrm>
            <a:off x="8321040" y="4005072"/>
            <a:ext cx="3063240" cy="512064"/>
          </a:xfrm>
          <a:prstGeom prst="rect">
            <a:avLst/>
          </a:prstGeom>
          <a:solidFill>
            <a:srgbClr val="6B5F5D"/>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200"/>
              </a:spcAft>
            </a:pPr>
            <a:r>
              <a:rPr sz="1300" b="1">
                <a:solidFill>
                  <a:srgbClr val="FFFFFF"/>
                </a:solidFill>
                <a:latin typeface="Open Sans"/>
                <a:ea typeface="Open Sans"/>
                <a:cs typeface="Open Sans"/>
              </a:rPr>
              <a:t>Phần cứng</a:t>
            </a:r>
            <a:endParaRPr sz="1300" b="1">
              <a:solidFill>
                <a:srgbClr val="FFFFFF"/>
              </a:solidFill>
              <a:latin typeface="Open Sans"/>
              <a:ea typeface="Open Sans"/>
              <a:cs typeface="Open Sans"/>
            </a:endParaRPr>
          </a:p>
        </p:txBody>
      </p:sp>
      <p:sp>
        <p:nvSpPr>
          <p:cNvPr id="25" name="TextBox 24"/>
          <p:cNvSpPr txBox="1"/>
          <p:nvPr/>
        </p:nvSpPr>
        <p:spPr>
          <a:xfrm>
            <a:off x="8046720" y="4617720"/>
            <a:ext cx="3611880" cy="685800"/>
          </a:xfrm>
          <a:prstGeom prst="rect">
            <a:avLst/>
          </a:prstGeom>
          <a:noFill/>
        </p:spPr>
        <p:txBody>
          <a:bodyPr wrap="square" lIns="36576" tIns="36576" rIns="36576" bIns="36576" anchor="t">
            <a:spAutoFit/>
          </a:bodyPr>
          <a:lstStyle/>
          <a:p>
            <a:pPr algn="ctr">
              <a:spcAft>
                <a:spcPts val="400"/>
              </a:spcAft>
            </a:pPr>
            <a:r>
              <a:rPr sz="1250">
                <a:solidFill>
                  <a:srgbClr val="262626"/>
                </a:solidFill>
                <a:latin typeface="Open Sans"/>
                <a:ea typeface="Open Sans"/>
                <a:cs typeface="Open Sans"/>
              </a:rPr>
              <a:t>Chạy trên HĐH chủ đáng tin cậy, tận dụng dịch vụ của nó — phổ biến ở đám mây.</a:t>
            </a:r>
            <a:endParaRPr sz="1250">
              <a:solidFill>
                <a:srgbClr val="262626"/>
              </a:solidFill>
              <a:latin typeface="Open Sans"/>
              <a:ea typeface="Open Sans"/>
              <a:cs typeface="Open Sans"/>
            </a:endParaRPr>
          </a:p>
        </p:txBody>
      </p:sp>
      <p:sp>
        <p:nvSpPr>
          <p:cNvPr id="26" name="Rectangle 25"/>
          <p:cNvSpPr/>
          <p:nvPr/>
        </p:nvSpPr>
        <p:spPr>
          <a:xfrm>
            <a:off x="457200" y="5440680"/>
            <a:ext cx="11292840" cy="777240"/>
          </a:xfrm>
          <a:prstGeom prst="rect">
            <a:avLst/>
          </a:prstGeom>
          <a:solidFill>
            <a:srgbClr val="FFF7F7"/>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l">
              <a:spcAft>
                <a:spcPts val="200"/>
              </a:spcAft>
            </a:pPr>
            <a:r>
              <a:rPr sz="1400" b="1">
                <a:solidFill>
                  <a:srgbClr val="BB2019"/>
                </a:solidFill>
                <a:latin typeface="Open Sans"/>
                <a:ea typeface="Open Sans"/>
                <a:cs typeface="Open Sans"/>
              </a:rPr>
              <a:t>Ngay trên máy demo: </a:t>
            </a:r>
            <a:r>
              <a:rPr sz="1400">
                <a:solidFill>
                  <a:srgbClr val="262626"/>
                </a:solidFill>
                <a:latin typeface="Open Sans"/>
                <a:ea typeface="Open Sans"/>
                <a:cs typeface="Open Sans"/>
              </a:rPr>
              <a:t>Windows 11 (HĐH chủ) → Hyper-V/WSL2 (VMM) → máy ảo Linux kernel 5.15 → các container của hệ thống đặt vé.</a:t>
            </a:r>
            <a:endParaRPr sz="1400">
              <a:solidFill>
                <a:srgbClr val="262626"/>
              </a:solidFill>
              <a:latin typeface="Open Sans"/>
              <a:ea typeface="Open Sans"/>
              <a:cs typeface="Open Sans"/>
            </a:endParaRPr>
          </a:p>
        </p:txBody>
      </p:sp>
      <p:sp>
        <p:nvSpPr>
          <p:cNvPr id="27" name="Rounded Rectangle 26"/>
          <p:cNvSpPr/>
          <p:nvPr/>
        </p:nvSpPr>
        <p:spPr>
          <a:xfrm>
            <a:off x="10744200" y="347472"/>
            <a:ext cx="1005840" cy="292608"/>
          </a:xfrm>
          <a:prstGeom prst="roundRect">
            <a:avLst>
              <a:gd name="adj" fmla="val 50000"/>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spcAft>
                <a:spcPts val="200"/>
              </a:spcAft>
            </a:pPr>
            <a:r>
              <a:rPr sz="1150" b="1">
                <a:solidFill>
                  <a:srgbClr val="FFFFFF"/>
                </a:solidFill>
                <a:latin typeface="Open Sans"/>
                <a:ea typeface="Open Sans"/>
                <a:cs typeface="Open Sans"/>
              </a:rPr>
              <a:t>Demo 10</a:t>
            </a:r>
            <a:endParaRPr sz="1150" b="1">
              <a:solidFill>
                <a:srgbClr val="FFFFFF"/>
              </a:solidFill>
              <a:latin typeface="Open Sans"/>
              <a:ea typeface="Open Sans"/>
              <a:cs typeface="Open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Vì sao máy ảo chạy nhanh?</a:t>
            </a:r>
          </a:p>
        </p:txBody>
      </p:sp>
      <p:sp>
        <p:nvSpPr>
          <p:cNvPr id="3" name="Text Placeholder 2"/>
          <p:cNvSpPr>
            <a:spLocks noGrp="1"/>
          </p:cNvSpPr>
          <p:nvPr>
            <p:ph type="body" sz="quarter" idx="13"/>
          </p:nvPr>
        </p:nvSpPr>
        <p:spPr/>
        <p:txBody>
          <a:bodyPr/>
          <a:lstStyle/>
          <a:p>
            <a:r>
              <a:t>Ghi chú 3.5 · điều kiện Popek – Goldberg (1974)</a:t>
            </a:r>
          </a:p>
        </p:txBody>
      </p:sp>
      <p:sp>
        <p:nvSpPr>
          <p:cNvPr id="4" name="Slide Number Placeholder 3"/>
          <p:cNvSpPr>
            <a:spLocks noGrp="1"/>
          </p:cNvSpPr>
          <p:nvPr>
            <p:ph type="sldNum" sz="quarter" idx="12"/>
          </p:nvPr>
        </p:nvSpPr>
        <p:spPr/>
        <p:txBody>
          <a:bodyPr/>
          <a:lstStyle/>
          <a:p>
            <a:fld id="{D92DDFE6-74DA-46A1-A171-CE3314B0D579}" type="slidenum">
              <a:rPr lang="en-US" smtClean="0"/>
            </a:fld>
            <a:endParaRPr lang="en-US" dirty="0"/>
          </a:p>
        </p:txBody>
      </p:sp>
      <p:sp>
        <p:nvSpPr>
          <p:cNvPr id="5" name="Date Placeholder 4"/>
          <p:cNvSpPr>
            <a:spLocks noGrp="1"/>
          </p:cNvSpPr>
          <p:nvPr>
            <p:ph type="dt" sz="half" idx="10"/>
          </p:nvPr>
        </p:nvSpPr>
        <p:spPr/>
        <p:txBody>
          <a:bodyPr/>
          <a:lstStyle/>
          <a:p>
            <a:fld id="{2933FCAF-43A6-4F1B-B43D-A70C2A597932}" type="datetime1">
              <a:rPr lang="vi-VN" smtClean="0"/>
            </a:fld>
            <a:endParaRPr lang="en-US"/>
          </a:p>
        </p:txBody>
      </p:sp>
      <p:sp>
        <p:nvSpPr>
          <p:cNvPr id="6" name="Footer Placeholder 5"/>
          <p:cNvSpPr>
            <a:spLocks noGrp="1"/>
          </p:cNvSpPr>
          <p:nvPr>
            <p:ph type="ftr" sz="quarter" idx="11"/>
          </p:nvPr>
        </p:nvSpPr>
        <p:spPr/>
        <p:txBody>
          <a:bodyPr/>
          <a:lstStyle/>
          <a:p>
            <a:r>
              <a:rPr lang="en-US"/>
              <a:t>Chương 3 · Tiến trình: Luồng &amp; Ảo hoá</a:t>
            </a:r>
            <a:endParaRPr lang="en-US" dirty="0"/>
          </a:p>
        </p:txBody>
      </p:sp>
      <p:sp>
        <p:nvSpPr>
          <p:cNvPr id="7" name="Rectangle 6"/>
          <p:cNvSpPr/>
          <p:nvPr/>
        </p:nvSpPr>
        <p:spPr>
          <a:xfrm>
            <a:off x="457200" y="1325880"/>
            <a:ext cx="5486400" cy="1737360"/>
          </a:xfrm>
          <a:prstGeom prst="rect">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l">
              <a:spcAft>
                <a:spcPts val="200"/>
              </a:spcAft>
            </a:pPr>
            <a:r>
              <a:rPr sz="1500" b="1">
                <a:solidFill>
                  <a:srgbClr val="FFFFFF"/>
                </a:solidFill>
                <a:latin typeface="Open Sans"/>
                <a:ea typeface="Open Sans"/>
                <a:cs typeface="Open Sans"/>
              </a:rPr>
              <a:t>Định lý</a:t>
            </a:r>
            <a:endParaRPr sz="1500" b="1">
              <a:solidFill>
                <a:srgbClr val="FFFFFF"/>
              </a:solidFill>
              <a:latin typeface="Open Sans"/>
              <a:ea typeface="Open Sans"/>
              <a:cs typeface="Open Sans"/>
            </a:endParaRPr>
          </a:p>
          <a:p>
            <a:pPr algn="l">
              <a:spcAft>
                <a:spcPts val="200"/>
              </a:spcAft>
            </a:pPr>
            <a:r>
              <a:rPr sz="1700">
                <a:solidFill>
                  <a:srgbClr val="FFFFFF"/>
                </a:solidFill>
                <a:latin typeface="Open Sans"/>
                <a:ea typeface="Open Sans"/>
                <a:cs typeface="Open Sans"/>
              </a:rPr>
              <a:t>VMM xây dựng được nếu tập lệnh nhạy cảm là tập con của tập lệnh đặc quyền.</a:t>
            </a:r>
            <a:endParaRPr sz="1700">
              <a:solidFill>
                <a:srgbClr val="FFFFFF"/>
              </a:solidFill>
              <a:latin typeface="Open Sans"/>
              <a:ea typeface="Open Sans"/>
              <a:cs typeface="Open Sans"/>
            </a:endParaRPr>
          </a:p>
        </p:txBody>
      </p:sp>
      <p:graphicFrame>
        <p:nvGraphicFramePr>
          <p:cNvPr id="8" name="Table 7"/>
          <p:cNvGraphicFramePr>
            <a:graphicFrameLocks noGrp="1"/>
          </p:cNvGraphicFramePr>
          <p:nvPr/>
        </p:nvGraphicFramePr>
        <p:xfrm>
          <a:off x="457200" y="3291840"/>
          <a:ext cx="5486399" cy="2267712"/>
        </p:xfrm>
        <a:graphic>
          <a:graphicData uri="http://schemas.openxmlformats.org/drawingml/2006/table">
            <a:tbl>
              <a:tblPr firstRow="1" bandRow="1">
                <a:tableStyleId>{C083E6E3-FA7D-4D7B-A595-EF9225AFEA82}</a:tableStyleId>
              </a:tblPr>
              <a:tblGrid>
                <a:gridCol w="2011680"/>
                <a:gridCol w="3474719"/>
              </a:tblGrid>
              <a:tr h="566928">
                <a:tc>
                  <a:txBody>
                    <a:bodyPr wrap="square"/>
                    <a:lstStyle/>
                    <a:p>
                      <a:r>
                        <a:rPr sz="1300" b="1">
                          <a:solidFill>
                            <a:srgbClr val="BB2019"/>
                          </a:solidFill>
                          <a:latin typeface="Open Sans"/>
                          <a:ea typeface="Open Sans"/>
                          <a:cs typeface="Open Sans"/>
                        </a:rPr>
                        <a:t>Loại lệnh</a:t>
                      </a:r>
                      <a:endParaRPr sz="1300" b="1">
                        <a:solidFill>
                          <a:srgbClr val="BB2019"/>
                        </a:solidFill>
                        <a:latin typeface="Open Sans"/>
                        <a:ea typeface="Open Sans"/>
                        <a:cs typeface="Open Sans"/>
                      </a:endParaRPr>
                    </a:p>
                  </a:txBody>
                  <a:tcPr marL="73152" marR="73152" marT="27432" marB="27432" anchor="ctr"/>
                </a:tc>
                <a:tc>
                  <a:txBody>
                    <a:bodyPr wrap="square"/>
                    <a:lstStyle/>
                    <a:p>
                      <a:r>
                        <a:rPr sz="1300" b="1">
                          <a:solidFill>
                            <a:srgbClr val="BB2019"/>
                          </a:solidFill>
                          <a:latin typeface="Open Sans"/>
                          <a:ea typeface="Open Sans"/>
                          <a:cs typeface="Open Sans"/>
                        </a:rPr>
                        <a:t>Ý nghĩa</a:t>
                      </a:r>
                      <a:endParaRPr sz="1300" b="1">
                        <a:solidFill>
                          <a:srgbClr val="BB2019"/>
                        </a:solidFill>
                        <a:latin typeface="Open Sans"/>
                        <a:ea typeface="Open Sans"/>
                        <a:cs typeface="Open Sans"/>
                      </a:endParaRPr>
                    </a:p>
                  </a:txBody>
                  <a:tcPr marL="73152" marR="73152" marT="27432" marB="27432" anchor="ctr"/>
                </a:tc>
              </a:tr>
              <a:tr h="566928">
                <a:tc>
                  <a:txBody>
                    <a:bodyPr wrap="square"/>
                    <a:lstStyle/>
                    <a:p>
                      <a:r>
                        <a:rPr sz="1300" b="1">
                          <a:solidFill>
                            <a:srgbClr val="262626"/>
                          </a:solidFill>
                          <a:latin typeface="Open Sans"/>
                          <a:ea typeface="Open Sans"/>
                          <a:cs typeface="Open Sans"/>
                        </a:rPr>
                        <a:t>Đặc quyền</a:t>
                      </a:r>
                      <a:endParaRPr sz="1300" b="1">
                        <a:solidFill>
                          <a:srgbClr val="262626"/>
                        </a:solidFill>
                        <a:latin typeface="Open Sans"/>
                        <a:ea typeface="Open Sans"/>
                        <a:cs typeface="Open Sans"/>
                      </a:endParaRPr>
                    </a:p>
                  </a:txBody>
                  <a:tcPr marL="73152" marR="73152" marT="27432" marB="27432" anchor="ctr"/>
                </a:tc>
                <a:tc>
                  <a:txBody>
                    <a:bodyPr wrap="square"/>
                    <a:lstStyle/>
                    <a:p>
                      <a:r>
                        <a:rPr sz="1300" b="0">
                          <a:solidFill>
                            <a:srgbClr val="262626"/>
                          </a:solidFill>
                          <a:latin typeface="Open Sans"/>
                          <a:ea typeface="Open Sans"/>
                          <a:cs typeface="Open Sans"/>
                        </a:rPr>
                        <a:t>Gây bẫy (trap) nếu và chỉ nếu chạy ở user mode</a:t>
                      </a:r>
                      <a:endParaRPr sz="1300" b="0">
                        <a:solidFill>
                          <a:srgbClr val="262626"/>
                        </a:solidFill>
                        <a:latin typeface="Open Sans"/>
                        <a:ea typeface="Open Sans"/>
                        <a:cs typeface="Open Sans"/>
                      </a:endParaRPr>
                    </a:p>
                  </a:txBody>
                  <a:tcPr marL="73152" marR="73152" marT="27432" marB="27432" anchor="ctr"/>
                </a:tc>
              </a:tr>
              <a:tr h="566928">
                <a:tc>
                  <a:txBody>
                    <a:bodyPr wrap="square"/>
                    <a:lstStyle/>
                    <a:p>
                      <a:r>
                        <a:rPr sz="1300" b="1">
                          <a:solidFill>
                            <a:srgbClr val="262626"/>
                          </a:solidFill>
                          <a:latin typeface="Open Sans"/>
                          <a:ea typeface="Open Sans"/>
                          <a:cs typeface="Open Sans"/>
                        </a:rPr>
                        <a:t>Nhạy cảm điều khiển</a:t>
                      </a:r>
                      <a:endParaRPr sz="1300" b="1">
                        <a:solidFill>
                          <a:srgbClr val="262626"/>
                        </a:solidFill>
                        <a:latin typeface="Open Sans"/>
                        <a:ea typeface="Open Sans"/>
                        <a:cs typeface="Open Sans"/>
                      </a:endParaRPr>
                    </a:p>
                  </a:txBody>
                  <a:tcPr marL="73152" marR="73152" marT="27432" marB="27432" anchor="ctr"/>
                </a:tc>
                <a:tc>
                  <a:txBody>
                    <a:bodyPr wrap="square"/>
                    <a:lstStyle/>
                    <a:p>
                      <a:r>
                        <a:rPr sz="1300" b="0">
                          <a:solidFill>
                            <a:srgbClr val="262626"/>
                          </a:solidFill>
                          <a:latin typeface="Open Sans"/>
                          <a:ea typeface="Open Sans"/>
                          <a:cs typeface="Open Sans"/>
                        </a:rPr>
                        <a:t>Thay đổi cấu hình máy: thanh ghi định vị, bảng ngắt</a:t>
                      </a:r>
                      <a:endParaRPr sz="1300" b="0">
                        <a:solidFill>
                          <a:srgbClr val="262626"/>
                        </a:solidFill>
                        <a:latin typeface="Open Sans"/>
                        <a:ea typeface="Open Sans"/>
                        <a:cs typeface="Open Sans"/>
                      </a:endParaRPr>
                    </a:p>
                  </a:txBody>
                  <a:tcPr marL="73152" marR="73152" marT="27432" marB="27432" anchor="ctr"/>
                </a:tc>
              </a:tr>
              <a:tr h="566928">
                <a:tc>
                  <a:txBody>
                    <a:bodyPr wrap="square"/>
                    <a:lstStyle/>
                    <a:p>
                      <a:r>
                        <a:rPr sz="1300" b="1">
                          <a:solidFill>
                            <a:srgbClr val="262626"/>
                          </a:solidFill>
                          <a:latin typeface="Open Sans"/>
                          <a:ea typeface="Open Sans"/>
                          <a:cs typeface="Open Sans"/>
                        </a:rPr>
                        <a:t>Nhạy cảm hành vi</a:t>
                      </a:r>
                      <a:endParaRPr sz="1300" b="1">
                        <a:solidFill>
                          <a:srgbClr val="262626"/>
                        </a:solidFill>
                        <a:latin typeface="Open Sans"/>
                        <a:ea typeface="Open Sans"/>
                        <a:cs typeface="Open Sans"/>
                      </a:endParaRPr>
                    </a:p>
                  </a:txBody>
                  <a:tcPr marL="73152" marR="73152" marT="27432" marB="27432" anchor="ctr"/>
                </a:tc>
                <a:tc>
                  <a:txBody>
                    <a:bodyPr wrap="square"/>
                    <a:lstStyle/>
                    <a:p>
                      <a:r>
                        <a:rPr sz="1300" b="0">
                          <a:solidFill>
                            <a:srgbClr val="262626"/>
                          </a:solidFill>
                          <a:latin typeface="Open Sans"/>
                          <a:ea typeface="Open Sans"/>
                          <a:cs typeface="Open Sans"/>
                        </a:rPr>
                        <a:t>Tác dụng phụ thuộc mode, vd. POPF trên x86</a:t>
                      </a:r>
                      <a:endParaRPr sz="1300" b="0">
                        <a:solidFill>
                          <a:srgbClr val="262626"/>
                        </a:solidFill>
                        <a:latin typeface="Open Sans"/>
                        <a:ea typeface="Open Sans"/>
                        <a:cs typeface="Open Sans"/>
                      </a:endParaRPr>
                    </a:p>
                  </a:txBody>
                  <a:tcPr marL="73152" marR="73152" marT="27432" marB="27432" anchor="ctr"/>
                </a:tc>
              </a:tr>
            </a:tbl>
          </a:graphicData>
        </a:graphic>
      </p:graphicFrame>
      <p:sp>
        <p:nvSpPr>
          <p:cNvPr id="9" name="Rectangle 8"/>
          <p:cNvSpPr/>
          <p:nvPr/>
        </p:nvSpPr>
        <p:spPr>
          <a:xfrm>
            <a:off x="6355080" y="1325880"/>
            <a:ext cx="5394960" cy="1417320"/>
          </a:xfrm>
          <a:prstGeom prst="rect">
            <a:avLst/>
          </a:prstGeom>
          <a:solidFill>
            <a:srgbClr val="FFF7F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10" name="TextBox 9"/>
          <p:cNvSpPr txBox="1"/>
          <p:nvPr/>
        </p:nvSpPr>
        <p:spPr>
          <a:xfrm>
            <a:off x="6537960" y="1371600"/>
            <a:ext cx="2011680" cy="914400"/>
          </a:xfrm>
          <a:prstGeom prst="rect">
            <a:avLst/>
          </a:prstGeom>
          <a:noFill/>
        </p:spPr>
        <p:txBody>
          <a:bodyPr wrap="square" lIns="36576" tIns="36576" rIns="36576" bIns="36576" anchor="t">
            <a:spAutoFit/>
          </a:bodyPr>
          <a:lstStyle/>
          <a:p>
            <a:pPr algn="l">
              <a:spcAft>
                <a:spcPts val="400"/>
              </a:spcAft>
            </a:pPr>
            <a:r>
              <a:rPr sz="4800" b="1">
                <a:solidFill>
                  <a:srgbClr val="BB2019"/>
                </a:solidFill>
                <a:latin typeface="Open Sans"/>
                <a:ea typeface="Open Sans"/>
                <a:cs typeface="Open Sans"/>
              </a:rPr>
              <a:t>17</a:t>
            </a:r>
            <a:endParaRPr sz="4800" b="1">
              <a:solidFill>
                <a:srgbClr val="BB2019"/>
              </a:solidFill>
              <a:latin typeface="Open Sans"/>
              <a:ea typeface="Open Sans"/>
              <a:cs typeface="Open Sans"/>
            </a:endParaRPr>
          </a:p>
        </p:txBody>
      </p:sp>
      <p:sp>
        <p:nvSpPr>
          <p:cNvPr id="11" name="TextBox 10"/>
          <p:cNvSpPr txBox="1"/>
          <p:nvPr/>
        </p:nvSpPr>
        <p:spPr>
          <a:xfrm>
            <a:off x="7863840" y="1481328"/>
            <a:ext cx="3749039" cy="1188720"/>
          </a:xfrm>
          <a:prstGeom prst="rect">
            <a:avLst/>
          </a:prstGeom>
          <a:noFill/>
        </p:spPr>
        <p:txBody>
          <a:bodyPr wrap="square" lIns="36576" tIns="36576" rIns="36576" bIns="36576" anchor="t">
            <a:spAutoFit/>
          </a:bodyPr>
          <a:lstStyle/>
          <a:p>
            <a:pPr algn="l">
              <a:spcAft>
                <a:spcPts val="400"/>
              </a:spcAft>
            </a:pPr>
            <a:r>
              <a:rPr sz="1350">
                <a:solidFill>
                  <a:srgbClr val="262626"/>
                </a:solidFill>
                <a:latin typeface="Open Sans"/>
                <a:ea typeface="Open Sans"/>
                <a:cs typeface="Open Sans"/>
              </a:rPr>
              <a:t>lệnh nhạy cảm nhưng KHÔNG đặc quyền trong x86 → không bẫy được, phải xử lý riêng</a:t>
            </a:r>
            <a:endParaRPr sz="1350">
              <a:solidFill>
                <a:srgbClr val="262626"/>
              </a:solidFill>
              <a:latin typeface="Open Sans"/>
              <a:ea typeface="Open Sans"/>
              <a:cs typeface="Open Sans"/>
            </a:endParaRPr>
          </a:p>
        </p:txBody>
      </p:sp>
      <p:sp>
        <p:nvSpPr>
          <p:cNvPr id="12" name="Rectangle 11"/>
          <p:cNvSpPr/>
          <p:nvPr/>
        </p:nvSpPr>
        <p:spPr>
          <a:xfrm>
            <a:off x="6355080" y="2926080"/>
            <a:ext cx="2606040" cy="42062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28016" rIns="128016" bIns="128016" rtlCol="0" anchor="ctr"/>
          <a:lstStyle/>
          <a:p>
            <a:pPr algn="l">
              <a:spcAft>
                <a:spcPts val="200"/>
              </a:spcAft>
            </a:pPr>
            <a:r>
              <a:rPr sz="1400" b="1">
                <a:solidFill>
                  <a:srgbClr val="FFFFFF"/>
                </a:solidFill>
                <a:latin typeface="Open Sans"/>
                <a:ea typeface="Open Sans"/>
                <a:cs typeface="Open Sans"/>
              </a:rPr>
              <a:t>Full virtualization</a:t>
            </a:r>
            <a:endParaRPr sz="1400" b="1">
              <a:solidFill>
                <a:srgbClr val="FFFFFF"/>
              </a:solidFill>
              <a:latin typeface="Open Sans"/>
              <a:ea typeface="Open Sans"/>
              <a:cs typeface="Open Sans"/>
            </a:endParaRPr>
          </a:p>
        </p:txBody>
      </p:sp>
      <p:sp>
        <p:nvSpPr>
          <p:cNvPr id="13" name="Rectangle 12"/>
          <p:cNvSpPr/>
          <p:nvPr/>
        </p:nvSpPr>
        <p:spPr>
          <a:xfrm>
            <a:off x="6355080" y="3346704"/>
            <a:ext cx="2606040" cy="2871216"/>
          </a:xfrm>
          <a:prstGeom prst="rect">
            <a:avLst/>
          </a:prstGeom>
          <a:solidFill>
            <a:srgbClr val="FFF7F7"/>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28016" rIns="128016" bIns="128016" rtlCol="0" anchor="t"/>
          <a:lstStyle/>
          <a:p>
            <a:pPr marL="237490" indent="-201295" algn="l">
              <a:spcAft>
                <a:spcPts val="200"/>
              </a:spcAft>
              <a:buClr>
                <a:srgbClr val="BB2019"/>
              </a:buClr>
              <a:buFont typeface="Arial" panose="020B0604020202020204"/>
              <a:buChar char="•"/>
            </a:pPr>
            <a:r>
              <a:rPr sz="1300">
                <a:solidFill>
                  <a:srgbClr val="262626"/>
                </a:solidFill>
                <a:latin typeface="Open Sans"/>
                <a:ea typeface="Open Sans"/>
                <a:cs typeface="Open Sans"/>
              </a:rPr>
              <a:t>VMware quét mã nhị phân, chèn mã chuyển điều khiển quanh lệnh nhạy cảm</a:t>
            </a:r>
            <a:endParaRPr sz="1300">
              <a:solidFill>
                <a:srgbClr val="262626"/>
              </a:solidFill>
              <a:latin typeface="Open Sans"/>
              <a:ea typeface="Open Sans"/>
              <a:cs typeface="Open Sans"/>
            </a:endParaRPr>
          </a:p>
          <a:p>
            <a:pPr marL="237490" indent="-201295" algn="l">
              <a:spcAft>
                <a:spcPts val="200"/>
              </a:spcAft>
              <a:buClr>
                <a:srgbClr val="BB2019"/>
              </a:buClr>
              <a:buFont typeface="Arial" panose="020B0604020202020204"/>
              <a:buChar char="•"/>
            </a:pPr>
            <a:r>
              <a:rPr sz="1300">
                <a:solidFill>
                  <a:srgbClr val="262626"/>
                </a:solidFill>
                <a:latin typeface="Open Sans"/>
                <a:ea typeface="Open Sans"/>
                <a:cs typeface="Open Sans"/>
              </a:rPr>
              <a:t>Không sửa HĐH khách</a:t>
            </a:r>
            <a:endParaRPr sz="1300">
              <a:solidFill>
                <a:srgbClr val="262626"/>
              </a:solidFill>
              <a:latin typeface="Open Sans"/>
              <a:ea typeface="Open Sans"/>
              <a:cs typeface="Open Sans"/>
            </a:endParaRPr>
          </a:p>
        </p:txBody>
      </p:sp>
      <p:sp>
        <p:nvSpPr>
          <p:cNvPr id="14" name="Rectangle 13"/>
          <p:cNvSpPr/>
          <p:nvPr/>
        </p:nvSpPr>
        <p:spPr>
          <a:xfrm>
            <a:off x="9144000" y="2926080"/>
            <a:ext cx="2606040" cy="42062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28016" rIns="128016" bIns="128016" rtlCol="0" anchor="ctr"/>
          <a:lstStyle/>
          <a:p>
            <a:pPr algn="l">
              <a:spcAft>
                <a:spcPts val="200"/>
              </a:spcAft>
            </a:pPr>
            <a:r>
              <a:rPr sz="1400" b="1">
                <a:solidFill>
                  <a:srgbClr val="FFFFFF"/>
                </a:solidFill>
                <a:latin typeface="Open Sans"/>
                <a:ea typeface="Open Sans"/>
                <a:cs typeface="Open Sans"/>
              </a:rPr>
              <a:t>Paravirtualization</a:t>
            </a:r>
            <a:endParaRPr sz="1400" b="1">
              <a:solidFill>
                <a:srgbClr val="FFFFFF"/>
              </a:solidFill>
              <a:latin typeface="Open Sans"/>
              <a:ea typeface="Open Sans"/>
              <a:cs typeface="Open Sans"/>
            </a:endParaRPr>
          </a:p>
        </p:txBody>
      </p:sp>
      <p:sp>
        <p:nvSpPr>
          <p:cNvPr id="15" name="Rectangle 14"/>
          <p:cNvSpPr/>
          <p:nvPr/>
        </p:nvSpPr>
        <p:spPr>
          <a:xfrm>
            <a:off x="9144000" y="3346704"/>
            <a:ext cx="2606040" cy="2871216"/>
          </a:xfrm>
          <a:prstGeom prst="rect">
            <a:avLst/>
          </a:prstGeom>
          <a:solidFill>
            <a:srgbClr val="FFF7F7"/>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28016" rIns="128016" bIns="128016" rtlCol="0" anchor="t"/>
          <a:lstStyle/>
          <a:p>
            <a:pPr marL="237490" indent="-201295" algn="l">
              <a:spcAft>
                <a:spcPts val="200"/>
              </a:spcAft>
              <a:buClr>
                <a:srgbClr val="BB2019"/>
              </a:buClr>
              <a:buFont typeface="Arial" panose="020B0604020202020204"/>
              <a:buChar char="•"/>
            </a:pPr>
            <a:r>
              <a:rPr sz="1300">
                <a:solidFill>
                  <a:srgbClr val="262626"/>
                </a:solidFill>
                <a:latin typeface="Open Sans"/>
                <a:ea typeface="Open Sans"/>
                <a:cs typeface="Open Sans"/>
              </a:rPr>
              <a:t>Sửa HĐH khách để không còn dùng lệnh nhạy cảm</a:t>
            </a:r>
            <a:endParaRPr sz="1300">
              <a:solidFill>
                <a:srgbClr val="262626"/>
              </a:solidFill>
              <a:latin typeface="Open Sans"/>
              <a:ea typeface="Open Sans"/>
              <a:cs typeface="Open Sans"/>
            </a:endParaRPr>
          </a:p>
          <a:p>
            <a:pPr marL="237490" indent="-201295" algn="l">
              <a:spcAft>
                <a:spcPts val="200"/>
              </a:spcAft>
              <a:buClr>
                <a:srgbClr val="BB2019"/>
              </a:buClr>
              <a:buFont typeface="Arial" panose="020B0604020202020204"/>
              <a:buChar char="•"/>
            </a:pPr>
            <a:r>
              <a:rPr sz="1300">
                <a:solidFill>
                  <a:srgbClr val="262626"/>
                </a:solidFill>
                <a:latin typeface="Open Sans"/>
                <a:ea typeface="Open Sans"/>
                <a:cs typeface="Open Sans"/>
              </a:rPr>
              <a:t>Xen (Barham et al., 2003)</a:t>
            </a:r>
            <a:endParaRPr sz="1300">
              <a:solidFill>
                <a:srgbClr val="262626"/>
              </a:solidFill>
              <a:latin typeface="Open Sans"/>
              <a:ea typeface="Open Sans"/>
              <a:cs typeface="Open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Container: ảo hoá môi trường phần mềm</a:t>
            </a:r>
          </a:p>
        </p:txBody>
      </p:sp>
      <p:sp>
        <p:nvSpPr>
          <p:cNvPr id="3" name="Text Placeholder 2"/>
          <p:cNvSpPr>
            <a:spLocks noGrp="1"/>
          </p:cNvSpPr>
          <p:nvPr>
            <p:ph type="body" sz="quarter" idx="13"/>
          </p:nvPr>
        </p:nvSpPr>
        <p:spPr/>
        <p:txBody>
          <a:bodyPr/>
          <a:lstStyle/>
          <a:p>
            <a:r>
              <a:t>Mục 3.2.2 · ba cơ chế của Linux</a:t>
            </a:r>
          </a:p>
        </p:txBody>
      </p:sp>
      <p:sp>
        <p:nvSpPr>
          <p:cNvPr id="4" name="Slide Number Placeholder 3"/>
          <p:cNvSpPr>
            <a:spLocks noGrp="1"/>
          </p:cNvSpPr>
          <p:nvPr>
            <p:ph type="sldNum" sz="quarter" idx="12"/>
          </p:nvPr>
        </p:nvSpPr>
        <p:spPr/>
        <p:txBody>
          <a:bodyPr/>
          <a:lstStyle/>
          <a:p>
            <a:fld id="{D92DDFE6-74DA-46A1-A171-CE3314B0D579}" type="slidenum">
              <a:rPr lang="en-US" smtClean="0"/>
            </a:fld>
            <a:endParaRPr lang="en-US" dirty="0"/>
          </a:p>
        </p:txBody>
      </p:sp>
      <p:sp>
        <p:nvSpPr>
          <p:cNvPr id="5" name="Date Placeholder 4"/>
          <p:cNvSpPr>
            <a:spLocks noGrp="1"/>
          </p:cNvSpPr>
          <p:nvPr>
            <p:ph type="dt" sz="half" idx="10"/>
          </p:nvPr>
        </p:nvSpPr>
        <p:spPr/>
        <p:txBody>
          <a:bodyPr/>
          <a:lstStyle/>
          <a:p>
            <a:fld id="{2933FCAF-43A6-4F1B-B43D-A70C2A597932}" type="datetime1">
              <a:rPr lang="vi-VN" smtClean="0"/>
            </a:fld>
            <a:endParaRPr lang="en-US"/>
          </a:p>
        </p:txBody>
      </p:sp>
      <p:sp>
        <p:nvSpPr>
          <p:cNvPr id="6" name="Footer Placeholder 5"/>
          <p:cNvSpPr>
            <a:spLocks noGrp="1"/>
          </p:cNvSpPr>
          <p:nvPr>
            <p:ph type="ftr" sz="quarter" idx="11"/>
          </p:nvPr>
        </p:nvSpPr>
        <p:spPr/>
        <p:txBody>
          <a:bodyPr/>
          <a:lstStyle/>
          <a:p>
            <a:r>
              <a:rPr lang="en-US"/>
              <a:t>Chương 3 · Tiến trình: Luồng &amp; Ảo hoá</a:t>
            </a:r>
            <a:endParaRPr lang="en-US" dirty="0"/>
          </a:p>
        </p:txBody>
      </p:sp>
      <p:sp>
        <p:nvSpPr>
          <p:cNvPr id="7" name="Rectangle 6"/>
          <p:cNvSpPr/>
          <p:nvPr/>
        </p:nvSpPr>
        <p:spPr>
          <a:xfrm>
            <a:off x="457200" y="1280160"/>
            <a:ext cx="3611880" cy="2743200"/>
          </a:xfrm>
          <a:prstGeom prst="rect">
            <a:avLst/>
          </a:prstGeom>
          <a:solidFill>
            <a:srgbClr val="FFF7F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8" name="Oval 7"/>
          <p:cNvSpPr/>
          <p:nvPr/>
        </p:nvSpPr>
        <p:spPr>
          <a:xfrm>
            <a:off x="640080" y="1463039"/>
            <a:ext cx="420624" cy="420624"/>
          </a:xfrm>
          <a:prstGeom prst="ellipse">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600" b="1">
                <a:solidFill>
                  <a:srgbClr val="FFFFFF"/>
                </a:solidFill>
                <a:latin typeface="Open Sans"/>
                <a:ea typeface="Open Sans"/>
                <a:cs typeface="Open Sans"/>
              </a:rPr>
              <a:t>1</a:t>
            </a:r>
            <a:endParaRPr sz="1600" b="1">
              <a:solidFill>
                <a:srgbClr val="FFFFFF"/>
              </a:solidFill>
              <a:latin typeface="Open Sans"/>
              <a:ea typeface="Open Sans"/>
              <a:cs typeface="Open Sans"/>
            </a:endParaRPr>
          </a:p>
        </p:txBody>
      </p:sp>
      <p:sp>
        <p:nvSpPr>
          <p:cNvPr id="9" name="TextBox 8"/>
          <p:cNvSpPr txBox="1"/>
          <p:nvPr/>
        </p:nvSpPr>
        <p:spPr>
          <a:xfrm>
            <a:off x="1188720" y="1444751"/>
            <a:ext cx="2743200" cy="502920"/>
          </a:xfrm>
          <a:prstGeom prst="rect">
            <a:avLst/>
          </a:prstGeom>
          <a:noFill/>
        </p:spPr>
        <p:txBody>
          <a:bodyPr wrap="square" lIns="36576" tIns="36576" rIns="36576" bIns="36576" anchor="ctr">
            <a:spAutoFit/>
          </a:bodyPr>
          <a:lstStyle/>
          <a:p>
            <a:pPr algn="l">
              <a:spcAft>
                <a:spcPts val="400"/>
              </a:spcAft>
            </a:pPr>
            <a:r>
              <a:rPr sz="1600" b="1">
                <a:solidFill>
                  <a:srgbClr val="BB2019"/>
                </a:solidFill>
                <a:latin typeface="Open Sans"/>
                <a:ea typeface="Open Sans"/>
                <a:cs typeface="Open Sans"/>
              </a:rPr>
              <a:t>Namespaces</a:t>
            </a:r>
            <a:endParaRPr sz="1600" b="1">
              <a:solidFill>
                <a:srgbClr val="BB2019"/>
              </a:solidFill>
              <a:latin typeface="Open Sans"/>
              <a:ea typeface="Open Sans"/>
              <a:cs typeface="Open Sans"/>
            </a:endParaRPr>
          </a:p>
        </p:txBody>
      </p:sp>
      <p:sp>
        <p:nvSpPr>
          <p:cNvPr id="10" name="TextBox 9"/>
          <p:cNvSpPr txBox="1"/>
          <p:nvPr/>
        </p:nvSpPr>
        <p:spPr>
          <a:xfrm>
            <a:off x="640080" y="2029967"/>
            <a:ext cx="3246120" cy="1874519"/>
          </a:xfrm>
          <a:prstGeom prst="rect">
            <a:avLst/>
          </a:prstGeom>
          <a:noFill/>
        </p:spPr>
        <p:txBody>
          <a:bodyPr wrap="square" lIns="36576" tIns="36576" rIns="36576" bIns="36576" anchor="t">
            <a:spAutoFit/>
          </a:bodyPr>
          <a:lstStyle/>
          <a:p>
            <a:pPr algn="l">
              <a:spcAft>
                <a:spcPts val="300"/>
              </a:spcAft>
            </a:pPr>
            <a:r>
              <a:rPr sz="1350">
                <a:solidFill>
                  <a:srgbClr val="262626"/>
                </a:solidFill>
                <a:latin typeface="Open Sans"/>
                <a:ea typeface="Open Sans"/>
                <a:cs typeface="Open Sans"/>
              </a:rPr>
              <a:t>Mỗi nhóm tiến trình có cái nhìn riêng về định danh: PID, hostname, mạng, điểm mount. Trong container luôn có một “init” PID 1.</a:t>
            </a:r>
            <a:endParaRPr sz="1350">
              <a:solidFill>
                <a:srgbClr val="262626"/>
              </a:solidFill>
              <a:latin typeface="Open Sans"/>
              <a:ea typeface="Open Sans"/>
              <a:cs typeface="Open Sans"/>
            </a:endParaRPr>
          </a:p>
        </p:txBody>
      </p:sp>
      <p:sp>
        <p:nvSpPr>
          <p:cNvPr id="11" name="Rounded Rectangle 10"/>
          <p:cNvSpPr/>
          <p:nvPr/>
        </p:nvSpPr>
        <p:spPr>
          <a:xfrm>
            <a:off x="2834640" y="3611880"/>
            <a:ext cx="1051560" cy="292608"/>
          </a:xfrm>
          <a:prstGeom prst="roundRect">
            <a:avLst>
              <a:gd name="adj" fmla="val 50000"/>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spcAft>
                <a:spcPts val="200"/>
              </a:spcAft>
            </a:pPr>
            <a:r>
              <a:rPr sz="1150" b="1">
                <a:solidFill>
                  <a:srgbClr val="FFFFFF"/>
                </a:solidFill>
                <a:latin typeface="Open Sans"/>
                <a:ea typeface="Open Sans"/>
                <a:cs typeface="Open Sans"/>
              </a:rPr>
              <a:t>Demo 07</a:t>
            </a:r>
            <a:endParaRPr sz="1150" b="1">
              <a:solidFill>
                <a:srgbClr val="FFFFFF"/>
              </a:solidFill>
              <a:latin typeface="Open Sans"/>
              <a:ea typeface="Open Sans"/>
              <a:cs typeface="Open Sans"/>
            </a:endParaRPr>
          </a:p>
        </p:txBody>
      </p:sp>
      <p:sp>
        <p:nvSpPr>
          <p:cNvPr id="12" name="Rectangle 11"/>
          <p:cNvSpPr/>
          <p:nvPr/>
        </p:nvSpPr>
        <p:spPr>
          <a:xfrm>
            <a:off x="4251960" y="1280160"/>
            <a:ext cx="3611880" cy="2743200"/>
          </a:xfrm>
          <a:prstGeom prst="rect">
            <a:avLst/>
          </a:prstGeom>
          <a:solidFill>
            <a:srgbClr val="FFF7F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13" name="Oval 12"/>
          <p:cNvSpPr/>
          <p:nvPr/>
        </p:nvSpPr>
        <p:spPr>
          <a:xfrm>
            <a:off x="4434840" y="1463039"/>
            <a:ext cx="420624" cy="420624"/>
          </a:xfrm>
          <a:prstGeom prst="ellipse">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600" b="1">
                <a:solidFill>
                  <a:srgbClr val="FFFFFF"/>
                </a:solidFill>
                <a:latin typeface="Open Sans"/>
                <a:ea typeface="Open Sans"/>
                <a:cs typeface="Open Sans"/>
              </a:rPr>
              <a:t>2</a:t>
            </a:r>
            <a:endParaRPr sz="1600" b="1">
              <a:solidFill>
                <a:srgbClr val="FFFFFF"/>
              </a:solidFill>
              <a:latin typeface="Open Sans"/>
              <a:ea typeface="Open Sans"/>
              <a:cs typeface="Open Sans"/>
            </a:endParaRPr>
          </a:p>
        </p:txBody>
      </p:sp>
      <p:sp>
        <p:nvSpPr>
          <p:cNvPr id="14" name="TextBox 13"/>
          <p:cNvSpPr txBox="1"/>
          <p:nvPr/>
        </p:nvSpPr>
        <p:spPr>
          <a:xfrm>
            <a:off x="4983480" y="1444751"/>
            <a:ext cx="2743200" cy="502920"/>
          </a:xfrm>
          <a:prstGeom prst="rect">
            <a:avLst/>
          </a:prstGeom>
          <a:noFill/>
        </p:spPr>
        <p:txBody>
          <a:bodyPr wrap="square" lIns="36576" tIns="36576" rIns="36576" bIns="36576" anchor="ctr">
            <a:spAutoFit/>
          </a:bodyPr>
          <a:lstStyle/>
          <a:p>
            <a:pPr algn="l">
              <a:spcAft>
                <a:spcPts val="400"/>
              </a:spcAft>
            </a:pPr>
            <a:r>
              <a:rPr sz="1600" b="1">
                <a:solidFill>
                  <a:srgbClr val="BB2019"/>
                </a:solidFill>
                <a:latin typeface="Open Sans"/>
                <a:ea typeface="Open Sans"/>
                <a:cs typeface="Open Sans"/>
              </a:rPr>
              <a:t>Union file system</a:t>
            </a:r>
            <a:endParaRPr sz="1600" b="1">
              <a:solidFill>
                <a:srgbClr val="BB2019"/>
              </a:solidFill>
              <a:latin typeface="Open Sans"/>
              <a:ea typeface="Open Sans"/>
              <a:cs typeface="Open Sans"/>
            </a:endParaRPr>
          </a:p>
        </p:txBody>
      </p:sp>
      <p:sp>
        <p:nvSpPr>
          <p:cNvPr id="15" name="TextBox 14"/>
          <p:cNvSpPr txBox="1"/>
          <p:nvPr/>
        </p:nvSpPr>
        <p:spPr>
          <a:xfrm>
            <a:off x="4434840" y="2029967"/>
            <a:ext cx="3246120" cy="1874519"/>
          </a:xfrm>
          <a:prstGeom prst="rect">
            <a:avLst/>
          </a:prstGeom>
          <a:noFill/>
        </p:spPr>
        <p:txBody>
          <a:bodyPr wrap="square" lIns="36576" tIns="36576" rIns="36576" bIns="36576" anchor="t">
            <a:spAutoFit/>
          </a:bodyPr>
          <a:lstStyle/>
          <a:p>
            <a:pPr algn="l">
              <a:spcAft>
                <a:spcPts val="300"/>
              </a:spcAft>
            </a:pPr>
            <a:r>
              <a:rPr sz="1350">
                <a:solidFill>
                  <a:srgbClr val="262626"/>
                </a:solidFill>
                <a:latin typeface="Open Sans"/>
                <a:ea typeface="Open Sans"/>
                <a:cs typeface="Open Sans"/>
              </a:rPr>
              <a:t>Ghép nhiều hệ thống tệp thành các lớp chỉ đọc bằng mount liên tiếp; chỉ lớp trên cùng của container là ghi được.</a:t>
            </a:r>
            <a:endParaRPr sz="1350">
              <a:solidFill>
                <a:srgbClr val="262626"/>
              </a:solidFill>
              <a:latin typeface="Open Sans"/>
              <a:ea typeface="Open Sans"/>
              <a:cs typeface="Open Sans"/>
            </a:endParaRPr>
          </a:p>
        </p:txBody>
      </p:sp>
      <p:sp>
        <p:nvSpPr>
          <p:cNvPr id="16" name="Rounded Rectangle 15"/>
          <p:cNvSpPr/>
          <p:nvPr/>
        </p:nvSpPr>
        <p:spPr>
          <a:xfrm>
            <a:off x="6629400" y="3611880"/>
            <a:ext cx="1051560" cy="292608"/>
          </a:xfrm>
          <a:prstGeom prst="roundRect">
            <a:avLst>
              <a:gd name="adj" fmla="val 50000"/>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spcAft>
                <a:spcPts val="200"/>
              </a:spcAft>
            </a:pPr>
            <a:r>
              <a:rPr sz="1150" b="1">
                <a:solidFill>
                  <a:srgbClr val="FFFFFF"/>
                </a:solidFill>
                <a:latin typeface="Open Sans"/>
                <a:ea typeface="Open Sans"/>
                <a:cs typeface="Open Sans"/>
              </a:rPr>
              <a:t>Demo 08</a:t>
            </a:r>
            <a:endParaRPr sz="1150" b="1">
              <a:solidFill>
                <a:srgbClr val="FFFFFF"/>
              </a:solidFill>
              <a:latin typeface="Open Sans"/>
              <a:ea typeface="Open Sans"/>
              <a:cs typeface="Open Sans"/>
            </a:endParaRPr>
          </a:p>
        </p:txBody>
      </p:sp>
      <p:sp>
        <p:nvSpPr>
          <p:cNvPr id="17" name="Rectangle 16"/>
          <p:cNvSpPr/>
          <p:nvPr/>
        </p:nvSpPr>
        <p:spPr>
          <a:xfrm>
            <a:off x="8046720" y="1280160"/>
            <a:ext cx="3611880" cy="2743200"/>
          </a:xfrm>
          <a:prstGeom prst="rect">
            <a:avLst/>
          </a:prstGeom>
          <a:solidFill>
            <a:srgbClr val="FFF7F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18" name="Oval 17"/>
          <p:cNvSpPr/>
          <p:nvPr/>
        </p:nvSpPr>
        <p:spPr>
          <a:xfrm>
            <a:off x="8229600" y="1463039"/>
            <a:ext cx="420624" cy="420624"/>
          </a:xfrm>
          <a:prstGeom prst="ellipse">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600" b="1">
                <a:solidFill>
                  <a:srgbClr val="FFFFFF"/>
                </a:solidFill>
                <a:latin typeface="Open Sans"/>
                <a:ea typeface="Open Sans"/>
                <a:cs typeface="Open Sans"/>
              </a:rPr>
              <a:t>3</a:t>
            </a:r>
            <a:endParaRPr sz="1600" b="1">
              <a:solidFill>
                <a:srgbClr val="FFFFFF"/>
              </a:solidFill>
              <a:latin typeface="Open Sans"/>
              <a:ea typeface="Open Sans"/>
              <a:cs typeface="Open Sans"/>
            </a:endParaRPr>
          </a:p>
        </p:txBody>
      </p:sp>
      <p:sp>
        <p:nvSpPr>
          <p:cNvPr id="19" name="TextBox 18"/>
          <p:cNvSpPr txBox="1"/>
          <p:nvPr/>
        </p:nvSpPr>
        <p:spPr>
          <a:xfrm>
            <a:off x="8778240" y="1444751"/>
            <a:ext cx="2743199" cy="502920"/>
          </a:xfrm>
          <a:prstGeom prst="rect">
            <a:avLst/>
          </a:prstGeom>
          <a:noFill/>
        </p:spPr>
        <p:txBody>
          <a:bodyPr wrap="square" lIns="36576" tIns="36576" rIns="36576" bIns="36576" anchor="ctr">
            <a:spAutoFit/>
          </a:bodyPr>
          <a:lstStyle/>
          <a:p>
            <a:pPr algn="l">
              <a:spcAft>
                <a:spcPts val="400"/>
              </a:spcAft>
            </a:pPr>
            <a:r>
              <a:rPr sz="1600" b="1">
                <a:solidFill>
                  <a:srgbClr val="BB2019"/>
                </a:solidFill>
                <a:latin typeface="Open Sans"/>
                <a:ea typeface="Open Sans"/>
                <a:cs typeface="Open Sans"/>
              </a:rPr>
              <a:t>Control groups</a:t>
            </a:r>
            <a:endParaRPr sz="1600" b="1">
              <a:solidFill>
                <a:srgbClr val="BB2019"/>
              </a:solidFill>
              <a:latin typeface="Open Sans"/>
              <a:ea typeface="Open Sans"/>
              <a:cs typeface="Open Sans"/>
            </a:endParaRPr>
          </a:p>
        </p:txBody>
      </p:sp>
      <p:sp>
        <p:nvSpPr>
          <p:cNvPr id="20" name="TextBox 19"/>
          <p:cNvSpPr txBox="1"/>
          <p:nvPr/>
        </p:nvSpPr>
        <p:spPr>
          <a:xfrm>
            <a:off x="8229600" y="2029967"/>
            <a:ext cx="3246120" cy="1874519"/>
          </a:xfrm>
          <a:prstGeom prst="rect">
            <a:avLst/>
          </a:prstGeom>
          <a:noFill/>
        </p:spPr>
        <p:txBody>
          <a:bodyPr wrap="square" lIns="36576" tIns="36576" rIns="36576" bIns="36576" anchor="t">
            <a:spAutoFit/>
          </a:bodyPr>
          <a:lstStyle/>
          <a:p>
            <a:pPr algn="l">
              <a:spcAft>
                <a:spcPts val="300"/>
              </a:spcAft>
            </a:pPr>
            <a:r>
              <a:rPr sz="1350">
                <a:solidFill>
                  <a:srgbClr val="262626"/>
                </a:solidFill>
                <a:latin typeface="Open Sans"/>
                <a:ea typeface="Open Sans"/>
                <a:cs typeface="Open Sans"/>
              </a:rPr>
              <a:t>Giới hạn tài nguyên cho một nhóm tiến trình: bộ nhớ tối đa, mức ưu tiên CPU… để không container nào chiếm hết máy.</a:t>
            </a:r>
            <a:endParaRPr sz="1350">
              <a:solidFill>
                <a:srgbClr val="262626"/>
              </a:solidFill>
              <a:latin typeface="Open Sans"/>
              <a:ea typeface="Open Sans"/>
              <a:cs typeface="Open Sans"/>
            </a:endParaRPr>
          </a:p>
        </p:txBody>
      </p:sp>
      <p:sp>
        <p:nvSpPr>
          <p:cNvPr id="21" name="Rounded Rectangle 20"/>
          <p:cNvSpPr/>
          <p:nvPr/>
        </p:nvSpPr>
        <p:spPr>
          <a:xfrm>
            <a:off x="10424160" y="3611880"/>
            <a:ext cx="1051560" cy="292608"/>
          </a:xfrm>
          <a:prstGeom prst="roundRect">
            <a:avLst>
              <a:gd name="adj" fmla="val 50000"/>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spcAft>
                <a:spcPts val="200"/>
              </a:spcAft>
            </a:pPr>
            <a:r>
              <a:rPr sz="1150" b="1">
                <a:solidFill>
                  <a:srgbClr val="FFFFFF"/>
                </a:solidFill>
                <a:latin typeface="Open Sans"/>
                <a:ea typeface="Open Sans"/>
                <a:cs typeface="Open Sans"/>
              </a:rPr>
              <a:t>Demo 09</a:t>
            </a:r>
            <a:endParaRPr sz="1150" b="1">
              <a:solidFill>
                <a:srgbClr val="FFFFFF"/>
              </a:solidFill>
              <a:latin typeface="Open Sans"/>
              <a:ea typeface="Open Sans"/>
              <a:cs typeface="Open Sans"/>
            </a:endParaRPr>
          </a:p>
        </p:txBody>
      </p:sp>
      <p:sp>
        <p:nvSpPr>
          <p:cNvPr id="22" name="Rectangle 21"/>
          <p:cNvSpPr/>
          <p:nvPr/>
        </p:nvSpPr>
        <p:spPr>
          <a:xfrm>
            <a:off x="457200" y="4251960"/>
            <a:ext cx="6675120" cy="1965960"/>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28016" rIns="128016" bIns="128016" rtlCol="0" anchor="t"/>
          <a:lstStyle/>
          <a:p>
            <a:pPr algn="l">
              <a:spcAft>
                <a:spcPts val="0"/>
              </a:spcAft>
            </a:pPr>
            <a:r>
              <a:rPr sz="1250">
                <a:solidFill>
                  <a:srgbClr val="BB2019"/>
                </a:solidFill>
                <a:latin typeface="Consolas" panose="020B0609020204030204"/>
                <a:ea typeface="Consolas" panose="020B0609020204030204"/>
                <a:cs typeface="Consolas" panose="020B0609020204030204"/>
              </a:rPr>
              <a:t>$ unshare --pid --fork --mount-proc bash</a:t>
            </a:r>
            <a:endParaRPr sz="1250">
              <a:solidFill>
                <a:srgbClr val="BB2019"/>
              </a:solidFill>
              <a:latin typeface="Consolas" panose="020B0609020204030204"/>
              <a:ea typeface="Consolas" panose="020B0609020204030204"/>
              <a:cs typeface="Consolas" panose="020B0609020204030204"/>
            </a:endParaRPr>
          </a:p>
          <a:p>
            <a:pPr algn="l">
              <a:spcAft>
                <a:spcPts val="0"/>
              </a:spcAft>
            </a:pPr>
            <a:r>
              <a:rPr sz="1250">
                <a:solidFill>
                  <a:srgbClr val="BB2019"/>
                </a:solidFill>
                <a:latin typeface="Consolas" panose="020B0609020204030204"/>
                <a:ea typeface="Consolas" panose="020B0609020204030204"/>
                <a:cs typeface="Consolas" panose="020B0609020204030204"/>
              </a:rPr>
              <a:t>$ ps -ef</a:t>
            </a:r>
            <a:endParaRPr sz="1250">
              <a:solidFill>
                <a:srgbClr val="BB2019"/>
              </a:solidFill>
              <a:latin typeface="Consolas" panose="020B0609020204030204"/>
              <a:ea typeface="Consolas" panose="020B0609020204030204"/>
              <a:cs typeface="Consolas" panose="020B0609020204030204"/>
            </a:endParaRPr>
          </a:p>
          <a:p>
            <a:pPr algn="l">
              <a:spcAft>
                <a:spcPts val="0"/>
              </a:spcAft>
            </a:pPr>
            <a:r>
              <a:rPr sz="1250">
                <a:solidFill>
                  <a:srgbClr val="262626"/>
                </a:solidFill>
                <a:latin typeface="Consolas" panose="020B0609020204030204"/>
                <a:ea typeface="Consolas" panose="020B0609020204030204"/>
                <a:cs typeface="Consolas" panose="020B0609020204030204"/>
              </a:rPr>
              <a:t>UID   PID  PPID  C STIME TTY    TIME     CMD</a:t>
            </a:r>
            <a:endParaRPr sz="1250">
              <a:solidFill>
                <a:srgbClr val="262626"/>
              </a:solidFill>
              <a:latin typeface="Consolas" panose="020B0609020204030204"/>
              <a:ea typeface="Consolas" panose="020B0609020204030204"/>
              <a:cs typeface="Consolas" panose="020B0609020204030204"/>
            </a:endParaRPr>
          </a:p>
          <a:p>
            <a:pPr algn="l">
              <a:spcAft>
                <a:spcPts val="0"/>
              </a:spcAft>
            </a:pPr>
            <a:r>
              <a:rPr sz="1250">
                <a:solidFill>
                  <a:srgbClr val="262626"/>
                </a:solidFill>
                <a:latin typeface="Consolas" panose="020B0609020204030204"/>
                <a:ea typeface="Consolas" panose="020B0609020204030204"/>
                <a:cs typeface="Consolas" panose="020B0609020204030204"/>
              </a:rPr>
              <a:t>root    1     0  0 06:27 pts/0  00:00:00 bash</a:t>
            </a:r>
            <a:endParaRPr sz="1250">
              <a:solidFill>
                <a:srgbClr val="262626"/>
              </a:solidFill>
              <a:latin typeface="Consolas" panose="020B0609020204030204"/>
              <a:ea typeface="Consolas" panose="020B0609020204030204"/>
              <a:cs typeface="Consolas" panose="020B0609020204030204"/>
            </a:endParaRPr>
          </a:p>
          <a:p>
            <a:pPr algn="l">
              <a:spcAft>
                <a:spcPts val="0"/>
              </a:spcAft>
            </a:pPr>
            <a:r>
              <a:rPr sz="1250">
                <a:solidFill>
                  <a:srgbClr val="262626"/>
                </a:solidFill>
                <a:latin typeface="Consolas" panose="020B0609020204030204"/>
                <a:ea typeface="Consolas" panose="020B0609020204030204"/>
                <a:cs typeface="Consolas" panose="020B0609020204030204"/>
              </a:rPr>
              <a:t>root    2     1  0 06:27 pts/0  00:00:00 ps -ef</a:t>
            </a:r>
            <a:endParaRPr sz="1250">
              <a:solidFill>
                <a:srgbClr val="262626"/>
              </a:solidFill>
              <a:latin typeface="Consolas" panose="020B0609020204030204"/>
              <a:ea typeface="Consolas" panose="020B0609020204030204"/>
              <a:cs typeface="Consolas" panose="020B0609020204030204"/>
            </a:endParaRPr>
          </a:p>
        </p:txBody>
      </p:sp>
      <p:sp>
        <p:nvSpPr>
          <p:cNvPr id="23" name="Rectangle 22"/>
          <p:cNvSpPr/>
          <p:nvPr/>
        </p:nvSpPr>
        <p:spPr>
          <a:xfrm>
            <a:off x="7360920" y="4251960"/>
            <a:ext cx="4389120" cy="1965960"/>
          </a:xfrm>
          <a:prstGeom prst="rect">
            <a:avLst/>
          </a:prstGeom>
          <a:solidFill>
            <a:srgbClr val="FFF7F7"/>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t"/>
          <a:lstStyle/>
          <a:p>
            <a:pPr algn="l">
              <a:spcAft>
                <a:spcPts val="200"/>
              </a:spcAft>
            </a:pPr>
            <a:r>
              <a:rPr sz="1600" b="1">
                <a:solidFill>
                  <a:srgbClr val="BB2019"/>
                </a:solidFill>
                <a:latin typeface="Open Sans"/>
                <a:ea typeface="Open Sans"/>
                <a:cs typeface="Open Sans"/>
              </a:rPr>
              <a:t>Container ≠ chroot</a:t>
            </a:r>
            <a:endParaRPr sz="1600" b="1">
              <a:solidFill>
                <a:srgbClr val="BB2019"/>
              </a:solidFill>
              <a:latin typeface="Open Sans"/>
              <a:ea typeface="Open Sans"/>
              <a:cs typeface="Open Sans"/>
            </a:endParaRPr>
          </a:p>
          <a:p>
            <a:pPr algn="l">
              <a:spcAft>
                <a:spcPts val="200"/>
              </a:spcAft>
            </a:pPr>
            <a:r>
              <a:rPr sz="1350">
                <a:solidFill>
                  <a:srgbClr val="262626"/>
                </a:solidFill>
                <a:latin typeface="Open Sans"/>
                <a:ea typeface="Open Sans"/>
                <a:cs typeface="Open Sans"/>
              </a:rPr>
              <a:t>chroot chỉ đổi thư mục gốc. Container cần thêm cô lập (namespaces), chia sẻ hiệu quả (union FS) và kiểm soát tài nguyên (cgroups).</a:t>
            </a:r>
            <a:endParaRPr sz="1350">
              <a:solidFill>
                <a:srgbClr val="262626"/>
              </a:solidFill>
              <a:latin typeface="Open Sans"/>
              <a:ea typeface="Open Sans"/>
              <a:cs typeface="Open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Tổ chức một container — ví dụ PlanetLab</a:t>
            </a:r>
          </a:p>
        </p:txBody>
      </p:sp>
      <p:sp>
        <p:nvSpPr>
          <p:cNvPr id="3" name="Text Placeholder 2"/>
          <p:cNvSpPr>
            <a:spLocks noGrp="1"/>
          </p:cNvSpPr>
          <p:nvPr>
            <p:ph type="body" sz="quarter" idx="13"/>
          </p:nvPr>
        </p:nvSpPr>
        <p:spPr/>
        <p:txBody>
          <a:bodyPr/>
          <a:lstStyle/>
          <a:p>
            <a:r>
              <a:t>Hình 3.12 – 3.14 · container là kho tệp + các lớp dùng chung + cái nhìn riêng</a:t>
            </a:r>
          </a:p>
        </p:txBody>
      </p:sp>
      <p:sp>
        <p:nvSpPr>
          <p:cNvPr id="4" name="Slide Number Placeholder 3"/>
          <p:cNvSpPr>
            <a:spLocks noGrp="1"/>
          </p:cNvSpPr>
          <p:nvPr>
            <p:ph type="sldNum" sz="quarter" idx="12"/>
          </p:nvPr>
        </p:nvSpPr>
        <p:spPr/>
        <p:txBody>
          <a:bodyPr/>
          <a:lstStyle/>
          <a:p>
            <a:fld id="{D92DDFE6-74DA-46A1-A171-CE3314B0D579}" type="slidenum">
              <a:rPr lang="en-US" smtClean="0"/>
            </a:fld>
            <a:endParaRPr lang="en-US" dirty="0"/>
          </a:p>
        </p:txBody>
      </p:sp>
      <p:sp>
        <p:nvSpPr>
          <p:cNvPr id="5" name="Date Placeholder 4"/>
          <p:cNvSpPr>
            <a:spLocks noGrp="1"/>
          </p:cNvSpPr>
          <p:nvPr>
            <p:ph type="dt" sz="half" idx="10"/>
          </p:nvPr>
        </p:nvSpPr>
        <p:spPr/>
        <p:txBody>
          <a:bodyPr/>
          <a:lstStyle/>
          <a:p>
            <a:fld id="{2933FCAF-43A6-4F1B-B43D-A70C2A597932}" type="datetime1">
              <a:rPr lang="vi-VN" smtClean="0"/>
            </a:fld>
            <a:endParaRPr lang="en-US"/>
          </a:p>
        </p:txBody>
      </p:sp>
      <p:sp>
        <p:nvSpPr>
          <p:cNvPr id="6" name="Footer Placeholder 5"/>
          <p:cNvSpPr>
            <a:spLocks noGrp="1"/>
          </p:cNvSpPr>
          <p:nvPr>
            <p:ph type="ftr" sz="quarter" idx="11"/>
          </p:nvPr>
        </p:nvSpPr>
        <p:spPr/>
        <p:txBody>
          <a:bodyPr/>
          <a:lstStyle/>
          <a:p>
            <a:r>
              <a:rPr lang="en-US"/>
              <a:t>Chương 3 · Tiến trình: Luồng &amp; Ảo hoá</a:t>
            </a:r>
            <a:endParaRPr lang="en-US" dirty="0"/>
          </a:p>
        </p:txBody>
      </p:sp>
      <p:sp>
        <p:nvSpPr>
          <p:cNvPr id="7" name="Rectangle 6"/>
          <p:cNvSpPr/>
          <p:nvPr/>
        </p:nvSpPr>
        <p:spPr>
          <a:xfrm>
            <a:off x="457200" y="5532120"/>
            <a:ext cx="5669280" cy="640080"/>
          </a:xfrm>
          <a:prstGeom prst="rect">
            <a:avLst/>
          </a:prstGeom>
          <a:solidFill>
            <a:srgbClr val="4A1A1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200"/>
              </a:spcAft>
            </a:pPr>
            <a:r>
              <a:rPr sz="1400" b="1">
                <a:solidFill>
                  <a:srgbClr val="FFFFFF"/>
                </a:solidFill>
                <a:latin typeface="Open Sans"/>
                <a:ea typeface="Open Sans"/>
                <a:cs typeface="Open Sans"/>
              </a:rPr>
              <a:t>Nhân hệ điều hành chủ (dùng chung)</a:t>
            </a:r>
            <a:endParaRPr sz="1400" b="1">
              <a:solidFill>
                <a:srgbClr val="FFFFFF"/>
              </a:solidFill>
              <a:latin typeface="Open Sans"/>
              <a:ea typeface="Open Sans"/>
              <a:cs typeface="Open Sans"/>
            </a:endParaRPr>
          </a:p>
        </p:txBody>
      </p:sp>
      <p:sp>
        <p:nvSpPr>
          <p:cNvPr id="8" name="Rectangle 7"/>
          <p:cNvSpPr/>
          <p:nvPr/>
        </p:nvSpPr>
        <p:spPr>
          <a:xfrm>
            <a:off x="457200" y="4846320"/>
            <a:ext cx="5669280" cy="548640"/>
          </a:xfrm>
          <a:prstGeom prst="rect">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200"/>
              </a:spcAft>
            </a:pPr>
            <a:r>
              <a:rPr sz="1300" b="1">
                <a:solidFill>
                  <a:srgbClr val="FFFFFF"/>
                </a:solidFill>
                <a:latin typeface="Open Sans"/>
                <a:ea typeface="Open Sans"/>
                <a:cs typeface="Open Sans"/>
              </a:rPr>
              <a:t>namespaces + cgroups + hạn chế system call</a:t>
            </a:r>
            <a:endParaRPr sz="1300" b="1">
              <a:solidFill>
                <a:srgbClr val="FFFFFF"/>
              </a:solidFill>
              <a:latin typeface="Open Sans"/>
              <a:ea typeface="Open Sans"/>
              <a:cs typeface="Open Sans"/>
            </a:endParaRPr>
          </a:p>
        </p:txBody>
      </p:sp>
      <p:sp>
        <p:nvSpPr>
          <p:cNvPr id="9" name="Rectangle 8"/>
          <p:cNvSpPr/>
          <p:nvPr/>
        </p:nvSpPr>
        <p:spPr>
          <a:xfrm>
            <a:off x="457200" y="1325880"/>
            <a:ext cx="2743200" cy="3017520"/>
          </a:xfrm>
          <a:prstGeom prst="rect">
            <a:avLst/>
          </a:prstGeom>
          <a:solidFill>
            <a:srgbClr val="FFF7F7"/>
          </a:solidFill>
          <a:ln w="12700">
            <a:solidFill>
              <a:srgbClr val="BB2019"/>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10" name="TextBox 9"/>
          <p:cNvSpPr txBox="1"/>
          <p:nvPr/>
        </p:nvSpPr>
        <p:spPr>
          <a:xfrm>
            <a:off x="457200" y="1371600"/>
            <a:ext cx="2743200" cy="365760"/>
          </a:xfrm>
          <a:prstGeom prst="rect">
            <a:avLst/>
          </a:prstGeom>
          <a:noFill/>
        </p:spPr>
        <p:txBody>
          <a:bodyPr wrap="square" lIns="36576" tIns="36576" rIns="36576" bIns="36576" anchor="t">
            <a:spAutoFit/>
          </a:bodyPr>
          <a:lstStyle/>
          <a:p>
            <a:pPr algn="ctr">
              <a:spcAft>
                <a:spcPts val="400"/>
              </a:spcAft>
            </a:pPr>
            <a:r>
              <a:rPr sz="1400" b="1">
                <a:solidFill>
                  <a:srgbClr val="BB2019"/>
                </a:solidFill>
                <a:latin typeface="Open Sans"/>
                <a:ea typeface="Open Sans"/>
                <a:cs typeface="Open Sans"/>
              </a:rPr>
              <a:t>Container 1</a:t>
            </a:r>
            <a:endParaRPr sz="1400" b="1">
              <a:solidFill>
                <a:srgbClr val="BB2019"/>
              </a:solidFill>
              <a:latin typeface="Open Sans"/>
              <a:ea typeface="Open Sans"/>
              <a:cs typeface="Open Sans"/>
            </a:endParaRPr>
          </a:p>
        </p:txBody>
      </p:sp>
      <p:sp>
        <p:nvSpPr>
          <p:cNvPr id="11" name="Rectangle 10"/>
          <p:cNvSpPr/>
          <p:nvPr/>
        </p:nvSpPr>
        <p:spPr>
          <a:xfrm>
            <a:off x="640080" y="1783080"/>
            <a:ext cx="2377440" cy="530352"/>
          </a:xfrm>
          <a:prstGeom prst="rect">
            <a:avLst/>
          </a:prstGeom>
          <a:solidFill>
            <a:srgbClr val="FFFFFF"/>
          </a:solidFill>
          <a:ln w="12700">
            <a:solidFill>
              <a:srgbClr val="BB2019"/>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200"/>
              </a:spcAft>
            </a:pPr>
            <a:r>
              <a:rPr sz="1150" b="1">
                <a:solidFill>
                  <a:srgbClr val="BB2019"/>
                </a:solidFill>
                <a:latin typeface="Open Sans"/>
                <a:ea typeface="Open Sans"/>
                <a:cs typeface="Open Sans"/>
              </a:rPr>
              <a:t>Lớp ghi được (riêng)</a:t>
            </a:r>
            <a:endParaRPr sz="1150" b="1">
              <a:solidFill>
                <a:srgbClr val="BB2019"/>
              </a:solidFill>
              <a:latin typeface="Open Sans"/>
              <a:ea typeface="Open Sans"/>
              <a:cs typeface="Open Sans"/>
            </a:endParaRPr>
          </a:p>
        </p:txBody>
      </p:sp>
      <p:sp>
        <p:nvSpPr>
          <p:cNvPr id="12" name="Rectangle 11"/>
          <p:cNvSpPr/>
          <p:nvPr/>
        </p:nvSpPr>
        <p:spPr>
          <a:xfrm>
            <a:off x="640080" y="2404872"/>
            <a:ext cx="2377440" cy="530352"/>
          </a:xfrm>
          <a:prstGeom prst="rect">
            <a:avLst/>
          </a:prstGeom>
          <a:solidFill>
            <a:srgbClr val="FDECEB"/>
          </a:solidFill>
          <a:ln w="12700">
            <a:solidFill>
              <a:srgbClr val="BB2019"/>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200"/>
              </a:spcAft>
            </a:pPr>
            <a:r>
              <a:rPr sz="1150" b="1">
                <a:solidFill>
                  <a:srgbClr val="BB2019"/>
                </a:solidFill>
                <a:latin typeface="Open Sans"/>
                <a:ea typeface="Open Sans"/>
                <a:cs typeface="Open Sans"/>
              </a:rPr>
              <a:t>Ứng dụng</a:t>
            </a:r>
            <a:endParaRPr sz="1150" b="1">
              <a:solidFill>
                <a:srgbClr val="BB2019"/>
              </a:solidFill>
              <a:latin typeface="Open Sans"/>
              <a:ea typeface="Open Sans"/>
              <a:cs typeface="Open Sans"/>
            </a:endParaRPr>
          </a:p>
        </p:txBody>
      </p:sp>
      <p:sp>
        <p:nvSpPr>
          <p:cNvPr id="13" name="Rectangle 12"/>
          <p:cNvSpPr/>
          <p:nvPr/>
        </p:nvSpPr>
        <p:spPr>
          <a:xfrm>
            <a:off x="640080" y="3026664"/>
            <a:ext cx="2377440" cy="530352"/>
          </a:xfrm>
          <a:prstGeom prst="rect">
            <a:avLst/>
          </a:prstGeom>
          <a:solidFill>
            <a:srgbClr val="FDECEB"/>
          </a:solidFill>
          <a:ln w="12700">
            <a:solidFill>
              <a:srgbClr val="BB2019"/>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200"/>
              </a:spcAft>
            </a:pPr>
            <a:r>
              <a:rPr sz="1150" b="1">
                <a:solidFill>
                  <a:srgbClr val="BB2019"/>
                </a:solidFill>
                <a:latin typeface="Open Sans"/>
                <a:ea typeface="Open Sans"/>
                <a:cs typeface="Open Sans"/>
              </a:rPr>
              <a:t>Thư viện</a:t>
            </a:r>
            <a:endParaRPr sz="1150" b="1">
              <a:solidFill>
                <a:srgbClr val="BB2019"/>
              </a:solidFill>
              <a:latin typeface="Open Sans"/>
              <a:ea typeface="Open Sans"/>
              <a:cs typeface="Open Sans"/>
            </a:endParaRPr>
          </a:p>
        </p:txBody>
      </p:sp>
      <p:sp>
        <p:nvSpPr>
          <p:cNvPr id="14" name="Rectangle 13"/>
          <p:cNvSpPr/>
          <p:nvPr/>
        </p:nvSpPr>
        <p:spPr>
          <a:xfrm>
            <a:off x="640080" y="3648456"/>
            <a:ext cx="2377440" cy="530352"/>
          </a:xfrm>
          <a:prstGeom prst="rect">
            <a:avLst/>
          </a:prstGeom>
          <a:solidFill>
            <a:srgbClr val="FFD5D5"/>
          </a:solidFill>
          <a:ln w="12700">
            <a:solidFill>
              <a:srgbClr val="BB2019"/>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200"/>
              </a:spcAft>
            </a:pPr>
            <a:r>
              <a:rPr sz="1150" b="1">
                <a:solidFill>
                  <a:srgbClr val="BB2019"/>
                </a:solidFill>
                <a:latin typeface="Open Sans"/>
                <a:ea typeface="Open Sans"/>
                <a:cs typeface="Open Sans"/>
              </a:rPr>
              <a:t>Lớp nền OS (chỉ đọc, dùng chung)</a:t>
            </a:r>
            <a:endParaRPr sz="1150" b="1">
              <a:solidFill>
                <a:srgbClr val="BB2019"/>
              </a:solidFill>
              <a:latin typeface="Open Sans"/>
              <a:ea typeface="Open Sans"/>
              <a:cs typeface="Open Sans"/>
            </a:endParaRPr>
          </a:p>
        </p:txBody>
      </p:sp>
      <p:sp>
        <p:nvSpPr>
          <p:cNvPr id="15" name="Rectangle 14"/>
          <p:cNvSpPr/>
          <p:nvPr/>
        </p:nvSpPr>
        <p:spPr>
          <a:xfrm>
            <a:off x="3383280" y="1325880"/>
            <a:ext cx="2743200" cy="3017520"/>
          </a:xfrm>
          <a:prstGeom prst="rect">
            <a:avLst/>
          </a:prstGeom>
          <a:solidFill>
            <a:srgbClr val="FFF7F7"/>
          </a:solidFill>
          <a:ln w="12700">
            <a:solidFill>
              <a:srgbClr val="BB2019"/>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16" name="TextBox 15"/>
          <p:cNvSpPr txBox="1"/>
          <p:nvPr/>
        </p:nvSpPr>
        <p:spPr>
          <a:xfrm>
            <a:off x="3383280" y="1371600"/>
            <a:ext cx="2743200" cy="365760"/>
          </a:xfrm>
          <a:prstGeom prst="rect">
            <a:avLst/>
          </a:prstGeom>
          <a:noFill/>
        </p:spPr>
        <p:txBody>
          <a:bodyPr wrap="square" lIns="36576" tIns="36576" rIns="36576" bIns="36576" anchor="t">
            <a:spAutoFit/>
          </a:bodyPr>
          <a:lstStyle/>
          <a:p>
            <a:pPr algn="ctr">
              <a:spcAft>
                <a:spcPts val="400"/>
              </a:spcAft>
            </a:pPr>
            <a:r>
              <a:rPr sz="1400" b="1">
                <a:solidFill>
                  <a:srgbClr val="BB2019"/>
                </a:solidFill>
                <a:latin typeface="Open Sans"/>
                <a:ea typeface="Open Sans"/>
                <a:cs typeface="Open Sans"/>
              </a:rPr>
              <a:t>Container 2</a:t>
            </a:r>
            <a:endParaRPr sz="1400" b="1">
              <a:solidFill>
                <a:srgbClr val="BB2019"/>
              </a:solidFill>
              <a:latin typeface="Open Sans"/>
              <a:ea typeface="Open Sans"/>
              <a:cs typeface="Open Sans"/>
            </a:endParaRPr>
          </a:p>
        </p:txBody>
      </p:sp>
      <p:sp>
        <p:nvSpPr>
          <p:cNvPr id="17" name="Rectangle 16"/>
          <p:cNvSpPr/>
          <p:nvPr/>
        </p:nvSpPr>
        <p:spPr>
          <a:xfrm>
            <a:off x="3566160" y="1783080"/>
            <a:ext cx="2377440" cy="530352"/>
          </a:xfrm>
          <a:prstGeom prst="rect">
            <a:avLst/>
          </a:prstGeom>
          <a:solidFill>
            <a:srgbClr val="FFFFFF"/>
          </a:solidFill>
          <a:ln w="12700">
            <a:solidFill>
              <a:srgbClr val="BB2019"/>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200"/>
              </a:spcAft>
            </a:pPr>
            <a:r>
              <a:rPr sz="1150" b="1">
                <a:solidFill>
                  <a:srgbClr val="BB2019"/>
                </a:solidFill>
                <a:latin typeface="Open Sans"/>
                <a:ea typeface="Open Sans"/>
                <a:cs typeface="Open Sans"/>
              </a:rPr>
              <a:t>Lớp ghi được (riêng)</a:t>
            </a:r>
            <a:endParaRPr sz="1150" b="1">
              <a:solidFill>
                <a:srgbClr val="BB2019"/>
              </a:solidFill>
              <a:latin typeface="Open Sans"/>
              <a:ea typeface="Open Sans"/>
              <a:cs typeface="Open Sans"/>
            </a:endParaRPr>
          </a:p>
        </p:txBody>
      </p:sp>
      <p:sp>
        <p:nvSpPr>
          <p:cNvPr id="18" name="Rectangle 17"/>
          <p:cNvSpPr/>
          <p:nvPr/>
        </p:nvSpPr>
        <p:spPr>
          <a:xfrm>
            <a:off x="3566160" y="2404872"/>
            <a:ext cx="2377440" cy="530352"/>
          </a:xfrm>
          <a:prstGeom prst="rect">
            <a:avLst/>
          </a:prstGeom>
          <a:solidFill>
            <a:srgbClr val="FDECEB"/>
          </a:solidFill>
          <a:ln w="12700">
            <a:solidFill>
              <a:srgbClr val="BB2019"/>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200"/>
              </a:spcAft>
            </a:pPr>
            <a:r>
              <a:rPr sz="1150" b="1">
                <a:solidFill>
                  <a:srgbClr val="BB2019"/>
                </a:solidFill>
                <a:latin typeface="Open Sans"/>
                <a:ea typeface="Open Sans"/>
                <a:cs typeface="Open Sans"/>
              </a:rPr>
              <a:t>Ứng dụng</a:t>
            </a:r>
            <a:endParaRPr sz="1150" b="1">
              <a:solidFill>
                <a:srgbClr val="BB2019"/>
              </a:solidFill>
              <a:latin typeface="Open Sans"/>
              <a:ea typeface="Open Sans"/>
              <a:cs typeface="Open Sans"/>
            </a:endParaRPr>
          </a:p>
        </p:txBody>
      </p:sp>
      <p:sp>
        <p:nvSpPr>
          <p:cNvPr id="19" name="Rectangle 18"/>
          <p:cNvSpPr/>
          <p:nvPr/>
        </p:nvSpPr>
        <p:spPr>
          <a:xfrm>
            <a:off x="3566160" y="3026664"/>
            <a:ext cx="2377440" cy="530352"/>
          </a:xfrm>
          <a:prstGeom prst="rect">
            <a:avLst/>
          </a:prstGeom>
          <a:solidFill>
            <a:srgbClr val="FDECEB"/>
          </a:solidFill>
          <a:ln w="12700">
            <a:solidFill>
              <a:srgbClr val="BB2019"/>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200"/>
              </a:spcAft>
            </a:pPr>
            <a:r>
              <a:rPr sz="1150" b="1">
                <a:solidFill>
                  <a:srgbClr val="BB2019"/>
                </a:solidFill>
                <a:latin typeface="Open Sans"/>
                <a:ea typeface="Open Sans"/>
                <a:cs typeface="Open Sans"/>
              </a:rPr>
              <a:t>Thư viện</a:t>
            </a:r>
            <a:endParaRPr sz="1150" b="1">
              <a:solidFill>
                <a:srgbClr val="BB2019"/>
              </a:solidFill>
              <a:latin typeface="Open Sans"/>
              <a:ea typeface="Open Sans"/>
              <a:cs typeface="Open Sans"/>
            </a:endParaRPr>
          </a:p>
        </p:txBody>
      </p:sp>
      <p:sp>
        <p:nvSpPr>
          <p:cNvPr id="20" name="Rectangle 19"/>
          <p:cNvSpPr/>
          <p:nvPr/>
        </p:nvSpPr>
        <p:spPr>
          <a:xfrm>
            <a:off x="3566160" y="3648456"/>
            <a:ext cx="2377440" cy="530352"/>
          </a:xfrm>
          <a:prstGeom prst="rect">
            <a:avLst/>
          </a:prstGeom>
          <a:solidFill>
            <a:srgbClr val="FFD5D5"/>
          </a:solidFill>
          <a:ln w="12700">
            <a:solidFill>
              <a:srgbClr val="BB2019"/>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200"/>
              </a:spcAft>
            </a:pPr>
            <a:r>
              <a:rPr sz="1150" b="1">
                <a:solidFill>
                  <a:srgbClr val="BB2019"/>
                </a:solidFill>
                <a:latin typeface="Open Sans"/>
                <a:ea typeface="Open Sans"/>
                <a:cs typeface="Open Sans"/>
              </a:rPr>
              <a:t>Lớp nền OS (chỉ đọc, dùng chung)</a:t>
            </a:r>
            <a:endParaRPr sz="1150" b="1">
              <a:solidFill>
                <a:srgbClr val="BB2019"/>
              </a:solidFill>
              <a:latin typeface="Open Sans"/>
              <a:ea typeface="Open Sans"/>
              <a:cs typeface="Open Sans"/>
            </a:endParaRPr>
          </a:p>
        </p:txBody>
      </p:sp>
      <p:sp>
        <p:nvSpPr>
          <p:cNvPr id="21" name="TextBox 20"/>
          <p:cNvSpPr txBox="1"/>
          <p:nvPr/>
        </p:nvSpPr>
        <p:spPr>
          <a:xfrm>
            <a:off x="457200" y="4416552"/>
            <a:ext cx="5669280" cy="365760"/>
          </a:xfrm>
          <a:prstGeom prst="rect">
            <a:avLst/>
          </a:prstGeom>
          <a:noFill/>
        </p:spPr>
        <p:txBody>
          <a:bodyPr wrap="square" lIns="36576" tIns="36576" rIns="36576" bIns="36576" anchor="t">
            <a:spAutoFit/>
          </a:bodyPr>
          <a:lstStyle/>
          <a:p>
            <a:pPr algn="ctr">
              <a:spcAft>
                <a:spcPts val="400"/>
              </a:spcAft>
            </a:pPr>
            <a:r>
              <a:rPr sz="1200">
                <a:solidFill>
                  <a:srgbClr val="6B5F5D"/>
                </a:solidFill>
                <a:latin typeface="Open Sans"/>
                <a:ea typeface="Open Sans"/>
                <a:cs typeface="Open Sans"/>
              </a:rPr>
              <a:t>Lớp nền giống nhau chỉ lưu một lần trên đĩa</a:t>
            </a:r>
            <a:endParaRPr sz="1200">
              <a:solidFill>
                <a:srgbClr val="6B5F5D"/>
              </a:solidFill>
              <a:latin typeface="Open Sans"/>
              <a:ea typeface="Open Sans"/>
              <a:cs typeface="Open Sans"/>
            </a:endParaRPr>
          </a:p>
        </p:txBody>
      </p:sp>
      <p:sp>
        <p:nvSpPr>
          <p:cNvPr id="22" name="Rectangle 21"/>
          <p:cNvSpPr/>
          <p:nvPr/>
        </p:nvSpPr>
        <p:spPr>
          <a:xfrm>
            <a:off x="6400800" y="1325880"/>
            <a:ext cx="5349240" cy="42062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28016" rIns="128016" bIns="128016" rtlCol="0" anchor="ctr"/>
          <a:lstStyle/>
          <a:p>
            <a:pPr algn="l">
              <a:spcAft>
                <a:spcPts val="200"/>
              </a:spcAft>
            </a:pPr>
            <a:r>
              <a:rPr sz="1400" b="1">
                <a:solidFill>
                  <a:srgbClr val="FFFFFF"/>
                </a:solidFill>
                <a:latin typeface="Open Sans"/>
                <a:ea typeface="Open Sans"/>
                <a:cs typeface="Open Sans"/>
              </a:rPr>
              <a:t>PlanetLab (2003 – 2020)</a:t>
            </a:r>
            <a:endParaRPr sz="1400" b="1">
              <a:solidFill>
                <a:srgbClr val="FFFFFF"/>
              </a:solidFill>
              <a:latin typeface="Open Sans"/>
              <a:ea typeface="Open Sans"/>
              <a:cs typeface="Open Sans"/>
            </a:endParaRPr>
          </a:p>
        </p:txBody>
      </p:sp>
      <p:sp>
        <p:nvSpPr>
          <p:cNvPr id="23" name="Rectangle 22"/>
          <p:cNvSpPr/>
          <p:nvPr/>
        </p:nvSpPr>
        <p:spPr>
          <a:xfrm>
            <a:off x="6400800" y="1746504"/>
            <a:ext cx="5349240" cy="2779776"/>
          </a:xfrm>
          <a:prstGeom prst="rect">
            <a:avLst/>
          </a:prstGeom>
          <a:solidFill>
            <a:srgbClr val="FFF7F7"/>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28016" rIns="128016" bIns="128016" rtlCol="0" anchor="t"/>
          <a:lstStyle/>
          <a:p>
            <a:pPr marL="237490" indent="-201295" algn="l">
              <a:spcAft>
                <a:spcPts val="200"/>
              </a:spcAft>
              <a:buClr>
                <a:srgbClr val="BB2019"/>
              </a:buClr>
              <a:buFont typeface="Arial" panose="020B0604020202020204"/>
              <a:buChar char="•"/>
            </a:pPr>
            <a:r>
              <a:rPr sz="1300">
                <a:solidFill>
                  <a:srgbClr val="262626"/>
                </a:solidFill>
                <a:latin typeface="Open Sans"/>
                <a:ea typeface="Open Sans"/>
                <a:cs typeface="Open Sans"/>
              </a:rPr>
              <a:t>Hàng trăm nút do nhiều tổ chức đóng góp, quản lý gần như phân tán hoàn toàn</a:t>
            </a:r>
            <a:endParaRPr sz="1300">
              <a:solidFill>
                <a:srgbClr val="262626"/>
              </a:solidFill>
              <a:latin typeface="Open Sans"/>
              <a:ea typeface="Open Sans"/>
              <a:cs typeface="Open Sans"/>
            </a:endParaRPr>
          </a:p>
          <a:p>
            <a:pPr marL="237490" indent="-201295" algn="l">
              <a:spcAft>
                <a:spcPts val="200"/>
              </a:spcAft>
              <a:buClr>
                <a:srgbClr val="BB2019"/>
              </a:buClr>
              <a:buFont typeface="Arial" panose="020B0604020202020204"/>
              <a:buChar char="•"/>
            </a:pPr>
            <a:r>
              <a:rPr sz="1300">
                <a:solidFill>
                  <a:srgbClr val="262626"/>
                </a:solidFill>
                <a:latin typeface="Open Sans"/>
                <a:ea typeface="Open Sans"/>
                <a:cs typeface="Open Sans"/>
              </a:rPr>
              <a:t>Mỗi nút: VMM Linux + nhiều Vserver (container) cô lập chặt — cùng UID vẫn khác người dùng</a:t>
            </a:r>
            <a:endParaRPr sz="1300">
              <a:solidFill>
                <a:srgbClr val="262626"/>
              </a:solidFill>
              <a:latin typeface="Open Sans"/>
              <a:ea typeface="Open Sans"/>
              <a:cs typeface="Open Sans"/>
            </a:endParaRPr>
          </a:p>
          <a:p>
            <a:pPr marL="237490" indent="-201295" algn="l">
              <a:spcAft>
                <a:spcPts val="200"/>
              </a:spcAft>
              <a:buClr>
                <a:srgbClr val="BB2019"/>
              </a:buClr>
              <a:buFont typeface="Arial" panose="020B0604020202020204"/>
              <a:buChar char="•"/>
            </a:pPr>
            <a:r>
              <a:rPr sz="1300">
                <a:solidFill>
                  <a:srgbClr val="262626"/>
                </a:solidFill>
                <a:latin typeface="Open Sans"/>
                <a:ea typeface="Open Sans"/>
                <a:cs typeface="Open Sans"/>
              </a:rPr>
              <a:t>Slice = tập Vserver trên nhiều nút → cụm server ảo qua WAN</a:t>
            </a:r>
            <a:endParaRPr sz="1300">
              <a:solidFill>
                <a:srgbClr val="262626"/>
              </a:solidFill>
              <a:latin typeface="Open Sans"/>
              <a:ea typeface="Open Sans"/>
              <a:cs typeface="Open Sans"/>
            </a:endParaRPr>
          </a:p>
          <a:p>
            <a:pPr marL="237490" indent="-201295" algn="l">
              <a:spcAft>
                <a:spcPts val="200"/>
              </a:spcAft>
              <a:buClr>
                <a:srgbClr val="BB2019"/>
              </a:buClr>
              <a:buFont typeface="Arial" panose="020B0604020202020204"/>
              <a:buChar char="•"/>
            </a:pPr>
            <a:r>
              <a:rPr sz="1300">
                <a:solidFill>
                  <a:srgbClr val="262626"/>
                </a:solidFill>
                <a:latin typeface="Open Sans"/>
                <a:ea typeface="Open Sans"/>
                <a:cs typeface="Open Sans"/>
              </a:rPr>
              <a:t>Node manager cấp tài nguyên theo rspec, định danh bằng rcap 128 bit</a:t>
            </a:r>
            <a:endParaRPr sz="1300">
              <a:solidFill>
                <a:srgbClr val="262626"/>
              </a:solidFill>
              <a:latin typeface="Open Sans"/>
              <a:ea typeface="Open Sans"/>
              <a:cs typeface="Open Sans"/>
            </a:endParaRPr>
          </a:p>
        </p:txBody>
      </p:sp>
      <p:sp>
        <p:nvSpPr>
          <p:cNvPr id="24" name="Rectangle 23"/>
          <p:cNvSpPr/>
          <p:nvPr/>
        </p:nvSpPr>
        <p:spPr>
          <a:xfrm>
            <a:off x="6400800" y="4709160"/>
            <a:ext cx="5349240" cy="1463040"/>
          </a:xfrm>
          <a:prstGeom prst="rect">
            <a:avLst/>
          </a:prstGeom>
          <a:solidFill>
            <a:srgbClr val="FFF7F7"/>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t"/>
          <a:lstStyle/>
          <a:p>
            <a:pPr algn="l">
              <a:spcAft>
                <a:spcPts val="200"/>
              </a:spcAft>
            </a:pPr>
            <a:r>
              <a:rPr sz="1350" b="1">
                <a:solidFill>
                  <a:srgbClr val="BB2019"/>
                </a:solidFill>
                <a:latin typeface="Open Sans"/>
                <a:ea typeface="Open Sans"/>
                <a:cs typeface="Open Sans"/>
              </a:rPr>
              <a:t>Ưu điểm của container: </a:t>
            </a:r>
            <a:r>
              <a:rPr sz="1350">
                <a:solidFill>
                  <a:srgbClr val="262626"/>
                </a:solidFill>
                <a:latin typeface="Open Sans"/>
                <a:ea typeface="Open Sans"/>
                <a:cs typeface="Open Sans"/>
              </a:rPr>
              <a:t>cấp phát tài nguyên động, cho phép đặt trước vượt mức (overbook) — VM khách thường phải cấp cứng RAM.</a:t>
            </a:r>
            <a:endParaRPr sz="1350">
              <a:solidFill>
                <a:srgbClr val="262626"/>
              </a:solidFill>
              <a:latin typeface="Open Sans"/>
              <a:ea typeface="Open Sans"/>
              <a:cs typeface="Open Sans"/>
            </a:endParaRPr>
          </a:p>
          <a:p>
            <a:pPr algn="l">
              <a:spcAft>
                <a:spcPts val="200"/>
              </a:spcAft>
            </a:pPr>
            <a:r>
              <a:rPr sz="1350" b="1">
                <a:solidFill>
                  <a:srgbClr val="BB2019"/>
                </a:solidFill>
                <a:latin typeface="Open Sans"/>
                <a:ea typeface="Open Sans"/>
                <a:cs typeface="Open Sans"/>
              </a:rPr>
              <a:t>Nay: </a:t>
            </a:r>
            <a:r>
              <a:rPr sz="1350">
                <a:solidFill>
                  <a:srgbClr val="262626"/>
                </a:solidFill>
                <a:latin typeface="Open Sans"/>
                <a:ea typeface="Open Sans"/>
                <a:cs typeface="Open Sans"/>
              </a:rPr>
              <a:t>EdgeNet dùng Docker + Kubernetes.</a:t>
            </a:r>
            <a:endParaRPr sz="1350">
              <a:solidFill>
                <a:srgbClr val="262626"/>
              </a:solidFill>
              <a:latin typeface="Open Sans"/>
              <a:ea typeface="Open Sans"/>
              <a:cs typeface="Open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So sánh máy ảo và container</a:t>
            </a:r>
          </a:p>
        </p:txBody>
      </p:sp>
      <p:sp>
        <p:nvSpPr>
          <p:cNvPr id="3" name="Text Placeholder 2"/>
          <p:cNvSpPr>
            <a:spLocks noGrp="1"/>
          </p:cNvSpPr>
          <p:nvPr>
            <p:ph type="body" sz="quarter" idx="13"/>
          </p:nvPr>
        </p:nvSpPr>
        <p:spPr/>
        <p:txBody>
          <a:bodyPr/>
          <a:lstStyle/>
          <a:p>
            <a:r>
              <a:t>Mục 3.2.3 · “nặng – nhẹ” không đồng nghĩa “chậm – nhanh”</a:t>
            </a:r>
          </a:p>
        </p:txBody>
      </p:sp>
      <p:sp>
        <p:nvSpPr>
          <p:cNvPr id="4" name="Slide Number Placeholder 3"/>
          <p:cNvSpPr>
            <a:spLocks noGrp="1"/>
          </p:cNvSpPr>
          <p:nvPr>
            <p:ph type="sldNum" sz="quarter" idx="12"/>
          </p:nvPr>
        </p:nvSpPr>
        <p:spPr/>
        <p:txBody>
          <a:bodyPr/>
          <a:lstStyle/>
          <a:p>
            <a:fld id="{D92DDFE6-74DA-46A1-A171-CE3314B0D579}" type="slidenum">
              <a:rPr lang="en-US" smtClean="0"/>
            </a:fld>
            <a:endParaRPr lang="en-US" dirty="0"/>
          </a:p>
        </p:txBody>
      </p:sp>
      <p:sp>
        <p:nvSpPr>
          <p:cNvPr id="5" name="Date Placeholder 4"/>
          <p:cNvSpPr>
            <a:spLocks noGrp="1"/>
          </p:cNvSpPr>
          <p:nvPr>
            <p:ph type="dt" sz="half" idx="10"/>
          </p:nvPr>
        </p:nvSpPr>
        <p:spPr/>
        <p:txBody>
          <a:bodyPr/>
          <a:lstStyle/>
          <a:p>
            <a:fld id="{2933FCAF-43A6-4F1B-B43D-A70C2A597932}" type="datetime1">
              <a:rPr lang="vi-VN" smtClean="0"/>
            </a:fld>
            <a:endParaRPr lang="en-US"/>
          </a:p>
        </p:txBody>
      </p:sp>
      <p:sp>
        <p:nvSpPr>
          <p:cNvPr id="6" name="Footer Placeholder 5"/>
          <p:cNvSpPr>
            <a:spLocks noGrp="1"/>
          </p:cNvSpPr>
          <p:nvPr>
            <p:ph type="ftr" sz="quarter" idx="11"/>
          </p:nvPr>
        </p:nvSpPr>
        <p:spPr/>
        <p:txBody>
          <a:bodyPr/>
          <a:lstStyle/>
          <a:p>
            <a:r>
              <a:rPr lang="en-US"/>
              <a:t>Chương 3 · Tiến trình: Luồng &amp; Ảo hoá</a:t>
            </a:r>
            <a:endParaRPr lang="en-US" dirty="0"/>
          </a:p>
        </p:txBody>
      </p:sp>
      <p:graphicFrame>
        <p:nvGraphicFramePr>
          <p:cNvPr id="7" name="Table 6"/>
          <p:cNvGraphicFramePr>
            <a:graphicFrameLocks noGrp="1"/>
          </p:cNvGraphicFramePr>
          <p:nvPr/>
        </p:nvGraphicFramePr>
        <p:xfrm>
          <a:off x="457200" y="1325880"/>
          <a:ext cx="6949440" cy="3968496"/>
        </p:xfrm>
        <a:graphic>
          <a:graphicData uri="http://schemas.openxmlformats.org/drawingml/2006/table">
            <a:tbl>
              <a:tblPr firstRow="1" bandRow="1">
                <a:tableStyleId>{C083E6E3-FA7D-4D7B-A595-EF9225AFEA82}</a:tableStyleId>
              </a:tblPr>
              <a:tblGrid>
                <a:gridCol w="2286000"/>
                <a:gridCol w="2331720"/>
                <a:gridCol w="2331720"/>
              </a:tblGrid>
              <a:tr h="566928">
                <a:tc>
                  <a:txBody>
                    <a:bodyPr wrap="square"/>
                    <a:lstStyle/>
                    <a:p>
                      <a:r>
                        <a:rPr sz="1350" b="1">
                          <a:solidFill>
                            <a:srgbClr val="BB2019"/>
                          </a:solidFill>
                          <a:latin typeface="Open Sans"/>
                          <a:ea typeface="Open Sans"/>
                          <a:cs typeface="Open Sans"/>
                        </a:rPr>
                        <a:t>Tiêu chí</a:t>
                      </a:r>
                      <a:endParaRPr sz="1350" b="1">
                        <a:solidFill>
                          <a:srgbClr val="BB2019"/>
                        </a:solidFill>
                        <a:latin typeface="Open Sans"/>
                        <a:ea typeface="Open Sans"/>
                        <a:cs typeface="Open Sans"/>
                      </a:endParaRPr>
                    </a:p>
                  </a:txBody>
                  <a:tcPr marL="73152" marR="73152" marT="27432" marB="27432" anchor="ctr"/>
                </a:tc>
                <a:tc>
                  <a:txBody>
                    <a:bodyPr wrap="square"/>
                    <a:lstStyle/>
                    <a:p>
                      <a:r>
                        <a:rPr sz="1350" b="1">
                          <a:solidFill>
                            <a:srgbClr val="BB2019"/>
                          </a:solidFill>
                          <a:latin typeface="Open Sans"/>
                          <a:ea typeface="Open Sans"/>
                          <a:cs typeface="Open Sans"/>
                        </a:rPr>
                        <a:t>Máy ảo (VM)</a:t>
                      </a:r>
                      <a:endParaRPr sz="1350" b="1">
                        <a:solidFill>
                          <a:srgbClr val="BB2019"/>
                        </a:solidFill>
                        <a:latin typeface="Open Sans"/>
                        <a:ea typeface="Open Sans"/>
                        <a:cs typeface="Open Sans"/>
                      </a:endParaRPr>
                    </a:p>
                  </a:txBody>
                  <a:tcPr marL="73152" marR="73152" marT="27432" marB="27432" anchor="ctr"/>
                </a:tc>
                <a:tc>
                  <a:txBody>
                    <a:bodyPr wrap="square"/>
                    <a:lstStyle/>
                    <a:p>
                      <a:r>
                        <a:rPr sz="1350" b="1">
                          <a:solidFill>
                            <a:srgbClr val="BB2019"/>
                          </a:solidFill>
                          <a:latin typeface="Open Sans"/>
                          <a:ea typeface="Open Sans"/>
                          <a:cs typeface="Open Sans"/>
                        </a:rPr>
                        <a:t>Container</a:t>
                      </a:r>
                      <a:endParaRPr sz="1350" b="1">
                        <a:solidFill>
                          <a:srgbClr val="BB2019"/>
                        </a:solidFill>
                        <a:latin typeface="Open Sans"/>
                        <a:ea typeface="Open Sans"/>
                        <a:cs typeface="Open Sans"/>
                      </a:endParaRPr>
                    </a:p>
                  </a:txBody>
                  <a:tcPr marL="73152" marR="73152" marT="27432" marB="27432" anchor="ctr"/>
                </a:tc>
              </a:tr>
              <a:tr h="566928">
                <a:tc>
                  <a:txBody>
                    <a:bodyPr wrap="square"/>
                    <a:lstStyle/>
                    <a:p>
                      <a:r>
                        <a:rPr sz="1350" b="1">
                          <a:solidFill>
                            <a:srgbClr val="262626"/>
                          </a:solidFill>
                          <a:latin typeface="Open Sans"/>
                          <a:ea typeface="Open Sans"/>
                          <a:cs typeface="Open Sans"/>
                        </a:rPr>
                        <a:t>Ảo hoá</a:t>
                      </a:r>
                      <a:endParaRPr sz="1350" b="1">
                        <a:solidFill>
                          <a:srgbClr val="262626"/>
                        </a:solidFill>
                        <a:latin typeface="Open Sans"/>
                        <a:ea typeface="Open Sans"/>
                        <a:cs typeface="Open Sans"/>
                      </a:endParaRPr>
                    </a:p>
                  </a:txBody>
                  <a:tcPr marL="73152" marR="73152" marT="27432" marB="27432" anchor="ctr"/>
                </a:tc>
                <a:tc>
                  <a:txBody>
                    <a:bodyPr wrap="square"/>
                    <a:lstStyle/>
                    <a:p>
                      <a:r>
                        <a:rPr sz="1350" b="0">
                          <a:solidFill>
                            <a:srgbClr val="262626"/>
                          </a:solidFill>
                          <a:latin typeface="Open Sans"/>
                          <a:ea typeface="Open Sans"/>
                          <a:cs typeface="Open Sans"/>
                        </a:rPr>
                        <a:t>Tập lệnh + HĐH khách</a:t>
                      </a:r>
                      <a:endParaRPr sz="1350" b="0">
                        <a:solidFill>
                          <a:srgbClr val="262626"/>
                        </a:solidFill>
                        <a:latin typeface="Open Sans"/>
                        <a:ea typeface="Open Sans"/>
                        <a:cs typeface="Open Sans"/>
                      </a:endParaRPr>
                    </a:p>
                  </a:txBody>
                  <a:tcPr marL="73152" marR="73152" marT="27432" marB="27432" anchor="ctr"/>
                </a:tc>
                <a:tc>
                  <a:txBody>
                    <a:bodyPr wrap="square"/>
                    <a:lstStyle/>
                    <a:p>
                      <a:r>
                        <a:rPr sz="1350" b="0">
                          <a:solidFill>
                            <a:srgbClr val="262626"/>
                          </a:solidFill>
                          <a:latin typeface="Open Sans"/>
                          <a:ea typeface="Open Sans"/>
                          <a:cs typeface="Open Sans"/>
                        </a:rPr>
                        <a:t>Môi trường phần mềm</a:t>
                      </a:r>
                      <a:endParaRPr sz="1350" b="0">
                        <a:solidFill>
                          <a:srgbClr val="262626"/>
                        </a:solidFill>
                        <a:latin typeface="Open Sans"/>
                        <a:ea typeface="Open Sans"/>
                        <a:cs typeface="Open Sans"/>
                      </a:endParaRPr>
                    </a:p>
                  </a:txBody>
                  <a:tcPr marL="73152" marR="73152" marT="27432" marB="27432" anchor="ctr"/>
                </a:tc>
              </a:tr>
              <a:tr h="566928">
                <a:tc>
                  <a:txBody>
                    <a:bodyPr wrap="square"/>
                    <a:lstStyle/>
                    <a:p>
                      <a:r>
                        <a:rPr sz="1350" b="1">
                          <a:solidFill>
                            <a:srgbClr val="262626"/>
                          </a:solidFill>
                          <a:latin typeface="Open Sans"/>
                          <a:ea typeface="Open Sans"/>
                          <a:cs typeface="Open Sans"/>
                        </a:rPr>
                        <a:t>Kernel</a:t>
                      </a:r>
                      <a:endParaRPr sz="1350" b="1">
                        <a:solidFill>
                          <a:srgbClr val="262626"/>
                        </a:solidFill>
                        <a:latin typeface="Open Sans"/>
                        <a:ea typeface="Open Sans"/>
                        <a:cs typeface="Open Sans"/>
                      </a:endParaRPr>
                    </a:p>
                  </a:txBody>
                  <a:tcPr marL="73152" marR="73152" marT="27432" marB="27432" anchor="ctr"/>
                </a:tc>
                <a:tc>
                  <a:txBody>
                    <a:bodyPr wrap="square"/>
                    <a:lstStyle/>
                    <a:p>
                      <a:r>
                        <a:rPr sz="1350" b="0">
                          <a:solidFill>
                            <a:srgbClr val="262626"/>
                          </a:solidFill>
                          <a:latin typeface="Open Sans"/>
                          <a:ea typeface="Open Sans"/>
                          <a:cs typeface="Open Sans"/>
                        </a:rPr>
                        <a:t>Riêng cho mỗi VM</a:t>
                      </a:r>
                      <a:endParaRPr sz="1350" b="0">
                        <a:solidFill>
                          <a:srgbClr val="262626"/>
                        </a:solidFill>
                        <a:latin typeface="Open Sans"/>
                        <a:ea typeface="Open Sans"/>
                        <a:cs typeface="Open Sans"/>
                      </a:endParaRPr>
                    </a:p>
                  </a:txBody>
                  <a:tcPr marL="73152" marR="73152" marT="27432" marB="27432" anchor="ctr"/>
                </a:tc>
                <a:tc>
                  <a:txBody>
                    <a:bodyPr wrap="square"/>
                    <a:lstStyle/>
                    <a:p>
                      <a:r>
                        <a:rPr sz="1350" b="0">
                          <a:solidFill>
                            <a:srgbClr val="262626"/>
                          </a:solidFill>
                          <a:latin typeface="Open Sans"/>
                          <a:ea typeface="Open Sans"/>
                          <a:cs typeface="Open Sans"/>
                        </a:rPr>
                        <a:t>Dùng chung kernel chủ</a:t>
                      </a:r>
                      <a:endParaRPr sz="1350" b="0">
                        <a:solidFill>
                          <a:srgbClr val="262626"/>
                        </a:solidFill>
                        <a:latin typeface="Open Sans"/>
                        <a:ea typeface="Open Sans"/>
                        <a:cs typeface="Open Sans"/>
                      </a:endParaRPr>
                    </a:p>
                  </a:txBody>
                  <a:tcPr marL="73152" marR="73152" marT="27432" marB="27432" anchor="ctr"/>
                </a:tc>
              </a:tr>
              <a:tr h="566928">
                <a:tc>
                  <a:txBody>
                    <a:bodyPr wrap="square"/>
                    <a:lstStyle/>
                    <a:p>
                      <a:r>
                        <a:rPr sz="1350" b="1">
                          <a:solidFill>
                            <a:srgbClr val="262626"/>
                          </a:solidFill>
                          <a:latin typeface="Open Sans"/>
                          <a:ea typeface="Open Sans"/>
                          <a:cs typeface="Open Sans"/>
                        </a:rPr>
                        <a:t>CPU, bộ nhớ</a:t>
                      </a:r>
                      <a:endParaRPr sz="1350" b="1">
                        <a:solidFill>
                          <a:srgbClr val="262626"/>
                        </a:solidFill>
                        <a:latin typeface="Open Sans"/>
                        <a:ea typeface="Open Sans"/>
                        <a:cs typeface="Open Sans"/>
                      </a:endParaRPr>
                    </a:p>
                  </a:txBody>
                  <a:tcPr marL="73152" marR="73152" marT="27432" marB="27432" anchor="ctr"/>
                </a:tc>
                <a:tc>
                  <a:txBody>
                    <a:bodyPr wrap="square"/>
                    <a:lstStyle/>
                    <a:p>
                      <a:r>
                        <a:rPr sz="1350" b="0">
                          <a:solidFill>
                            <a:srgbClr val="262626"/>
                          </a:solidFill>
                          <a:latin typeface="Open Sans"/>
                          <a:ea typeface="Open Sans"/>
                          <a:cs typeface="Open Sans"/>
                        </a:rPr>
                        <a:t>Gần như ngang nhau</a:t>
                      </a:r>
                      <a:endParaRPr sz="1350" b="0">
                        <a:solidFill>
                          <a:srgbClr val="262626"/>
                        </a:solidFill>
                        <a:latin typeface="Open Sans"/>
                        <a:ea typeface="Open Sans"/>
                        <a:cs typeface="Open Sans"/>
                      </a:endParaRPr>
                    </a:p>
                  </a:txBody>
                  <a:tcPr marL="73152" marR="73152" marT="27432" marB="27432" anchor="ctr"/>
                </a:tc>
                <a:tc>
                  <a:txBody>
                    <a:bodyPr wrap="square"/>
                    <a:lstStyle/>
                    <a:p>
                      <a:r>
                        <a:rPr sz="1350" b="0">
                          <a:solidFill>
                            <a:srgbClr val="262626"/>
                          </a:solidFill>
                          <a:latin typeface="Open Sans"/>
                          <a:ea typeface="Open Sans"/>
                          <a:cs typeface="Open Sans"/>
                        </a:rPr>
                        <a:t>Gần như ngang nhau</a:t>
                      </a:r>
                      <a:endParaRPr sz="1350" b="0">
                        <a:solidFill>
                          <a:srgbClr val="262626"/>
                        </a:solidFill>
                        <a:latin typeface="Open Sans"/>
                        <a:ea typeface="Open Sans"/>
                        <a:cs typeface="Open Sans"/>
                      </a:endParaRPr>
                    </a:p>
                  </a:txBody>
                  <a:tcPr marL="73152" marR="73152" marT="27432" marB="27432" anchor="ctr"/>
                </a:tc>
              </a:tr>
              <a:tr h="566928">
                <a:tc>
                  <a:txBody>
                    <a:bodyPr wrap="square"/>
                    <a:lstStyle/>
                    <a:p>
                      <a:r>
                        <a:rPr sz="1350" b="1">
                          <a:solidFill>
                            <a:srgbClr val="262626"/>
                          </a:solidFill>
                          <a:latin typeface="Open Sans"/>
                          <a:ea typeface="Open Sans"/>
                          <a:cs typeface="Open Sans"/>
                        </a:rPr>
                        <a:t>I/O đĩa, mạng</a:t>
                      </a:r>
                      <a:endParaRPr sz="1350" b="1">
                        <a:solidFill>
                          <a:srgbClr val="262626"/>
                        </a:solidFill>
                        <a:latin typeface="Open Sans"/>
                        <a:ea typeface="Open Sans"/>
                        <a:cs typeface="Open Sans"/>
                      </a:endParaRPr>
                    </a:p>
                  </a:txBody>
                  <a:tcPr marL="73152" marR="73152" marT="27432" marB="27432" anchor="ctr"/>
                </a:tc>
                <a:tc>
                  <a:txBody>
                    <a:bodyPr wrap="square"/>
                    <a:lstStyle/>
                    <a:p>
                      <a:r>
                        <a:rPr sz="1350" b="0">
                          <a:solidFill>
                            <a:srgbClr val="262626"/>
                          </a:solidFill>
                          <a:latin typeface="Open Sans"/>
                          <a:ea typeface="Open Sans"/>
                          <a:cs typeface="Open Sans"/>
                        </a:rPr>
                        <a:t>Thường kém hơn</a:t>
                      </a:r>
                      <a:endParaRPr sz="1350" b="0">
                        <a:solidFill>
                          <a:srgbClr val="262626"/>
                        </a:solidFill>
                        <a:latin typeface="Open Sans"/>
                        <a:ea typeface="Open Sans"/>
                        <a:cs typeface="Open Sans"/>
                      </a:endParaRPr>
                    </a:p>
                  </a:txBody>
                  <a:tcPr marL="73152" marR="73152" marT="27432" marB="27432" anchor="ctr"/>
                </a:tc>
                <a:tc>
                  <a:txBody>
                    <a:bodyPr wrap="square"/>
                    <a:lstStyle/>
                    <a:p>
                      <a:r>
                        <a:rPr sz="1350" b="0">
                          <a:solidFill>
                            <a:srgbClr val="262626"/>
                          </a:solidFill>
                          <a:latin typeface="Open Sans"/>
                          <a:ea typeface="Open Sans"/>
                          <a:cs typeface="Open Sans"/>
                        </a:rPr>
                        <a:t>Gần chạy trực tiếp</a:t>
                      </a:r>
                      <a:endParaRPr sz="1350" b="0">
                        <a:solidFill>
                          <a:srgbClr val="262626"/>
                        </a:solidFill>
                        <a:latin typeface="Open Sans"/>
                        <a:ea typeface="Open Sans"/>
                        <a:cs typeface="Open Sans"/>
                      </a:endParaRPr>
                    </a:p>
                  </a:txBody>
                  <a:tcPr marL="73152" marR="73152" marT="27432" marB="27432" anchor="ctr"/>
                </a:tc>
              </a:tr>
              <a:tr h="566928">
                <a:tc>
                  <a:txBody>
                    <a:bodyPr wrap="square"/>
                    <a:lstStyle/>
                    <a:p>
                      <a:r>
                        <a:rPr sz="1350" b="1">
                          <a:solidFill>
                            <a:srgbClr val="262626"/>
                          </a:solidFill>
                          <a:latin typeface="Open Sans"/>
                          <a:ea typeface="Open Sans"/>
                          <a:cs typeface="Open Sans"/>
                        </a:rPr>
                        <a:t>Cô lập ứng dụng chạy cạnh nhau</a:t>
                      </a:r>
                      <a:endParaRPr sz="1350" b="1">
                        <a:solidFill>
                          <a:srgbClr val="262626"/>
                        </a:solidFill>
                        <a:latin typeface="Open Sans"/>
                        <a:ea typeface="Open Sans"/>
                        <a:cs typeface="Open Sans"/>
                      </a:endParaRPr>
                    </a:p>
                  </a:txBody>
                  <a:tcPr marL="73152" marR="73152" marT="27432" marB="27432" anchor="ctr"/>
                </a:tc>
                <a:tc>
                  <a:txBody>
                    <a:bodyPr wrap="square"/>
                    <a:lstStyle/>
                    <a:p>
                      <a:r>
                        <a:rPr sz="1350" b="0">
                          <a:solidFill>
                            <a:srgbClr val="262626"/>
                          </a:solidFill>
                          <a:latin typeface="Open Sans"/>
                          <a:ea typeface="Open Sans"/>
                          <a:cs typeface="Open Sans"/>
                        </a:rPr>
                        <a:t>Tốt hơn (lập lịch CPU, đĩa)</a:t>
                      </a:r>
                      <a:endParaRPr sz="1350" b="0">
                        <a:solidFill>
                          <a:srgbClr val="262626"/>
                        </a:solidFill>
                        <a:latin typeface="Open Sans"/>
                        <a:ea typeface="Open Sans"/>
                        <a:cs typeface="Open Sans"/>
                      </a:endParaRPr>
                    </a:p>
                  </a:txBody>
                  <a:tcPr marL="73152" marR="73152" marT="27432" marB="27432" anchor="ctr"/>
                </a:tc>
                <a:tc>
                  <a:txBody>
                    <a:bodyPr wrap="square"/>
                    <a:lstStyle/>
                    <a:p>
                      <a:r>
                        <a:rPr sz="1350" b="0">
                          <a:solidFill>
                            <a:srgbClr val="262626"/>
                          </a:solidFill>
                          <a:latin typeface="Open Sans"/>
                          <a:ea typeface="Open Sans"/>
                          <a:cs typeface="Open Sans"/>
                        </a:rPr>
                        <a:t>Khó cô lập hơn</a:t>
                      </a:r>
                      <a:endParaRPr sz="1350" b="0">
                        <a:solidFill>
                          <a:srgbClr val="262626"/>
                        </a:solidFill>
                        <a:latin typeface="Open Sans"/>
                        <a:ea typeface="Open Sans"/>
                        <a:cs typeface="Open Sans"/>
                      </a:endParaRPr>
                    </a:p>
                  </a:txBody>
                  <a:tcPr marL="73152" marR="73152" marT="27432" marB="27432" anchor="ctr"/>
                </a:tc>
              </a:tr>
              <a:tr h="566928">
                <a:tc>
                  <a:txBody>
                    <a:bodyPr wrap="square"/>
                    <a:lstStyle/>
                    <a:p>
                      <a:r>
                        <a:rPr sz="1350" b="1">
                          <a:solidFill>
                            <a:srgbClr val="262626"/>
                          </a:solidFill>
                          <a:latin typeface="Open Sans"/>
                          <a:ea typeface="Open Sans"/>
                          <a:cs typeface="Open Sans"/>
                        </a:rPr>
                        <a:t>Cấp phát tài nguyên</a:t>
                      </a:r>
                      <a:endParaRPr sz="1350" b="1">
                        <a:solidFill>
                          <a:srgbClr val="262626"/>
                        </a:solidFill>
                        <a:latin typeface="Open Sans"/>
                        <a:ea typeface="Open Sans"/>
                        <a:cs typeface="Open Sans"/>
                      </a:endParaRPr>
                    </a:p>
                  </a:txBody>
                  <a:tcPr marL="73152" marR="73152" marT="27432" marB="27432" anchor="ctr"/>
                </a:tc>
                <a:tc>
                  <a:txBody>
                    <a:bodyPr wrap="square"/>
                    <a:lstStyle/>
                    <a:p>
                      <a:r>
                        <a:rPr sz="1350" b="0">
                          <a:solidFill>
                            <a:srgbClr val="262626"/>
                          </a:solidFill>
                          <a:latin typeface="Open Sans"/>
                          <a:ea typeface="Open Sans"/>
                          <a:cs typeface="Open Sans"/>
                        </a:rPr>
                        <a:t>Thường cấp cứng trước</a:t>
                      </a:r>
                      <a:endParaRPr sz="1350" b="0">
                        <a:solidFill>
                          <a:srgbClr val="262626"/>
                        </a:solidFill>
                        <a:latin typeface="Open Sans"/>
                        <a:ea typeface="Open Sans"/>
                        <a:cs typeface="Open Sans"/>
                      </a:endParaRPr>
                    </a:p>
                  </a:txBody>
                  <a:tcPr marL="73152" marR="73152" marT="27432" marB="27432" anchor="ctr"/>
                </a:tc>
                <a:tc>
                  <a:txBody>
                    <a:bodyPr wrap="square"/>
                    <a:lstStyle/>
                    <a:p>
                      <a:r>
                        <a:rPr sz="1350" b="0">
                          <a:solidFill>
                            <a:srgbClr val="262626"/>
                          </a:solidFill>
                          <a:latin typeface="Open Sans"/>
                          <a:ea typeface="Open Sans"/>
                          <a:cs typeface="Open Sans"/>
                        </a:rPr>
                        <a:t>Động, có thể vượt mức</a:t>
                      </a:r>
                      <a:endParaRPr sz="1350" b="0">
                        <a:solidFill>
                          <a:srgbClr val="262626"/>
                        </a:solidFill>
                        <a:latin typeface="Open Sans"/>
                        <a:ea typeface="Open Sans"/>
                        <a:cs typeface="Open Sans"/>
                      </a:endParaRPr>
                    </a:p>
                  </a:txBody>
                  <a:tcPr marL="73152" marR="73152" marT="27432" marB="27432" anchor="ctr"/>
                </a:tc>
              </a:tr>
            </a:tbl>
          </a:graphicData>
        </a:graphic>
      </p:graphicFrame>
      <p:sp>
        <p:nvSpPr>
          <p:cNvPr id="8" name="Rectangle 7"/>
          <p:cNvSpPr/>
          <p:nvPr/>
        </p:nvSpPr>
        <p:spPr>
          <a:xfrm>
            <a:off x="7680960" y="1325880"/>
            <a:ext cx="4069080" cy="1828800"/>
          </a:xfrm>
          <a:prstGeom prst="rect">
            <a:avLst/>
          </a:prstGeom>
          <a:solidFill>
            <a:srgbClr val="FFF7F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9" name="TextBox 8"/>
          <p:cNvSpPr txBox="1"/>
          <p:nvPr/>
        </p:nvSpPr>
        <p:spPr>
          <a:xfrm>
            <a:off x="7863840" y="1417320"/>
            <a:ext cx="3749039" cy="457200"/>
          </a:xfrm>
          <a:prstGeom prst="rect">
            <a:avLst/>
          </a:prstGeom>
          <a:noFill/>
        </p:spPr>
        <p:txBody>
          <a:bodyPr wrap="square" lIns="36576" tIns="36576" rIns="36576" bIns="36576" anchor="t">
            <a:spAutoFit/>
          </a:bodyPr>
          <a:lstStyle/>
          <a:p>
            <a:pPr algn="l">
              <a:spcAft>
                <a:spcPts val="400"/>
              </a:spcAft>
            </a:pPr>
            <a:r>
              <a:rPr sz="1400" b="1">
                <a:solidFill>
                  <a:srgbClr val="BB2019"/>
                </a:solidFill>
                <a:latin typeface="Open Sans"/>
                <a:ea typeface="Open Sans"/>
                <a:cs typeface="Open Sans"/>
              </a:rPr>
              <a:t>Sharma et al. (2016) · LXC vs KVM</a:t>
            </a:r>
            <a:endParaRPr sz="1400" b="1">
              <a:solidFill>
                <a:srgbClr val="BB2019"/>
              </a:solidFill>
              <a:latin typeface="Open Sans"/>
              <a:ea typeface="Open Sans"/>
              <a:cs typeface="Open Sans"/>
            </a:endParaRPr>
          </a:p>
        </p:txBody>
      </p:sp>
      <p:sp>
        <p:nvSpPr>
          <p:cNvPr id="10" name="TextBox 9"/>
          <p:cNvSpPr txBox="1"/>
          <p:nvPr/>
        </p:nvSpPr>
        <p:spPr>
          <a:xfrm>
            <a:off x="7863840" y="1892807"/>
            <a:ext cx="3749039" cy="1234440"/>
          </a:xfrm>
          <a:prstGeom prst="rect">
            <a:avLst/>
          </a:prstGeom>
          <a:noFill/>
        </p:spPr>
        <p:txBody>
          <a:bodyPr wrap="square" lIns="36576" tIns="36576" rIns="36576" bIns="36576" anchor="t">
            <a:spAutoFit/>
          </a:bodyPr>
          <a:lstStyle/>
          <a:p>
            <a:pPr algn="l">
              <a:spcAft>
                <a:spcPts val="400"/>
              </a:spcAft>
            </a:pPr>
            <a:r>
              <a:rPr sz="1300">
                <a:solidFill>
                  <a:srgbClr val="262626"/>
                </a:solidFill>
                <a:latin typeface="Open Sans"/>
                <a:ea typeface="Open Sans"/>
                <a:cs typeface="Open Sans"/>
              </a:rPr>
              <a:t>Chênh lệch nhỏ, ngoại trừ I/O: VM chậm hơn rõ vì hệ điều hành phải thực thi nhiều lệnh đặc quyền.</a:t>
            </a:r>
            <a:endParaRPr sz="1300">
              <a:solidFill>
                <a:srgbClr val="262626"/>
              </a:solidFill>
              <a:latin typeface="Open Sans"/>
              <a:ea typeface="Open Sans"/>
              <a:cs typeface="Open Sans"/>
            </a:endParaRPr>
          </a:p>
        </p:txBody>
      </p:sp>
      <p:sp>
        <p:nvSpPr>
          <p:cNvPr id="11" name="Rectangle 10"/>
          <p:cNvSpPr/>
          <p:nvPr/>
        </p:nvSpPr>
        <p:spPr>
          <a:xfrm>
            <a:off x="7680960" y="3337560"/>
            <a:ext cx="4069080" cy="1828800"/>
          </a:xfrm>
          <a:prstGeom prst="rect">
            <a:avLst/>
          </a:prstGeom>
          <a:solidFill>
            <a:srgbClr val="FFF7F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p>
        </p:txBody>
      </p:sp>
      <p:sp>
        <p:nvSpPr>
          <p:cNvPr id="12" name="TextBox 11"/>
          <p:cNvSpPr txBox="1"/>
          <p:nvPr/>
        </p:nvSpPr>
        <p:spPr>
          <a:xfrm>
            <a:off x="7863840" y="3429000"/>
            <a:ext cx="3749039" cy="457200"/>
          </a:xfrm>
          <a:prstGeom prst="rect">
            <a:avLst/>
          </a:prstGeom>
          <a:noFill/>
        </p:spPr>
        <p:txBody>
          <a:bodyPr wrap="square" lIns="36576" tIns="36576" rIns="36576" bIns="36576" anchor="t">
            <a:spAutoFit/>
          </a:bodyPr>
          <a:lstStyle/>
          <a:p>
            <a:pPr algn="l">
              <a:spcAft>
                <a:spcPts val="400"/>
              </a:spcAft>
            </a:pPr>
            <a:r>
              <a:rPr sz="1400" b="1">
                <a:solidFill>
                  <a:srgbClr val="BB2019"/>
                </a:solidFill>
                <a:latin typeface="Open Sans"/>
                <a:ea typeface="Open Sans"/>
                <a:cs typeface="Open Sans"/>
              </a:rPr>
              <a:t>van Rijn &amp; Rellermeyer (2021)</a:t>
            </a:r>
            <a:endParaRPr sz="1400" b="1">
              <a:solidFill>
                <a:srgbClr val="BB2019"/>
              </a:solidFill>
              <a:latin typeface="Open Sans"/>
              <a:ea typeface="Open Sans"/>
              <a:cs typeface="Open Sans"/>
            </a:endParaRPr>
          </a:p>
        </p:txBody>
      </p:sp>
      <p:sp>
        <p:nvSpPr>
          <p:cNvPr id="13" name="TextBox 12"/>
          <p:cNvSpPr txBox="1"/>
          <p:nvPr/>
        </p:nvSpPr>
        <p:spPr>
          <a:xfrm>
            <a:off x="7863840" y="3904488"/>
            <a:ext cx="3749039" cy="1234440"/>
          </a:xfrm>
          <a:prstGeom prst="rect">
            <a:avLst/>
          </a:prstGeom>
          <a:noFill/>
        </p:spPr>
        <p:txBody>
          <a:bodyPr wrap="square" lIns="36576" tIns="36576" rIns="36576" bIns="36576" anchor="t">
            <a:spAutoFit/>
          </a:bodyPr>
          <a:lstStyle/>
          <a:p>
            <a:pPr algn="l">
              <a:spcAft>
                <a:spcPts val="400"/>
              </a:spcAft>
            </a:pPr>
            <a:r>
              <a:rPr sz="1300">
                <a:solidFill>
                  <a:srgbClr val="262626"/>
                </a:solidFill>
                <a:latin typeface="Open Sans"/>
                <a:ea typeface="Open Sans"/>
                <a:cs typeface="Open Sans"/>
              </a:rPr>
              <a:t>Chênh lệch nhiều khi gần như không đáng kể, kể cả I/O (nhờ cache của HĐH chủ); nhưng VM vẫn tốn hơn.</a:t>
            </a:r>
            <a:endParaRPr sz="1300">
              <a:solidFill>
                <a:srgbClr val="262626"/>
              </a:solidFill>
              <a:latin typeface="Open Sans"/>
              <a:ea typeface="Open Sans"/>
              <a:cs typeface="Open Sans"/>
            </a:endParaRPr>
          </a:p>
        </p:txBody>
      </p:sp>
      <p:sp>
        <p:nvSpPr>
          <p:cNvPr id="14" name="Rectangle 13"/>
          <p:cNvSpPr/>
          <p:nvPr/>
        </p:nvSpPr>
        <p:spPr>
          <a:xfrm>
            <a:off x="7680960" y="5349240"/>
            <a:ext cx="4069080" cy="868680"/>
          </a:xfrm>
          <a:prstGeom prst="rect">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164592" rIns="164592" bIns="164592" rtlCol="0" anchor="ctr"/>
          <a:lstStyle/>
          <a:p>
            <a:pPr algn="l">
              <a:spcAft>
                <a:spcPts val="200"/>
              </a:spcAft>
            </a:pPr>
            <a:r>
              <a:rPr sz="1350">
                <a:solidFill>
                  <a:srgbClr val="FFFFFF"/>
                </a:solidFill>
                <a:latin typeface="Open Sans"/>
                <a:ea typeface="Open Sans"/>
                <a:cs typeface="Open Sans"/>
              </a:rPr>
              <a:t>Hai công nghệ không loại trừ nhau: đám mây thường chạy container bên trong VM.</a:t>
            </a:r>
            <a:endParaRPr sz="1350">
              <a:solidFill>
                <a:srgbClr val="FFFFFF"/>
              </a:solidFill>
              <a:latin typeface="Open Sans"/>
              <a:ea typeface="Open Sans"/>
              <a:cs typeface="Open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Ứng dụng ảo hoá trong hệ phân tán</a:t>
            </a:r>
          </a:p>
        </p:txBody>
      </p:sp>
      <p:sp>
        <p:nvSpPr>
          <p:cNvPr id="3" name="Text Placeholder 2"/>
          <p:cNvSpPr>
            <a:spLocks noGrp="1"/>
          </p:cNvSpPr>
          <p:nvPr>
            <p:ph type="body" sz="quarter" idx="13"/>
          </p:nvPr>
        </p:nvSpPr>
        <p:spPr/>
        <p:txBody>
          <a:bodyPr/>
          <a:lstStyle/>
          <a:p>
            <a:r>
              <a:t>Mục 3.2.4 · ảo hoá là cốt lõi của điện toán đám mây (IaaS)</a:t>
            </a:r>
          </a:p>
        </p:txBody>
      </p:sp>
      <p:sp>
        <p:nvSpPr>
          <p:cNvPr id="4" name="Slide Number Placeholder 3"/>
          <p:cNvSpPr>
            <a:spLocks noGrp="1"/>
          </p:cNvSpPr>
          <p:nvPr>
            <p:ph type="sldNum" sz="quarter" idx="12"/>
          </p:nvPr>
        </p:nvSpPr>
        <p:spPr/>
        <p:txBody>
          <a:bodyPr/>
          <a:lstStyle/>
          <a:p>
            <a:fld id="{D92DDFE6-74DA-46A1-A171-CE3314B0D579}" type="slidenum">
              <a:rPr lang="en-US" smtClean="0"/>
            </a:fld>
            <a:endParaRPr lang="en-US" dirty="0"/>
          </a:p>
        </p:txBody>
      </p:sp>
      <p:sp>
        <p:nvSpPr>
          <p:cNvPr id="5" name="Date Placeholder 4"/>
          <p:cNvSpPr>
            <a:spLocks noGrp="1"/>
          </p:cNvSpPr>
          <p:nvPr>
            <p:ph type="dt" sz="half" idx="10"/>
          </p:nvPr>
        </p:nvSpPr>
        <p:spPr/>
        <p:txBody>
          <a:bodyPr/>
          <a:lstStyle/>
          <a:p>
            <a:fld id="{2933FCAF-43A6-4F1B-B43D-A70C2A597932}" type="datetime1">
              <a:rPr lang="vi-VN" smtClean="0"/>
            </a:fld>
            <a:endParaRPr lang="en-US"/>
          </a:p>
        </p:txBody>
      </p:sp>
      <p:sp>
        <p:nvSpPr>
          <p:cNvPr id="6" name="Footer Placeholder 5"/>
          <p:cNvSpPr>
            <a:spLocks noGrp="1"/>
          </p:cNvSpPr>
          <p:nvPr>
            <p:ph type="ftr" sz="quarter" idx="11"/>
          </p:nvPr>
        </p:nvSpPr>
        <p:spPr/>
        <p:txBody>
          <a:bodyPr/>
          <a:lstStyle/>
          <a:p>
            <a:r>
              <a:rPr lang="en-US"/>
              <a:t>Chương 3 · Tiến trình: Luồng &amp; Ảo hoá</a:t>
            </a:r>
            <a:endParaRPr lang="en-US" dirty="0"/>
          </a:p>
        </p:txBody>
      </p:sp>
      <p:sp>
        <p:nvSpPr>
          <p:cNvPr id="7" name="Rectangle 6"/>
          <p:cNvSpPr/>
          <p:nvPr/>
        </p:nvSpPr>
        <p:spPr>
          <a:xfrm>
            <a:off x="457200" y="1325880"/>
            <a:ext cx="1371600" cy="713232"/>
          </a:xfrm>
          <a:prstGeom prst="rect">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200"/>
              </a:spcAft>
            </a:pPr>
            <a:r>
              <a:rPr sz="1600" b="1">
                <a:solidFill>
                  <a:srgbClr val="FFFFFF"/>
                </a:solidFill>
                <a:latin typeface="Open Sans"/>
                <a:ea typeface="Open Sans"/>
                <a:cs typeface="Open Sans"/>
              </a:rPr>
              <a:t>IaaS</a:t>
            </a:r>
            <a:endParaRPr sz="1600" b="1">
              <a:solidFill>
                <a:srgbClr val="FFFFFF"/>
              </a:solidFill>
              <a:latin typeface="Open Sans"/>
              <a:ea typeface="Open Sans"/>
              <a:cs typeface="Open Sans"/>
            </a:endParaRPr>
          </a:p>
        </p:txBody>
      </p:sp>
      <p:sp>
        <p:nvSpPr>
          <p:cNvPr id="8" name="TextBox 7"/>
          <p:cNvSpPr txBox="1"/>
          <p:nvPr/>
        </p:nvSpPr>
        <p:spPr>
          <a:xfrm>
            <a:off x="1965960" y="1325880"/>
            <a:ext cx="3017520" cy="713232"/>
          </a:xfrm>
          <a:prstGeom prst="rect">
            <a:avLst/>
          </a:prstGeom>
          <a:noFill/>
        </p:spPr>
        <p:txBody>
          <a:bodyPr wrap="square" lIns="36576" tIns="36576" rIns="36576" bIns="36576" anchor="ctr">
            <a:spAutoFit/>
          </a:bodyPr>
          <a:lstStyle/>
          <a:p>
            <a:pPr algn="l">
              <a:spcAft>
                <a:spcPts val="400"/>
              </a:spcAft>
            </a:pPr>
            <a:r>
              <a:rPr sz="1350">
                <a:solidFill>
                  <a:srgbClr val="262626"/>
                </a:solidFill>
                <a:latin typeface="Open Sans"/>
                <a:ea typeface="Open Sans"/>
                <a:cs typeface="Open Sans"/>
              </a:rPr>
              <a:t>Hạ tầng: máy ảo, mạng, lưu trữ</a:t>
            </a:r>
            <a:endParaRPr sz="1350">
              <a:solidFill>
                <a:srgbClr val="262626"/>
              </a:solidFill>
              <a:latin typeface="Open Sans"/>
              <a:ea typeface="Open Sans"/>
              <a:cs typeface="Open Sans"/>
            </a:endParaRPr>
          </a:p>
        </p:txBody>
      </p:sp>
      <p:sp>
        <p:nvSpPr>
          <p:cNvPr id="9" name="Rectangle 8"/>
          <p:cNvSpPr/>
          <p:nvPr/>
        </p:nvSpPr>
        <p:spPr>
          <a:xfrm>
            <a:off x="457200" y="2194560"/>
            <a:ext cx="1371600" cy="713232"/>
          </a:xfrm>
          <a:prstGeom prst="rect">
            <a:avLst/>
          </a:prstGeom>
          <a:solidFill>
            <a:srgbClr val="FDECEB"/>
          </a:solidFill>
          <a:ln w="12700">
            <a:solidFill>
              <a:srgbClr val="BB2019"/>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200"/>
              </a:spcAft>
            </a:pPr>
            <a:r>
              <a:rPr sz="1600" b="1">
                <a:solidFill>
                  <a:srgbClr val="BB2019"/>
                </a:solidFill>
                <a:latin typeface="Open Sans"/>
                <a:ea typeface="Open Sans"/>
                <a:cs typeface="Open Sans"/>
              </a:rPr>
              <a:t>PaaS</a:t>
            </a:r>
            <a:endParaRPr sz="1600" b="1">
              <a:solidFill>
                <a:srgbClr val="BB2019"/>
              </a:solidFill>
              <a:latin typeface="Open Sans"/>
              <a:ea typeface="Open Sans"/>
              <a:cs typeface="Open Sans"/>
            </a:endParaRPr>
          </a:p>
        </p:txBody>
      </p:sp>
      <p:sp>
        <p:nvSpPr>
          <p:cNvPr id="10" name="TextBox 9"/>
          <p:cNvSpPr txBox="1"/>
          <p:nvPr/>
        </p:nvSpPr>
        <p:spPr>
          <a:xfrm>
            <a:off x="1965960" y="2194560"/>
            <a:ext cx="3017520" cy="713232"/>
          </a:xfrm>
          <a:prstGeom prst="rect">
            <a:avLst/>
          </a:prstGeom>
          <a:noFill/>
        </p:spPr>
        <p:txBody>
          <a:bodyPr wrap="square" lIns="36576" tIns="36576" rIns="36576" bIns="36576" anchor="ctr">
            <a:spAutoFit/>
          </a:bodyPr>
          <a:lstStyle/>
          <a:p>
            <a:pPr algn="l">
              <a:spcAft>
                <a:spcPts val="400"/>
              </a:spcAft>
            </a:pPr>
            <a:r>
              <a:rPr sz="1350">
                <a:solidFill>
                  <a:srgbClr val="262626"/>
                </a:solidFill>
                <a:latin typeface="Open Sans"/>
                <a:ea typeface="Open Sans"/>
                <a:cs typeface="Open Sans"/>
              </a:rPr>
              <a:t>Dịch vụ mức hệ thống</a:t>
            </a:r>
            <a:endParaRPr sz="1350">
              <a:solidFill>
                <a:srgbClr val="262626"/>
              </a:solidFill>
              <a:latin typeface="Open Sans"/>
              <a:ea typeface="Open Sans"/>
              <a:cs typeface="Open Sans"/>
            </a:endParaRPr>
          </a:p>
        </p:txBody>
      </p:sp>
      <p:sp>
        <p:nvSpPr>
          <p:cNvPr id="11" name="Rectangle 10"/>
          <p:cNvSpPr/>
          <p:nvPr/>
        </p:nvSpPr>
        <p:spPr>
          <a:xfrm>
            <a:off x="457200" y="3063239"/>
            <a:ext cx="1371600" cy="713232"/>
          </a:xfrm>
          <a:prstGeom prst="rect">
            <a:avLst/>
          </a:prstGeom>
          <a:solidFill>
            <a:srgbClr val="FDECEB"/>
          </a:solidFill>
          <a:ln w="12700">
            <a:solidFill>
              <a:srgbClr val="BB2019"/>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200"/>
              </a:spcAft>
            </a:pPr>
            <a:r>
              <a:rPr sz="1600" b="1">
                <a:solidFill>
                  <a:srgbClr val="BB2019"/>
                </a:solidFill>
                <a:latin typeface="Open Sans"/>
                <a:ea typeface="Open Sans"/>
                <a:cs typeface="Open Sans"/>
              </a:rPr>
              <a:t>SaaS</a:t>
            </a:r>
            <a:endParaRPr sz="1600" b="1">
              <a:solidFill>
                <a:srgbClr val="BB2019"/>
              </a:solidFill>
              <a:latin typeface="Open Sans"/>
              <a:ea typeface="Open Sans"/>
              <a:cs typeface="Open Sans"/>
            </a:endParaRPr>
          </a:p>
        </p:txBody>
      </p:sp>
      <p:sp>
        <p:nvSpPr>
          <p:cNvPr id="12" name="TextBox 11"/>
          <p:cNvSpPr txBox="1"/>
          <p:nvPr/>
        </p:nvSpPr>
        <p:spPr>
          <a:xfrm>
            <a:off x="1965960" y="3063239"/>
            <a:ext cx="3017520" cy="713232"/>
          </a:xfrm>
          <a:prstGeom prst="rect">
            <a:avLst/>
          </a:prstGeom>
          <a:noFill/>
        </p:spPr>
        <p:txBody>
          <a:bodyPr wrap="square" lIns="36576" tIns="36576" rIns="36576" bIns="36576" anchor="ctr">
            <a:spAutoFit/>
          </a:bodyPr>
          <a:lstStyle/>
          <a:p>
            <a:pPr algn="l">
              <a:spcAft>
                <a:spcPts val="400"/>
              </a:spcAft>
            </a:pPr>
            <a:r>
              <a:rPr sz="1350">
                <a:solidFill>
                  <a:srgbClr val="262626"/>
                </a:solidFill>
                <a:latin typeface="Open Sans"/>
                <a:ea typeface="Open Sans"/>
                <a:cs typeface="Open Sans"/>
              </a:rPr>
              <a:t>Ứng dụng hoàn chỉnh</a:t>
            </a:r>
            <a:endParaRPr sz="1350">
              <a:solidFill>
                <a:srgbClr val="262626"/>
              </a:solidFill>
              <a:latin typeface="Open Sans"/>
              <a:ea typeface="Open Sans"/>
              <a:cs typeface="Open Sans"/>
            </a:endParaRPr>
          </a:p>
        </p:txBody>
      </p:sp>
      <p:sp>
        <p:nvSpPr>
          <p:cNvPr id="13" name="TextBox 12"/>
          <p:cNvSpPr txBox="1"/>
          <p:nvPr/>
        </p:nvSpPr>
        <p:spPr>
          <a:xfrm>
            <a:off x="457200" y="3977639"/>
            <a:ext cx="4572000" cy="822960"/>
          </a:xfrm>
          <a:prstGeom prst="rect">
            <a:avLst/>
          </a:prstGeom>
          <a:noFill/>
        </p:spPr>
        <p:txBody>
          <a:bodyPr wrap="square" lIns="36576" tIns="36576" rIns="36576" bIns="36576" anchor="t">
            <a:spAutoFit/>
          </a:bodyPr>
          <a:lstStyle/>
          <a:p>
            <a:pPr algn="l">
              <a:spcAft>
                <a:spcPts val="400"/>
              </a:spcAft>
            </a:pPr>
            <a:r>
              <a:rPr sz="1300">
                <a:solidFill>
                  <a:srgbClr val="6B5F5D"/>
                </a:solidFill>
                <a:latin typeface="Open Sans"/>
                <a:ea typeface="Open Sans"/>
                <a:cs typeface="Open Sans"/>
              </a:rPr>
              <a:t>Khách thuê có ảo giác về một máy vật lý riêng; cô lập không tuyệt đối vì tài nguyên vật lý vẫn dùng chung.</a:t>
            </a:r>
            <a:endParaRPr sz="1300">
              <a:solidFill>
                <a:srgbClr val="6B5F5D"/>
              </a:solidFill>
              <a:latin typeface="Open Sans"/>
              <a:ea typeface="Open Sans"/>
              <a:cs typeface="Open Sans"/>
            </a:endParaRPr>
          </a:p>
        </p:txBody>
      </p:sp>
      <p:graphicFrame>
        <p:nvGraphicFramePr>
          <p:cNvPr id="14" name="Table 13"/>
          <p:cNvGraphicFramePr>
            <a:graphicFrameLocks noGrp="1"/>
          </p:cNvGraphicFramePr>
          <p:nvPr/>
        </p:nvGraphicFramePr>
        <p:xfrm>
          <a:off x="5257800" y="1325880"/>
          <a:ext cx="6492240" cy="3291840"/>
        </p:xfrm>
        <a:graphic>
          <a:graphicData uri="http://schemas.openxmlformats.org/drawingml/2006/table">
            <a:tbl>
              <a:tblPr firstRow="1" bandRow="1">
                <a:tableStyleId>{C083E6E3-FA7D-4D7B-A595-EF9225AFEA82}</a:tableStyleId>
              </a:tblPr>
              <a:tblGrid>
                <a:gridCol w="3108960"/>
                <a:gridCol w="3383280"/>
              </a:tblGrid>
              <a:tr h="548640">
                <a:tc>
                  <a:txBody>
                    <a:bodyPr wrap="square"/>
                    <a:lstStyle/>
                    <a:p>
                      <a:r>
                        <a:rPr sz="1300" b="1">
                          <a:solidFill>
                            <a:srgbClr val="BB2019"/>
                          </a:solidFill>
                          <a:latin typeface="Open Sans"/>
                          <a:ea typeface="Open Sans"/>
                          <a:cs typeface="Open Sans"/>
                        </a:rPr>
                        <a:t>Amazon EC2</a:t>
                      </a:r>
                      <a:endParaRPr sz="1300" b="1">
                        <a:solidFill>
                          <a:srgbClr val="BB2019"/>
                        </a:solidFill>
                        <a:latin typeface="Open Sans"/>
                        <a:ea typeface="Open Sans"/>
                        <a:cs typeface="Open Sans"/>
                      </a:endParaRPr>
                    </a:p>
                  </a:txBody>
                  <a:tcPr marL="73152" marR="73152" marT="27432" marB="27432" anchor="ctr"/>
                </a:tc>
                <a:tc>
                  <a:txBody>
                    <a:bodyPr wrap="square"/>
                    <a:lstStyle/>
                    <a:p>
                      <a:r>
                        <a:rPr sz="1300" b="1">
                          <a:solidFill>
                            <a:srgbClr val="BB2019"/>
                          </a:solidFill>
                          <a:latin typeface="Open Sans"/>
                          <a:ea typeface="Open Sans"/>
                          <a:cs typeface="Open Sans"/>
                        </a:rPr>
                        <a:t>Tương ứng trong hệ thống đặt vé</a:t>
                      </a:r>
                      <a:endParaRPr sz="1300" b="1">
                        <a:solidFill>
                          <a:srgbClr val="BB2019"/>
                        </a:solidFill>
                        <a:latin typeface="Open Sans"/>
                        <a:ea typeface="Open Sans"/>
                        <a:cs typeface="Open Sans"/>
                      </a:endParaRPr>
                    </a:p>
                  </a:txBody>
                  <a:tcPr marL="73152" marR="73152" marT="27432" marB="27432" anchor="ctr"/>
                </a:tc>
              </a:tr>
              <a:tr h="548640">
                <a:tc>
                  <a:txBody>
                    <a:bodyPr wrap="square"/>
                    <a:lstStyle/>
                    <a:p>
                      <a:r>
                        <a:rPr sz="1300" b="1">
                          <a:solidFill>
                            <a:srgbClr val="262626"/>
                          </a:solidFill>
                          <a:latin typeface="Open Sans"/>
                          <a:ea typeface="Open Sans"/>
                          <a:cs typeface="Open Sans"/>
                        </a:rPr>
                        <a:t>AMI (Amazon Machine Image)</a:t>
                      </a:r>
                      <a:endParaRPr sz="1300" b="1">
                        <a:solidFill>
                          <a:srgbClr val="262626"/>
                        </a:solidFill>
                        <a:latin typeface="Open Sans"/>
                        <a:ea typeface="Open Sans"/>
                        <a:cs typeface="Open Sans"/>
                      </a:endParaRPr>
                    </a:p>
                  </a:txBody>
                  <a:tcPr marL="73152" marR="73152" marT="27432" marB="27432" anchor="ctr"/>
                </a:tc>
                <a:tc>
                  <a:txBody>
                    <a:bodyPr wrap="square"/>
                    <a:lstStyle/>
                    <a:p>
                      <a:r>
                        <a:rPr sz="1300" b="0">
                          <a:solidFill>
                            <a:srgbClr val="262626"/>
                          </a:solidFill>
                          <a:latin typeface="Open Sans"/>
                          <a:ea typeface="Open Sans"/>
                          <a:cs typeface="Open Sans"/>
                        </a:rPr>
                        <a:t>Docker image movie-booking/*</a:t>
                      </a:r>
                      <a:endParaRPr sz="1300" b="0">
                        <a:solidFill>
                          <a:srgbClr val="262626"/>
                        </a:solidFill>
                        <a:latin typeface="Open Sans"/>
                        <a:ea typeface="Open Sans"/>
                        <a:cs typeface="Open Sans"/>
                      </a:endParaRPr>
                    </a:p>
                  </a:txBody>
                  <a:tcPr marL="73152" marR="73152" marT="27432" marB="27432" anchor="ctr"/>
                </a:tc>
              </a:tr>
              <a:tr h="548640">
                <a:tc>
                  <a:txBody>
                    <a:bodyPr wrap="square"/>
                    <a:lstStyle/>
                    <a:p>
                      <a:r>
                        <a:rPr sz="1300" b="1">
                          <a:solidFill>
                            <a:srgbClr val="262626"/>
                          </a:solidFill>
                          <a:latin typeface="Open Sans"/>
                          <a:ea typeface="Open Sans"/>
                          <a:cs typeface="Open Sans"/>
                        </a:rPr>
                        <a:t>EC2 instance</a:t>
                      </a:r>
                      <a:endParaRPr sz="1300" b="1">
                        <a:solidFill>
                          <a:srgbClr val="262626"/>
                        </a:solidFill>
                        <a:latin typeface="Open Sans"/>
                        <a:ea typeface="Open Sans"/>
                        <a:cs typeface="Open Sans"/>
                      </a:endParaRPr>
                    </a:p>
                  </a:txBody>
                  <a:tcPr marL="73152" marR="73152" marT="27432" marB="27432" anchor="ctr"/>
                </a:tc>
                <a:tc>
                  <a:txBody>
                    <a:bodyPr wrap="square"/>
                    <a:lstStyle/>
                    <a:p>
                      <a:r>
                        <a:rPr sz="1300" b="0">
                          <a:solidFill>
                            <a:srgbClr val="262626"/>
                          </a:solidFill>
                          <a:latin typeface="Open Sans"/>
                          <a:ea typeface="Open Sans"/>
                          <a:cs typeface="Open Sans"/>
                        </a:rPr>
                        <a:t>Container (booking-service ×N)</a:t>
                      </a:r>
                      <a:endParaRPr sz="1300" b="0">
                        <a:solidFill>
                          <a:srgbClr val="262626"/>
                        </a:solidFill>
                        <a:latin typeface="Open Sans"/>
                        <a:ea typeface="Open Sans"/>
                        <a:cs typeface="Open Sans"/>
                      </a:endParaRPr>
                    </a:p>
                  </a:txBody>
                  <a:tcPr marL="73152" marR="73152" marT="27432" marB="27432" anchor="ctr"/>
                </a:tc>
              </a:tr>
              <a:tr h="548640">
                <a:tc>
                  <a:txBody>
                    <a:bodyPr wrap="square"/>
                    <a:lstStyle/>
                    <a:p>
                      <a:r>
                        <a:rPr sz="1300" b="1">
                          <a:solidFill>
                            <a:srgbClr val="262626"/>
                          </a:solidFill>
                          <a:latin typeface="Open Sans"/>
                          <a:ea typeface="Open Sans"/>
                          <a:cs typeface="Open Sans"/>
                        </a:rPr>
                        <a:t>IP riêng + IP công khai (NAT)</a:t>
                      </a:r>
                      <a:endParaRPr sz="1300" b="1">
                        <a:solidFill>
                          <a:srgbClr val="262626"/>
                        </a:solidFill>
                        <a:latin typeface="Open Sans"/>
                        <a:ea typeface="Open Sans"/>
                        <a:cs typeface="Open Sans"/>
                      </a:endParaRPr>
                    </a:p>
                  </a:txBody>
                  <a:tcPr marL="73152" marR="73152" marT="27432" marB="27432" anchor="ctr"/>
                </a:tc>
                <a:tc>
                  <a:txBody>
                    <a:bodyPr wrap="square"/>
                    <a:lstStyle/>
                    <a:p>
                      <a:r>
                        <a:rPr sz="1300" b="0">
                          <a:solidFill>
                            <a:srgbClr val="262626"/>
                          </a:solidFill>
                          <a:latin typeface="Open Sans"/>
                          <a:ea typeface="Open Sans"/>
                          <a:cs typeface="Open Sans"/>
                        </a:rPr>
                        <a:t>IP 172.19.0.x + cổng localhost:3000</a:t>
                      </a:r>
                      <a:endParaRPr sz="1300" b="0">
                        <a:solidFill>
                          <a:srgbClr val="262626"/>
                        </a:solidFill>
                        <a:latin typeface="Open Sans"/>
                        <a:ea typeface="Open Sans"/>
                        <a:cs typeface="Open Sans"/>
                      </a:endParaRPr>
                    </a:p>
                  </a:txBody>
                  <a:tcPr marL="73152" marR="73152" marT="27432" marB="27432" anchor="ctr"/>
                </a:tc>
              </a:tr>
              <a:tr h="548640">
                <a:tc>
                  <a:txBody>
                    <a:bodyPr wrap="square"/>
                    <a:lstStyle/>
                    <a:p>
                      <a:r>
                        <a:rPr sz="1300" b="1">
                          <a:solidFill>
                            <a:srgbClr val="262626"/>
                          </a:solidFill>
                          <a:latin typeface="Open Sans"/>
                          <a:ea typeface="Open Sans"/>
                          <a:cs typeface="Open Sans"/>
                        </a:rPr>
                        <a:t>Chọn CPU, bộ nhớ, lưu trữ</a:t>
                      </a:r>
                      <a:endParaRPr sz="1300" b="1">
                        <a:solidFill>
                          <a:srgbClr val="262626"/>
                        </a:solidFill>
                        <a:latin typeface="Open Sans"/>
                        <a:ea typeface="Open Sans"/>
                        <a:cs typeface="Open Sans"/>
                      </a:endParaRPr>
                    </a:p>
                  </a:txBody>
                  <a:tcPr marL="73152" marR="73152" marT="27432" marB="27432" anchor="ctr"/>
                </a:tc>
                <a:tc>
                  <a:txBody>
                    <a:bodyPr wrap="square"/>
                    <a:lstStyle/>
                    <a:p>
                      <a:r>
                        <a:rPr sz="1300" b="0">
                          <a:solidFill>
                            <a:srgbClr val="262626"/>
                          </a:solidFill>
                          <a:latin typeface="Open Sans"/>
                          <a:ea typeface="Open Sans"/>
                          <a:cs typeface="Open Sans"/>
                        </a:rPr>
                        <a:t>deploy.resources.limits (cgroups)</a:t>
                      </a:r>
                      <a:endParaRPr sz="1300" b="0">
                        <a:solidFill>
                          <a:srgbClr val="262626"/>
                        </a:solidFill>
                        <a:latin typeface="Open Sans"/>
                        <a:ea typeface="Open Sans"/>
                        <a:cs typeface="Open Sans"/>
                      </a:endParaRPr>
                    </a:p>
                  </a:txBody>
                  <a:tcPr marL="73152" marR="73152" marT="27432" marB="27432" anchor="ctr"/>
                </a:tc>
              </a:tr>
              <a:tr h="548640">
                <a:tc>
                  <a:txBody>
                    <a:bodyPr wrap="square"/>
                    <a:lstStyle/>
                    <a:p>
                      <a:r>
                        <a:rPr sz="1300" b="1">
                          <a:solidFill>
                            <a:srgbClr val="262626"/>
                          </a:solidFill>
                          <a:latin typeface="Open Sans"/>
                          <a:ea typeface="Open Sans"/>
                          <a:cs typeface="Open Sans"/>
                        </a:rPr>
                        <a:t>Ổ cục bộ tạm thời · EBS / S3 bền</a:t>
                      </a:r>
                      <a:endParaRPr sz="1300" b="1">
                        <a:solidFill>
                          <a:srgbClr val="262626"/>
                        </a:solidFill>
                        <a:latin typeface="Open Sans"/>
                        <a:ea typeface="Open Sans"/>
                        <a:cs typeface="Open Sans"/>
                      </a:endParaRPr>
                    </a:p>
                  </a:txBody>
                  <a:tcPr marL="73152" marR="73152" marT="27432" marB="27432" anchor="ctr"/>
                </a:tc>
                <a:tc>
                  <a:txBody>
                    <a:bodyPr wrap="square"/>
                    <a:lstStyle/>
                    <a:p>
                      <a:r>
                        <a:rPr sz="1300" b="0">
                          <a:solidFill>
                            <a:srgbClr val="262626"/>
                          </a:solidFill>
                          <a:latin typeface="Open Sans"/>
                          <a:ea typeface="Open Sans"/>
                          <a:cs typeface="Open Sans"/>
                        </a:rPr>
                        <a:t>Lớp ghi của container · Docker volume</a:t>
                      </a:r>
                      <a:endParaRPr sz="1300" b="0">
                        <a:solidFill>
                          <a:srgbClr val="262626"/>
                        </a:solidFill>
                        <a:latin typeface="Open Sans"/>
                        <a:ea typeface="Open Sans"/>
                        <a:cs typeface="Open Sans"/>
                      </a:endParaRPr>
                    </a:p>
                  </a:txBody>
                  <a:tcPr marL="73152" marR="73152" marT="27432" marB="27432" anchor="ctr"/>
                </a:tc>
              </a:tr>
            </a:tbl>
          </a:graphicData>
        </a:graphic>
      </p:graphicFrame>
      <p:sp>
        <p:nvSpPr>
          <p:cNvPr id="15" name="Rectangle 14"/>
          <p:cNvSpPr/>
          <p:nvPr/>
        </p:nvSpPr>
        <p:spPr>
          <a:xfrm>
            <a:off x="457200" y="4937760"/>
            <a:ext cx="11292840" cy="1280160"/>
          </a:xfrm>
          <a:prstGeom prst="rect">
            <a:avLst/>
          </a:prstGeom>
          <a:solidFill>
            <a:srgbClr val="FFF7F7"/>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201168" rIns="201168" bIns="201168" rtlCol="0" anchor="ctr"/>
          <a:lstStyle/>
          <a:p>
            <a:pPr algn="l">
              <a:spcAft>
                <a:spcPts val="200"/>
              </a:spcAft>
            </a:pPr>
            <a:r>
              <a:rPr sz="1400" b="1">
                <a:solidFill>
                  <a:srgbClr val="BB2019"/>
                </a:solidFill>
                <a:latin typeface="Open Sans"/>
                <a:ea typeface="Open Sans"/>
                <a:cs typeface="Open Sans"/>
              </a:rPr>
              <a:t>Kết luận của giáo trình: </a:t>
            </a:r>
            <a:r>
              <a:rPr sz="1400">
                <a:solidFill>
                  <a:srgbClr val="262626"/>
                </a:solidFill>
                <a:latin typeface="Open Sans"/>
                <a:ea typeface="Open Sans"/>
                <a:cs typeface="Open Sans"/>
              </a:rPr>
              <a:t>IaaS cho phép tạo nhiều máy ảo, mỗi máy cấu hình tài nguyên theo nhu cầu, trao đổi thông điệp qua mạng IP — tức là dựng cả một hệ phân tán mà không phải bảo trì máy vật lý nào. Ảo hoá nằm ở lõi của điện toán đám mây hiện đại.</a:t>
            </a:r>
            <a:endParaRPr sz="1400">
              <a:solidFill>
                <a:srgbClr val="262626"/>
              </a:solidFill>
              <a:latin typeface="Open Sans"/>
              <a:ea typeface="Open Sans"/>
              <a:cs typeface="Open Sans"/>
            </a:endParaRPr>
          </a:p>
        </p:txBody>
      </p:sp>
      <p:sp>
        <p:nvSpPr>
          <p:cNvPr id="16" name="Rounded Rectangle 15"/>
          <p:cNvSpPr/>
          <p:nvPr/>
        </p:nvSpPr>
        <p:spPr>
          <a:xfrm>
            <a:off x="10744200" y="347472"/>
            <a:ext cx="1005840" cy="292608"/>
          </a:xfrm>
          <a:prstGeom prst="roundRect">
            <a:avLst>
              <a:gd name="adj" fmla="val 50000"/>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spcAft>
                <a:spcPts val="200"/>
              </a:spcAft>
            </a:pPr>
            <a:r>
              <a:rPr sz="1150" b="1">
                <a:solidFill>
                  <a:srgbClr val="FFFFFF"/>
                </a:solidFill>
                <a:latin typeface="Open Sans"/>
                <a:ea typeface="Open Sans"/>
                <a:cs typeface="Open Sans"/>
              </a:rPr>
              <a:t>Demo 11</a:t>
            </a:r>
            <a:endParaRPr sz="1150" b="1">
              <a:solidFill>
                <a:srgbClr val="FFFFFF"/>
              </a:solidFill>
              <a:latin typeface="Open Sans"/>
              <a:ea typeface="Open Sans"/>
              <a:cs typeface="Open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Tổng kết</a:t>
            </a:r>
          </a:p>
        </p:txBody>
      </p:sp>
      <p:sp>
        <p:nvSpPr>
          <p:cNvPr id="3" name="Text Placeholder 2"/>
          <p:cNvSpPr>
            <a:spLocks noGrp="1"/>
          </p:cNvSpPr>
          <p:nvPr>
            <p:ph type="body" sz="quarter" idx="13"/>
          </p:nvPr>
        </p:nvSpPr>
        <p:spPr/>
        <p:txBody>
          <a:bodyPr/>
          <a:lstStyle/>
          <a:p>
            <a:r>
              <a:t>Một tiến trình = các luồng bên trong + môi trường ảo hoá bao bên ngoài</a:t>
            </a:r>
          </a:p>
        </p:txBody>
      </p:sp>
      <p:sp>
        <p:nvSpPr>
          <p:cNvPr id="4" name="Slide Number Placeholder 3"/>
          <p:cNvSpPr>
            <a:spLocks noGrp="1"/>
          </p:cNvSpPr>
          <p:nvPr>
            <p:ph type="sldNum" sz="quarter" idx="12"/>
          </p:nvPr>
        </p:nvSpPr>
        <p:spPr/>
        <p:txBody>
          <a:bodyPr/>
          <a:lstStyle/>
          <a:p>
            <a:fld id="{D92DDFE6-74DA-46A1-A171-CE3314B0D579}" type="slidenum">
              <a:rPr lang="en-US" smtClean="0"/>
            </a:fld>
            <a:endParaRPr lang="en-US" dirty="0"/>
          </a:p>
        </p:txBody>
      </p:sp>
      <p:sp>
        <p:nvSpPr>
          <p:cNvPr id="5" name="Date Placeholder 4"/>
          <p:cNvSpPr>
            <a:spLocks noGrp="1"/>
          </p:cNvSpPr>
          <p:nvPr>
            <p:ph type="dt" sz="half" idx="10"/>
          </p:nvPr>
        </p:nvSpPr>
        <p:spPr/>
        <p:txBody>
          <a:bodyPr/>
          <a:lstStyle/>
          <a:p>
            <a:fld id="{2933FCAF-43A6-4F1B-B43D-A70C2A597932}" type="datetime1">
              <a:rPr lang="vi-VN" smtClean="0"/>
            </a:fld>
            <a:endParaRPr lang="en-US"/>
          </a:p>
        </p:txBody>
      </p:sp>
      <p:sp>
        <p:nvSpPr>
          <p:cNvPr id="6" name="Footer Placeholder 5"/>
          <p:cNvSpPr>
            <a:spLocks noGrp="1"/>
          </p:cNvSpPr>
          <p:nvPr>
            <p:ph type="ftr" sz="quarter" idx="11"/>
          </p:nvPr>
        </p:nvSpPr>
        <p:spPr/>
        <p:txBody>
          <a:bodyPr/>
          <a:lstStyle/>
          <a:p>
            <a:r>
              <a:rPr lang="en-US"/>
              <a:t>Chương 3 · Tiến trình: Luồng &amp; Ảo hoá</a:t>
            </a:r>
            <a:endParaRPr lang="en-US" dirty="0"/>
          </a:p>
        </p:txBody>
      </p:sp>
      <p:sp>
        <p:nvSpPr>
          <p:cNvPr id="7" name="Rectangle 6"/>
          <p:cNvSpPr/>
          <p:nvPr/>
        </p:nvSpPr>
        <p:spPr>
          <a:xfrm>
            <a:off x="457200" y="1325880"/>
            <a:ext cx="5554980" cy="640080"/>
          </a:xfrm>
          <a:prstGeom prst="rect">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200"/>
              </a:spcAft>
            </a:pPr>
            <a:r>
              <a:rPr sz="1800" b="1">
                <a:solidFill>
                  <a:srgbClr val="FFFFFF"/>
                </a:solidFill>
                <a:latin typeface="Open Sans"/>
                <a:ea typeface="Open Sans"/>
                <a:cs typeface="Open Sans"/>
              </a:rPr>
              <a:t>3.1 Luồng</a:t>
            </a:r>
            <a:endParaRPr sz="1800" b="1">
              <a:solidFill>
                <a:srgbClr val="FFFFFF"/>
              </a:solidFill>
              <a:latin typeface="Open Sans"/>
              <a:ea typeface="Open Sans"/>
              <a:cs typeface="Open Sans"/>
            </a:endParaRPr>
          </a:p>
        </p:txBody>
      </p:sp>
      <p:sp>
        <p:nvSpPr>
          <p:cNvPr id="8" name="Rectangle 7"/>
          <p:cNvSpPr/>
          <p:nvPr/>
        </p:nvSpPr>
        <p:spPr>
          <a:xfrm>
            <a:off x="457200" y="1965960"/>
            <a:ext cx="5554980" cy="3383280"/>
          </a:xfrm>
          <a:prstGeom prst="rect">
            <a:avLst/>
          </a:prstGeom>
          <a:solidFill>
            <a:srgbClr val="FFF7F7"/>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t"/>
          <a:lstStyle/>
          <a:p>
            <a:pPr marL="237490" indent="-201295" algn="l">
              <a:spcAft>
                <a:spcPts val="800"/>
              </a:spcAft>
              <a:buClr>
                <a:srgbClr val="BB2019"/>
              </a:buClr>
              <a:buFont typeface="Arial" panose="020B0604020202020204"/>
              <a:buChar char="•"/>
            </a:pPr>
            <a:r>
              <a:rPr sz="1400">
                <a:solidFill>
                  <a:srgbClr val="262626"/>
                </a:solidFill>
                <a:latin typeface="Open Sans"/>
                <a:ea typeface="Open Sans"/>
                <a:cs typeface="Open Sans"/>
              </a:rPr>
              <a:t>Luồng: ngữ cảnh nhẹ hơn tiến trình, chia sẻ không gian địa chỉ</a:t>
            </a:r>
            <a:endParaRPr sz="1400">
              <a:solidFill>
                <a:srgbClr val="262626"/>
              </a:solidFill>
              <a:latin typeface="Open Sans"/>
              <a:ea typeface="Open Sans"/>
              <a:cs typeface="Open Sans"/>
            </a:endParaRPr>
          </a:p>
          <a:p>
            <a:pPr marL="237490" indent="-201295" algn="l">
              <a:spcAft>
                <a:spcPts val="800"/>
              </a:spcAft>
              <a:buClr>
                <a:srgbClr val="BB2019"/>
              </a:buClr>
              <a:buFont typeface="Arial" panose="020B0604020202020204"/>
              <a:buChar char="•"/>
            </a:pPr>
            <a:r>
              <a:rPr sz="1400">
                <a:solidFill>
                  <a:srgbClr val="262626"/>
                </a:solidFill>
                <a:latin typeface="Open Sans"/>
                <a:ea typeface="Open Sans"/>
                <a:cs typeface="Open Sans"/>
              </a:rPr>
              <a:t>Lời gọi chặn chỉ chặn một luồng</a:t>
            </a:r>
            <a:endParaRPr sz="1400">
              <a:solidFill>
                <a:srgbClr val="262626"/>
              </a:solidFill>
              <a:latin typeface="Open Sans"/>
              <a:ea typeface="Open Sans"/>
              <a:cs typeface="Open Sans"/>
            </a:endParaRPr>
          </a:p>
          <a:p>
            <a:pPr marL="237490" indent="-201295" algn="l">
              <a:spcAft>
                <a:spcPts val="800"/>
              </a:spcAft>
              <a:buClr>
                <a:srgbClr val="BB2019"/>
              </a:buClr>
              <a:buFont typeface="Arial" panose="020B0604020202020204"/>
              <a:buChar char="•"/>
            </a:pPr>
            <a:r>
              <a:rPr sz="1400">
                <a:solidFill>
                  <a:srgbClr val="262626"/>
                </a:solidFill>
                <a:latin typeface="Open Sans"/>
                <a:ea typeface="Open Sans"/>
                <a:cs typeface="Open Sans"/>
              </a:rPr>
              <a:t>Client đa luồng che giấu độ trễ WAN</a:t>
            </a:r>
            <a:endParaRPr sz="1400">
              <a:solidFill>
                <a:srgbClr val="262626"/>
              </a:solidFill>
              <a:latin typeface="Open Sans"/>
              <a:ea typeface="Open Sans"/>
              <a:cs typeface="Open Sans"/>
            </a:endParaRPr>
          </a:p>
          <a:p>
            <a:pPr marL="237490" indent="-201295" algn="l">
              <a:spcAft>
                <a:spcPts val="800"/>
              </a:spcAft>
              <a:buClr>
                <a:srgbClr val="BB2019"/>
              </a:buClr>
              <a:buFont typeface="Arial" panose="020B0604020202020204"/>
              <a:buChar char="•"/>
            </a:pPr>
            <a:r>
              <a:rPr sz="1400">
                <a:solidFill>
                  <a:srgbClr val="262626"/>
                </a:solidFill>
                <a:latin typeface="Open Sans"/>
                <a:ea typeface="Open Sans"/>
                <a:cs typeface="Open Sans"/>
              </a:rPr>
              <a:t>Server: đa luồng / đơn luồng / máy trạng thái</a:t>
            </a:r>
            <a:endParaRPr sz="1400">
              <a:solidFill>
                <a:srgbClr val="262626"/>
              </a:solidFill>
              <a:latin typeface="Open Sans"/>
              <a:ea typeface="Open Sans"/>
              <a:cs typeface="Open Sans"/>
            </a:endParaRPr>
          </a:p>
          <a:p>
            <a:pPr marL="237490" indent="-201295" algn="l">
              <a:spcAft>
                <a:spcPts val="800"/>
              </a:spcAft>
              <a:buClr>
                <a:srgbClr val="BB2019"/>
              </a:buClr>
              <a:buFont typeface="Arial" panose="020B0604020202020204"/>
              <a:buChar char="•"/>
            </a:pPr>
            <a:r>
              <a:rPr sz="1400">
                <a:solidFill>
                  <a:srgbClr val="262626"/>
                </a:solidFill>
                <a:latin typeface="Open Sans"/>
                <a:ea typeface="Open Sans"/>
                <a:cs typeface="Open Sans"/>
              </a:rPr>
              <a:t>Dữ liệu chung phải tự đồng bộ</a:t>
            </a:r>
            <a:endParaRPr sz="1400">
              <a:solidFill>
                <a:srgbClr val="262626"/>
              </a:solidFill>
              <a:latin typeface="Open Sans"/>
              <a:ea typeface="Open Sans"/>
              <a:cs typeface="Open Sans"/>
            </a:endParaRPr>
          </a:p>
        </p:txBody>
      </p:sp>
      <p:sp>
        <p:nvSpPr>
          <p:cNvPr id="9" name="Rectangle 8"/>
          <p:cNvSpPr/>
          <p:nvPr/>
        </p:nvSpPr>
        <p:spPr>
          <a:xfrm>
            <a:off x="6195060" y="1325880"/>
            <a:ext cx="5554980" cy="640080"/>
          </a:xfrm>
          <a:prstGeom prst="rect">
            <a:avLst/>
          </a:prstGeom>
          <a:solidFill>
            <a:srgbClr val="BB201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200"/>
              </a:spcAft>
            </a:pPr>
            <a:r>
              <a:rPr sz="1800" b="1">
                <a:solidFill>
                  <a:srgbClr val="FFFFFF"/>
                </a:solidFill>
                <a:latin typeface="Open Sans"/>
                <a:ea typeface="Open Sans"/>
                <a:cs typeface="Open Sans"/>
              </a:rPr>
              <a:t>3.2 Ảo hoá</a:t>
            </a:r>
            <a:endParaRPr sz="1800" b="1">
              <a:solidFill>
                <a:srgbClr val="FFFFFF"/>
              </a:solidFill>
              <a:latin typeface="Open Sans"/>
              <a:ea typeface="Open Sans"/>
              <a:cs typeface="Open Sans"/>
            </a:endParaRPr>
          </a:p>
        </p:txBody>
      </p:sp>
      <p:sp>
        <p:nvSpPr>
          <p:cNvPr id="10" name="Rectangle 9"/>
          <p:cNvSpPr/>
          <p:nvPr/>
        </p:nvSpPr>
        <p:spPr>
          <a:xfrm>
            <a:off x="6195060" y="1965960"/>
            <a:ext cx="5554980" cy="3383280"/>
          </a:xfrm>
          <a:prstGeom prst="rect">
            <a:avLst/>
          </a:prstGeom>
          <a:solidFill>
            <a:srgbClr val="FFF7F7"/>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t"/>
          <a:lstStyle/>
          <a:p>
            <a:pPr marL="237490" indent="-201295" algn="l">
              <a:spcAft>
                <a:spcPts val="800"/>
              </a:spcAft>
              <a:buClr>
                <a:srgbClr val="BB2019"/>
              </a:buClr>
              <a:buFont typeface="Arial" panose="020B0604020202020204"/>
              <a:buChar char="•"/>
            </a:pPr>
            <a:r>
              <a:rPr sz="1400">
                <a:solidFill>
                  <a:srgbClr val="262626"/>
                </a:solidFill>
                <a:latin typeface="Open Sans"/>
                <a:ea typeface="Open Sans"/>
                <a:cs typeface="Open Sans"/>
              </a:rPr>
              <a:t>Mô phỏng giao diện ISA, system call, API</a:t>
            </a:r>
            <a:endParaRPr sz="1400">
              <a:solidFill>
                <a:srgbClr val="262626"/>
              </a:solidFill>
              <a:latin typeface="Open Sans"/>
              <a:ea typeface="Open Sans"/>
              <a:cs typeface="Open Sans"/>
            </a:endParaRPr>
          </a:p>
          <a:p>
            <a:pPr marL="237490" indent="-201295" algn="l">
              <a:spcAft>
                <a:spcPts val="800"/>
              </a:spcAft>
              <a:buClr>
                <a:srgbClr val="BB2019"/>
              </a:buClr>
              <a:buFont typeface="Arial" panose="020B0604020202020204"/>
              <a:buChar char="•"/>
            </a:pPr>
            <a:r>
              <a:rPr sz="1400">
                <a:solidFill>
                  <a:srgbClr val="262626"/>
                </a:solidFill>
                <a:latin typeface="Open Sans"/>
                <a:ea typeface="Open Sans"/>
                <a:cs typeface="Open Sans"/>
              </a:rPr>
              <a:t>Máy ảo tiến trình; VMM native / hosted</a:t>
            </a:r>
            <a:endParaRPr sz="1400">
              <a:solidFill>
                <a:srgbClr val="262626"/>
              </a:solidFill>
              <a:latin typeface="Open Sans"/>
              <a:ea typeface="Open Sans"/>
              <a:cs typeface="Open Sans"/>
            </a:endParaRPr>
          </a:p>
          <a:p>
            <a:pPr marL="237490" indent="-201295" algn="l">
              <a:spcAft>
                <a:spcPts val="800"/>
              </a:spcAft>
              <a:buClr>
                <a:srgbClr val="BB2019"/>
              </a:buClr>
              <a:buFont typeface="Arial" panose="020B0604020202020204"/>
              <a:buChar char="•"/>
            </a:pPr>
            <a:r>
              <a:rPr sz="1400">
                <a:solidFill>
                  <a:srgbClr val="262626"/>
                </a:solidFill>
                <a:latin typeface="Open Sans"/>
                <a:ea typeface="Open Sans"/>
                <a:cs typeface="Open Sans"/>
              </a:rPr>
              <a:t>Popek – Goldberg: lệnh nhạy cảm ⊆ lệnh đặc quyền</a:t>
            </a:r>
            <a:endParaRPr sz="1400">
              <a:solidFill>
                <a:srgbClr val="262626"/>
              </a:solidFill>
              <a:latin typeface="Open Sans"/>
              <a:ea typeface="Open Sans"/>
              <a:cs typeface="Open Sans"/>
            </a:endParaRPr>
          </a:p>
          <a:p>
            <a:pPr marL="237490" indent="-201295" algn="l">
              <a:spcAft>
                <a:spcPts val="800"/>
              </a:spcAft>
              <a:buClr>
                <a:srgbClr val="BB2019"/>
              </a:buClr>
              <a:buFont typeface="Arial" panose="020B0604020202020204"/>
              <a:buChar char="•"/>
            </a:pPr>
            <a:r>
              <a:rPr sz="1400">
                <a:solidFill>
                  <a:srgbClr val="262626"/>
                </a:solidFill>
                <a:latin typeface="Open Sans"/>
                <a:ea typeface="Open Sans"/>
                <a:cs typeface="Open Sans"/>
              </a:rPr>
              <a:t>Container = namespaces + union FS + cgroups</a:t>
            </a:r>
            <a:endParaRPr sz="1400">
              <a:solidFill>
                <a:srgbClr val="262626"/>
              </a:solidFill>
              <a:latin typeface="Open Sans"/>
              <a:ea typeface="Open Sans"/>
              <a:cs typeface="Open Sans"/>
            </a:endParaRPr>
          </a:p>
          <a:p>
            <a:pPr marL="237490" indent="-201295" algn="l">
              <a:spcAft>
                <a:spcPts val="800"/>
              </a:spcAft>
              <a:buClr>
                <a:srgbClr val="BB2019"/>
              </a:buClr>
              <a:buFont typeface="Arial" panose="020B0604020202020204"/>
              <a:buChar char="•"/>
            </a:pPr>
            <a:r>
              <a:rPr sz="1400">
                <a:solidFill>
                  <a:srgbClr val="262626"/>
                </a:solidFill>
                <a:latin typeface="Open Sans"/>
                <a:ea typeface="Open Sans"/>
                <a:cs typeface="Open Sans"/>
              </a:rPr>
              <a:t>Ảo hoá là lõi của đám mây (IaaS)</a:t>
            </a:r>
            <a:endParaRPr sz="1400">
              <a:solidFill>
                <a:srgbClr val="262626"/>
              </a:solidFill>
              <a:latin typeface="Open Sans"/>
              <a:ea typeface="Open Sans"/>
              <a:cs typeface="Open Sans"/>
            </a:endParaRPr>
          </a:p>
        </p:txBody>
      </p:sp>
      <p:sp>
        <p:nvSpPr>
          <p:cNvPr id="11" name="Rectangle 10"/>
          <p:cNvSpPr/>
          <p:nvPr/>
        </p:nvSpPr>
        <p:spPr>
          <a:xfrm>
            <a:off x="457200" y="5532120"/>
            <a:ext cx="11292840" cy="685800"/>
          </a:xfrm>
          <a:prstGeom prst="rect">
            <a:avLst/>
          </a:prstGeom>
          <a:solidFill>
            <a:srgbClr val="4A1A1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200"/>
              </a:spcAft>
            </a:pPr>
            <a:r>
              <a:rPr sz="1600" b="1">
                <a:solidFill>
                  <a:srgbClr val="FFFFFF"/>
                </a:solidFill>
                <a:latin typeface="Open Sans"/>
                <a:ea typeface="Open Sans"/>
                <a:cs typeface="Open Sans"/>
              </a:rPr>
              <a:t>Hệ phân tán là nhiều tiến trình như vậy, phối hợp với nhau bằng thông điệp qua mạng.</a:t>
            </a:r>
            <a:endParaRPr sz="1600" b="1">
              <a:solidFill>
                <a:srgbClr val="FFFFFF"/>
              </a:solidFill>
              <a:latin typeface="Open Sans"/>
              <a:ea typeface="Open Sans"/>
              <a:cs typeface="Open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Placeholder 1"/>
          <p:cNvSpPr>
            <a:spLocks noGrp="1"/>
          </p:cNvSpPr>
          <p:nvPr>
            <p:ph type="body" sz="quarter" idx="13"/>
          </p:nvPr>
        </p:nvSpPr>
        <p:spPr/>
        <p:txBody>
          <a:bodyPr/>
          <a:lstStyle/>
          <a:p>
            <a:r>
              <a:t>Tài liệu: M. van Steen, A. S. Tanenbaum — Distributed Systems, 4th edition, Chương 3</a:t>
            </a:r>
          </a:p>
        </p:txBody>
      </p:sp>
      <p:sp>
        <p:nvSpPr>
          <p:cNvPr id="3" name="Text Placeholder 2"/>
          <p:cNvSpPr>
            <a:spLocks noGrp="1"/>
          </p:cNvSpPr>
          <p:nvPr>
            <p:ph type="body" sz="quarter" idx="14"/>
          </p:nvPr>
        </p:nvSpPr>
        <p:spPr/>
        <p:txBody>
          <a:bodyPr/>
          <a:lstStyle/>
          <a:p>
            <a:r>
              <a:t>Lý thuyết: Chương 3 – Processes, mục 3.1 &amp; 3.2</a:t>
            </a:r>
          </a:p>
        </p:txBody>
      </p:sp>
      <p:sp>
        <p:nvSpPr>
          <p:cNvPr id="4" name="Title 3"/>
          <p:cNvSpPr>
            <a:spLocks noGrp="1"/>
          </p:cNvSpPr>
          <p:nvPr>
            <p:ph type="title"/>
          </p:nvPr>
        </p:nvSpPr>
        <p:spPr/>
        <p:txBody>
          <a:bodyPr/>
          <a:lstStyle/>
          <a:p>
            <a:r>
              <a:t>Cảm ơn đã lắng nghe!</a:t>
            </a:r>
          </a:p>
        </p:txBody>
      </p:sp>
      <p:sp>
        <p:nvSpPr>
          <p:cNvPr id="5" name="TextBox 4"/>
          <p:cNvSpPr txBox="1"/>
          <p:nvPr/>
        </p:nvSpPr>
        <p:spPr>
          <a:xfrm>
            <a:off x="539496" y="4114800"/>
            <a:ext cx="11064240" cy="548640"/>
          </a:xfrm>
          <a:prstGeom prst="rect">
            <a:avLst/>
          </a:prstGeom>
          <a:noFill/>
        </p:spPr>
        <p:txBody>
          <a:bodyPr wrap="square" lIns="36576" tIns="36576" rIns="36576" bIns="36576" anchor="t">
            <a:spAutoFit/>
          </a:bodyPr>
          <a:lstStyle/>
          <a:p>
            <a:pPr algn="l">
              <a:spcAft>
                <a:spcPts val="400"/>
              </a:spcAft>
            </a:pPr>
            <a:r>
              <a:rPr sz="2400">
                <a:solidFill>
                  <a:srgbClr val="BB2019"/>
                </a:solidFill>
                <a:latin typeface="Open Sans"/>
                <a:ea typeface="Open Sans"/>
                <a:cs typeface="Open Sans"/>
              </a:rPr>
              <a:t>Mời thầy cô và các bạn đặt câu hỏi</a:t>
            </a:r>
            <a:endParaRPr sz="2400">
              <a:solidFill>
                <a:srgbClr val="BB2019"/>
              </a:solidFill>
              <a:latin typeface="Open Sans"/>
              <a:ea typeface="Open Sans"/>
              <a:cs typeface="Open Sans"/>
            </a:endParaRPr>
          </a:p>
        </p:txBody>
      </p:sp>
    </p:spTree>
  </p:cSld>
  <p:clrMapOvr>
    <a:masterClrMapping/>
  </p:clrMapOvr>
</p:sld>
</file>

<file path=ppt/theme/theme1.xml><?xml version="1.0" encoding="utf-8"?>
<a:theme xmlns:a="http://schemas.openxmlformats.org/drawingml/2006/main" name="Office Theme">
  <a:themeElements>
    <a:clrScheme name="Custom 1">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C87D0E"/>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13952</Words>
  <Application>WPS Presentation</Application>
  <PresentationFormat>Widescreen</PresentationFormat>
  <Paragraphs>871</Paragraphs>
  <Slides>22</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22</vt:i4>
      </vt:variant>
    </vt:vector>
  </HeadingPairs>
  <TitlesOfParts>
    <vt:vector size="30" baseType="lpstr">
      <vt:lpstr>Arial</vt:lpstr>
      <vt:lpstr>SimSun</vt:lpstr>
      <vt:lpstr>Wingdings</vt:lpstr>
      <vt:lpstr>Open Sans</vt:lpstr>
      <vt:lpstr>Open Sans</vt:lpstr>
      <vt:lpstr>Arial</vt:lpstr>
      <vt:lpstr>Consolas</vt:lpstr>
      <vt:lpstr>Office Theme</vt:lpstr>
      <vt:lpstr>Tiến trình: Luồng &amp; Ảo hoá</vt:lpstr>
      <vt:lpstr>Mục lục</vt:lpstr>
      <vt:lpstr>3.1 Luồng (Threads)</vt:lpstr>
      <vt:lpstr>Tiến trình và luồng</vt:lpstr>
      <vt:lpstr>Chuyển ngữ cảnh khi giao tiếp giữa tiến trình</vt:lpstr>
      <vt:lpstr>Vì sao dùng đa luồng?</vt:lpstr>
      <vt:lpstr>Ví dụ: hai tiến trình, mỗi tiến trình ba luồng</vt:lpstr>
      <vt:lpstr>Cài đặt luồng</vt:lpstr>
      <vt:lpstr>Client đa luồng</vt:lpstr>
      <vt:lpstr>Server đa luồng: mô hình dispatcher / worker</vt:lpstr>
      <vt:lpstr>Ba cách xây dựng server</vt:lpstr>
      <vt:lpstr>3.2 Ảo hoá (Virtualization)</vt:lpstr>
      <vt:lpstr>Nguyên lý ảo hoá</vt:lpstr>
      <vt:lpstr>Bốn giao diện ở ba mức</vt:lpstr>
      <vt:lpstr>Máy ảo tiến trình và bộ giám sát máy ảo (VMM)</vt:lpstr>
      <vt:lpstr>Vì sao máy ảo chạy nhanh?</vt:lpstr>
      <vt:lpstr>Container: ảo hoá môi trường phần mềm</vt:lpstr>
      <vt:lpstr>Tổ chức một container — ví dụ PlanetLab</vt:lpstr>
      <vt:lpstr>So sánh máy ảo và container</vt:lpstr>
      <vt:lpstr>Ứng dụng ảo hoá trong hệ phân tán</vt:lpstr>
      <vt:lpstr>Tổng kết</vt:lpstr>
      <vt:lpstr>Cảm ơn đã lắng nghe!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Ong Minh</dc:creator>
  <cp:lastModifiedBy>lenovo</cp:lastModifiedBy>
  <cp:revision>2</cp:revision>
  <dcterms:created xsi:type="dcterms:W3CDTF">2026-10-07T17:29:00Z</dcterms:created>
  <dcterms:modified xsi:type="dcterms:W3CDTF">2026-10-27T16:41:59Z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9C156829FF2248B19D443C0D21BE5187_13</vt:lpwstr>
  </property>
  <property fmtid="{D5CDD505-2E9C-101B-9397-08002B2CF9AE}" pid="3" name="KSOProductBuildVer">
    <vt:lpwstr>1033-12.1.0.29162</vt:lpwstr>
  </property>
</Properties>
</file>